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0" r:id="rId1"/>
  </p:sldMasterIdLst>
  <p:notesMasterIdLst>
    <p:notesMasterId r:id="rId26"/>
  </p:notesMasterIdLst>
  <p:sldIdLst>
    <p:sldId id="274" r:id="rId2"/>
    <p:sldId id="280" r:id="rId3"/>
    <p:sldId id="281" r:id="rId4"/>
    <p:sldId id="272" r:id="rId5"/>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3" r:id="rId22"/>
    <p:sldId id="275" r:id="rId23"/>
    <p:sldId id="277"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C7DB"/>
    <a:srgbClr val="3D3622"/>
    <a:srgbClr val="AF9A19"/>
    <a:srgbClr val="F1D0A2"/>
    <a:srgbClr val="3D3621"/>
    <a:srgbClr val="ED1B24"/>
    <a:srgbClr val="FFFFFF"/>
    <a:srgbClr val="B42323"/>
    <a:srgbClr val="840F0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15" autoAdjust="0"/>
    <p:restoredTop sz="95033" autoAdjust="0"/>
  </p:normalViewPr>
  <p:slideViewPr>
    <p:cSldViewPr snapToGrid="0">
      <p:cViewPr varScale="1">
        <p:scale>
          <a:sx n="84" d="100"/>
          <a:sy n="84" d="100"/>
        </p:scale>
        <p:origin x="614" y="8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629"/>
    </p:cViewPr>
  </p:sorterViewPr>
  <p:notesViewPr>
    <p:cSldViewPr snapToGrid="0">
      <p:cViewPr varScale="1">
        <p:scale>
          <a:sx n="62" d="100"/>
          <a:sy n="62" d="100"/>
        </p:scale>
        <p:origin x="2251"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F592FB-F405-4B9C-932C-5CA98F608FAF}" type="datetimeFigureOut">
              <a:rPr lang="en-US" smtClean="0"/>
              <a:t>7/16/2025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9C5B35-BB69-404A-87C2-0354E3B21674}" type="slidenum">
              <a:rPr lang="en-US" smtClean="0"/>
              <a:t>‹#›</a:t>
            </a:fld>
            <a:endParaRPr lang="en-US"/>
          </a:p>
        </p:txBody>
      </p:sp>
    </p:spTree>
    <p:extLst>
      <p:ext uri="{BB962C8B-B14F-4D97-AF65-F5344CB8AC3E}">
        <p14:creationId xmlns:p14="http://schemas.microsoft.com/office/powerpoint/2010/main" val="3078036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79C5B35-BB69-404A-87C2-0354E3B21674}" type="slidenum">
              <a:rPr lang="en-US" smtClean="0"/>
              <a:t>3</a:t>
            </a:fld>
            <a:endParaRPr lang="en-US"/>
          </a:p>
        </p:txBody>
      </p:sp>
    </p:spTree>
    <p:extLst>
      <p:ext uri="{BB962C8B-B14F-4D97-AF65-F5344CB8AC3E}">
        <p14:creationId xmlns:p14="http://schemas.microsoft.com/office/powerpoint/2010/main" val="2762707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9C5B35-BB69-404A-87C2-0354E3B21674}" type="slidenum">
              <a:rPr lang="en-US" smtClean="0"/>
              <a:t>19</a:t>
            </a:fld>
            <a:endParaRPr lang="en-US"/>
          </a:p>
        </p:txBody>
      </p:sp>
    </p:spTree>
    <p:extLst>
      <p:ext uri="{BB962C8B-B14F-4D97-AF65-F5344CB8AC3E}">
        <p14:creationId xmlns:p14="http://schemas.microsoft.com/office/powerpoint/2010/main" val="2145045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14D23-2426-1CE0-CB3D-BFC8ABBDB2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010FB07-AB29-D21F-7A07-758896DC40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B99091-ED65-CEA9-D44B-5B5CE20CFAD2}"/>
              </a:ext>
            </a:extLst>
          </p:cNvPr>
          <p:cNvSpPr>
            <a:spLocks noGrp="1"/>
          </p:cNvSpPr>
          <p:nvPr>
            <p:ph type="dt" sz="half" idx="10"/>
          </p:nvPr>
        </p:nvSpPr>
        <p:spPr/>
        <p:txBody>
          <a:bodyPr/>
          <a:lstStyle/>
          <a:p>
            <a:fld id="{3E9591B1-824F-4B86-A334-B677D429EFEF}" type="datetimeFigureOut">
              <a:rPr lang="en-US" smtClean="0"/>
              <a:t>7/16/2025</a:t>
            </a:fld>
            <a:endParaRPr lang="en-US"/>
          </a:p>
        </p:txBody>
      </p:sp>
      <p:sp>
        <p:nvSpPr>
          <p:cNvPr id="5" name="Footer Placeholder 4">
            <a:extLst>
              <a:ext uri="{FF2B5EF4-FFF2-40B4-BE49-F238E27FC236}">
                <a16:creationId xmlns:a16="http://schemas.microsoft.com/office/drawing/2014/main" id="{95E6A215-AB79-479B-79C8-31BBE27230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1FDBCD-CA53-8449-497D-43AC24C59142}"/>
              </a:ext>
            </a:extLst>
          </p:cNvPr>
          <p:cNvSpPr>
            <a:spLocks noGrp="1"/>
          </p:cNvSpPr>
          <p:nvPr>
            <p:ph type="sldNum" sz="quarter" idx="12"/>
          </p:nvPr>
        </p:nvSpPr>
        <p:spPr/>
        <p:txBody>
          <a:bodyPr/>
          <a:lstStyle/>
          <a:p>
            <a:fld id="{C40CB03A-219C-4598-B38D-C125D4CBC21B}" type="slidenum">
              <a:rPr lang="en-US" smtClean="0"/>
              <a:t>‹#›</a:t>
            </a:fld>
            <a:endParaRPr lang="en-US"/>
          </a:p>
        </p:txBody>
      </p:sp>
    </p:spTree>
    <p:extLst>
      <p:ext uri="{BB962C8B-B14F-4D97-AF65-F5344CB8AC3E}">
        <p14:creationId xmlns:p14="http://schemas.microsoft.com/office/powerpoint/2010/main" val="2733291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E4B29-767B-23A2-5CC5-A88907B3E4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E9C1A3-DB2C-6C4F-464D-F1429E4031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D33380-EADB-3148-9683-0CA32FD7243E}"/>
              </a:ext>
            </a:extLst>
          </p:cNvPr>
          <p:cNvSpPr>
            <a:spLocks noGrp="1"/>
          </p:cNvSpPr>
          <p:nvPr>
            <p:ph type="dt" sz="half" idx="10"/>
          </p:nvPr>
        </p:nvSpPr>
        <p:spPr/>
        <p:txBody>
          <a:bodyPr/>
          <a:lstStyle/>
          <a:p>
            <a:fld id="{3E9591B1-824F-4B86-A334-B677D429EFEF}" type="datetimeFigureOut">
              <a:rPr lang="en-US" smtClean="0"/>
              <a:t>7/16/2025</a:t>
            </a:fld>
            <a:endParaRPr lang="en-US"/>
          </a:p>
        </p:txBody>
      </p:sp>
      <p:sp>
        <p:nvSpPr>
          <p:cNvPr id="5" name="Footer Placeholder 4">
            <a:extLst>
              <a:ext uri="{FF2B5EF4-FFF2-40B4-BE49-F238E27FC236}">
                <a16:creationId xmlns:a16="http://schemas.microsoft.com/office/drawing/2014/main" id="{3773C65E-F052-4DF4-8666-6E44486793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33C5D-8969-A2BC-3359-A2876DD83FB1}"/>
              </a:ext>
            </a:extLst>
          </p:cNvPr>
          <p:cNvSpPr>
            <a:spLocks noGrp="1"/>
          </p:cNvSpPr>
          <p:nvPr>
            <p:ph type="sldNum" sz="quarter" idx="12"/>
          </p:nvPr>
        </p:nvSpPr>
        <p:spPr/>
        <p:txBody>
          <a:bodyPr/>
          <a:lstStyle/>
          <a:p>
            <a:fld id="{C40CB03A-219C-4598-B38D-C125D4CBC21B}" type="slidenum">
              <a:rPr lang="en-US" smtClean="0"/>
              <a:t>‹#›</a:t>
            </a:fld>
            <a:endParaRPr lang="en-US"/>
          </a:p>
        </p:txBody>
      </p:sp>
    </p:spTree>
    <p:extLst>
      <p:ext uri="{BB962C8B-B14F-4D97-AF65-F5344CB8AC3E}">
        <p14:creationId xmlns:p14="http://schemas.microsoft.com/office/powerpoint/2010/main" val="3466425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D6D47-246E-B01F-EED3-5AE584C528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E3F1BA-A38E-60D7-2097-C197BB7B89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6AB685-3403-0B08-A4D8-12E9EEEBEBAC}"/>
              </a:ext>
            </a:extLst>
          </p:cNvPr>
          <p:cNvSpPr>
            <a:spLocks noGrp="1"/>
          </p:cNvSpPr>
          <p:nvPr>
            <p:ph type="dt" sz="half" idx="10"/>
          </p:nvPr>
        </p:nvSpPr>
        <p:spPr/>
        <p:txBody>
          <a:bodyPr/>
          <a:lstStyle/>
          <a:p>
            <a:fld id="{3E9591B1-824F-4B86-A334-B677D429EFEF}" type="datetimeFigureOut">
              <a:rPr lang="en-US" smtClean="0"/>
              <a:t>7/16/2025</a:t>
            </a:fld>
            <a:endParaRPr lang="en-US"/>
          </a:p>
        </p:txBody>
      </p:sp>
      <p:sp>
        <p:nvSpPr>
          <p:cNvPr id="5" name="Footer Placeholder 4">
            <a:extLst>
              <a:ext uri="{FF2B5EF4-FFF2-40B4-BE49-F238E27FC236}">
                <a16:creationId xmlns:a16="http://schemas.microsoft.com/office/drawing/2014/main" id="{EE1149DA-4086-0955-BD6A-5497021438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3274FF-AB0B-2460-C609-2019E31274AD}"/>
              </a:ext>
            </a:extLst>
          </p:cNvPr>
          <p:cNvSpPr>
            <a:spLocks noGrp="1"/>
          </p:cNvSpPr>
          <p:nvPr>
            <p:ph type="sldNum" sz="quarter" idx="12"/>
          </p:nvPr>
        </p:nvSpPr>
        <p:spPr/>
        <p:txBody>
          <a:bodyPr/>
          <a:lstStyle/>
          <a:p>
            <a:fld id="{C40CB03A-219C-4598-B38D-C125D4CBC21B}" type="slidenum">
              <a:rPr lang="en-US" smtClean="0"/>
              <a:t>‹#›</a:t>
            </a:fld>
            <a:endParaRPr lang="en-US"/>
          </a:p>
        </p:txBody>
      </p:sp>
    </p:spTree>
    <p:extLst>
      <p:ext uri="{BB962C8B-B14F-4D97-AF65-F5344CB8AC3E}">
        <p14:creationId xmlns:p14="http://schemas.microsoft.com/office/powerpoint/2010/main" val="3285746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A9622-975E-423F-D1AE-64424E74C3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D83EFA-9C11-2431-9FAF-A8ABC5013F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875021-B3F5-C4F2-ED7E-7EF29E8B6A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4A5AF5-784A-2559-1A29-A3A2BEBB5992}"/>
              </a:ext>
            </a:extLst>
          </p:cNvPr>
          <p:cNvSpPr>
            <a:spLocks noGrp="1"/>
          </p:cNvSpPr>
          <p:nvPr>
            <p:ph type="dt" sz="half" idx="10"/>
          </p:nvPr>
        </p:nvSpPr>
        <p:spPr/>
        <p:txBody>
          <a:bodyPr/>
          <a:lstStyle/>
          <a:p>
            <a:fld id="{3E9591B1-824F-4B86-A334-B677D429EFEF}" type="datetimeFigureOut">
              <a:rPr lang="en-US" smtClean="0"/>
              <a:t>7/16/2025</a:t>
            </a:fld>
            <a:endParaRPr lang="en-US"/>
          </a:p>
        </p:txBody>
      </p:sp>
      <p:sp>
        <p:nvSpPr>
          <p:cNvPr id="6" name="Footer Placeholder 5">
            <a:extLst>
              <a:ext uri="{FF2B5EF4-FFF2-40B4-BE49-F238E27FC236}">
                <a16:creationId xmlns:a16="http://schemas.microsoft.com/office/drawing/2014/main" id="{8D1B06BC-CE62-1525-8A49-B6004F69AA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E95E13-332E-080E-F199-1876884A8EBD}"/>
              </a:ext>
            </a:extLst>
          </p:cNvPr>
          <p:cNvSpPr>
            <a:spLocks noGrp="1"/>
          </p:cNvSpPr>
          <p:nvPr>
            <p:ph type="sldNum" sz="quarter" idx="12"/>
          </p:nvPr>
        </p:nvSpPr>
        <p:spPr/>
        <p:txBody>
          <a:bodyPr/>
          <a:lstStyle/>
          <a:p>
            <a:fld id="{C40CB03A-219C-4598-B38D-C125D4CBC21B}" type="slidenum">
              <a:rPr lang="en-US" smtClean="0"/>
              <a:t>‹#›</a:t>
            </a:fld>
            <a:endParaRPr lang="en-US"/>
          </a:p>
        </p:txBody>
      </p:sp>
    </p:spTree>
    <p:extLst>
      <p:ext uri="{BB962C8B-B14F-4D97-AF65-F5344CB8AC3E}">
        <p14:creationId xmlns:p14="http://schemas.microsoft.com/office/powerpoint/2010/main" val="789585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FEC9-2DE4-35B0-2850-13D1FB1DFA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3E51A3-863F-8A44-6B1C-20445DDAE0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5A5B68-DCEA-154A-EA65-CD51577937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1B974DF-DD01-2276-C597-2CCB52FE05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34D848-A2D7-76E1-A860-F3D6D14EC6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CBD120-85DA-DEF4-F23C-5F7491C81198}"/>
              </a:ext>
            </a:extLst>
          </p:cNvPr>
          <p:cNvSpPr>
            <a:spLocks noGrp="1"/>
          </p:cNvSpPr>
          <p:nvPr>
            <p:ph type="dt" sz="half" idx="10"/>
          </p:nvPr>
        </p:nvSpPr>
        <p:spPr/>
        <p:txBody>
          <a:bodyPr/>
          <a:lstStyle/>
          <a:p>
            <a:fld id="{3E9591B1-824F-4B86-A334-B677D429EFEF}" type="datetimeFigureOut">
              <a:rPr lang="en-US" smtClean="0"/>
              <a:t>7/16/2025</a:t>
            </a:fld>
            <a:endParaRPr lang="en-US"/>
          </a:p>
        </p:txBody>
      </p:sp>
      <p:sp>
        <p:nvSpPr>
          <p:cNvPr id="8" name="Footer Placeholder 7">
            <a:extLst>
              <a:ext uri="{FF2B5EF4-FFF2-40B4-BE49-F238E27FC236}">
                <a16:creationId xmlns:a16="http://schemas.microsoft.com/office/drawing/2014/main" id="{400DB2A7-839E-EEB4-8CCF-357AE73B8C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6EBCAC-0AFB-64C1-8A6D-C24468EC87A0}"/>
              </a:ext>
            </a:extLst>
          </p:cNvPr>
          <p:cNvSpPr>
            <a:spLocks noGrp="1"/>
          </p:cNvSpPr>
          <p:nvPr>
            <p:ph type="sldNum" sz="quarter" idx="12"/>
          </p:nvPr>
        </p:nvSpPr>
        <p:spPr/>
        <p:txBody>
          <a:bodyPr/>
          <a:lstStyle/>
          <a:p>
            <a:fld id="{C40CB03A-219C-4598-B38D-C125D4CBC21B}" type="slidenum">
              <a:rPr lang="en-US" smtClean="0"/>
              <a:t>‹#›</a:t>
            </a:fld>
            <a:endParaRPr lang="en-US"/>
          </a:p>
        </p:txBody>
      </p:sp>
    </p:spTree>
    <p:extLst>
      <p:ext uri="{BB962C8B-B14F-4D97-AF65-F5344CB8AC3E}">
        <p14:creationId xmlns:p14="http://schemas.microsoft.com/office/powerpoint/2010/main" val="658805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8D406-7484-13F9-2C85-636A87AE5E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9C0E22-D14E-D087-A129-A0636E95E334}"/>
              </a:ext>
            </a:extLst>
          </p:cNvPr>
          <p:cNvSpPr>
            <a:spLocks noGrp="1"/>
          </p:cNvSpPr>
          <p:nvPr>
            <p:ph type="dt" sz="half" idx="10"/>
          </p:nvPr>
        </p:nvSpPr>
        <p:spPr/>
        <p:txBody>
          <a:bodyPr/>
          <a:lstStyle/>
          <a:p>
            <a:fld id="{3E9591B1-824F-4B86-A334-B677D429EFEF}" type="datetimeFigureOut">
              <a:rPr lang="en-US" smtClean="0"/>
              <a:t>7/16/2025</a:t>
            </a:fld>
            <a:endParaRPr lang="en-US"/>
          </a:p>
        </p:txBody>
      </p:sp>
      <p:sp>
        <p:nvSpPr>
          <p:cNvPr id="4" name="Footer Placeholder 3">
            <a:extLst>
              <a:ext uri="{FF2B5EF4-FFF2-40B4-BE49-F238E27FC236}">
                <a16:creationId xmlns:a16="http://schemas.microsoft.com/office/drawing/2014/main" id="{BA19342B-BFCE-541B-A73D-72E4B7A077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DCFB42-C6A1-0286-C362-B77BCE0D1B84}"/>
              </a:ext>
            </a:extLst>
          </p:cNvPr>
          <p:cNvSpPr>
            <a:spLocks noGrp="1"/>
          </p:cNvSpPr>
          <p:nvPr>
            <p:ph type="sldNum" sz="quarter" idx="12"/>
          </p:nvPr>
        </p:nvSpPr>
        <p:spPr/>
        <p:txBody>
          <a:bodyPr/>
          <a:lstStyle/>
          <a:p>
            <a:fld id="{C40CB03A-219C-4598-B38D-C125D4CBC21B}" type="slidenum">
              <a:rPr lang="en-US" smtClean="0"/>
              <a:t>‹#›</a:t>
            </a:fld>
            <a:endParaRPr lang="en-US"/>
          </a:p>
        </p:txBody>
      </p:sp>
    </p:spTree>
    <p:extLst>
      <p:ext uri="{BB962C8B-B14F-4D97-AF65-F5344CB8AC3E}">
        <p14:creationId xmlns:p14="http://schemas.microsoft.com/office/powerpoint/2010/main" val="1090415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3B568E-1FEF-C614-F9FB-58F7070E01BA}"/>
              </a:ext>
            </a:extLst>
          </p:cNvPr>
          <p:cNvSpPr>
            <a:spLocks noGrp="1"/>
          </p:cNvSpPr>
          <p:nvPr>
            <p:ph type="dt" sz="half" idx="10"/>
          </p:nvPr>
        </p:nvSpPr>
        <p:spPr/>
        <p:txBody>
          <a:bodyPr/>
          <a:lstStyle/>
          <a:p>
            <a:fld id="{3E9591B1-824F-4B86-A334-B677D429EFEF}" type="datetimeFigureOut">
              <a:rPr lang="en-US" smtClean="0"/>
              <a:t>7/16/2025</a:t>
            </a:fld>
            <a:endParaRPr lang="en-US"/>
          </a:p>
        </p:txBody>
      </p:sp>
      <p:sp>
        <p:nvSpPr>
          <p:cNvPr id="3" name="Footer Placeholder 2">
            <a:extLst>
              <a:ext uri="{FF2B5EF4-FFF2-40B4-BE49-F238E27FC236}">
                <a16:creationId xmlns:a16="http://schemas.microsoft.com/office/drawing/2014/main" id="{F9030724-D6F3-19BD-AABD-F299B0EFBA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29D3AD-3614-B02D-200D-B33689632C58}"/>
              </a:ext>
            </a:extLst>
          </p:cNvPr>
          <p:cNvSpPr>
            <a:spLocks noGrp="1"/>
          </p:cNvSpPr>
          <p:nvPr>
            <p:ph type="sldNum" sz="quarter" idx="12"/>
          </p:nvPr>
        </p:nvSpPr>
        <p:spPr/>
        <p:txBody>
          <a:bodyPr/>
          <a:lstStyle/>
          <a:p>
            <a:fld id="{C40CB03A-219C-4598-B38D-C125D4CBC21B}" type="slidenum">
              <a:rPr lang="en-US" smtClean="0"/>
              <a:t>‹#›</a:t>
            </a:fld>
            <a:endParaRPr lang="en-US"/>
          </a:p>
        </p:txBody>
      </p:sp>
    </p:spTree>
    <p:extLst>
      <p:ext uri="{BB962C8B-B14F-4D97-AF65-F5344CB8AC3E}">
        <p14:creationId xmlns:p14="http://schemas.microsoft.com/office/powerpoint/2010/main" val="130604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79C1B-F907-467C-97EB-C4F47CDF06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6365A8-5FE6-2D99-25BB-401E8A9A90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C4133F5-8D09-3C8B-015E-0510729B0B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BBCE16-0A1F-9431-E657-242750ECAFF7}"/>
              </a:ext>
            </a:extLst>
          </p:cNvPr>
          <p:cNvSpPr>
            <a:spLocks noGrp="1"/>
          </p:cNvSpPr>
          <p:nvPr>
            <p:ph type="dt" sz="half" idx="10"/>
          </p:nvPr>
        </p:nvSpPr>
        <p:spPr/>
        <p:txBody>
          <a:bodyPr/>
          <a:lstStyle/>
          <a:p>
            <a:fld id="{3E9591B1-824F-4B86-A334-B677D429EFEF}" type="datetimeFigureOut">
              <a:rPr lang="en-US" smtClean="0"/>
              <a:t>7/16/2025</a:t>
            </a:fld>
            <a:endParaRPr lang="en-US"/>
          </a:p>
        </p:txBody>
      </p:sp>
      <p:sp>
        <p:nvSpPr>
          <p:cNvPr id="6" name="Footer Placeholder 5">
            <a:extLst>
              <a:ext uri="{FF2B5EF4-FFF2-40B4-BE49-F238E27FC236}">
                <a16:creationId xmlns:a16="http://schemas.microsoft.com/office/drawing/2014/main" id="{162B78FF-4F14-A5B2-3BA2-0DFCFA77DC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8E4F89-1645-0E94-E8F1-BE1D8FF451D8}"/>
              </a:ext>
            </a:extLst>
          </p:cNvPr>
          <p:cNvSpPr>
            <a:spLocks noGrp="1"/>
          </p:cNvSpPr>
          <p:nvPr>
            <p:ph type="sldNum" sz="quarter" idx="12"/>
          </p:nvPr>
        </p:nvSpPr>
        <p:spPr/>
        <p:txBody>
          <a:bodyPr/>
          <a:lstStyle/>
          <a:p>
            <a:fld id="{C40CB03A-219C-4598-B38D-C125D4CBC21B}" type="slidenum">
              <a:rPr lang="en-US" smtClean="0"/>
              <a:t>‹#›</a:t>
            </a:fld>
            <a:endParaRPr lang="en-US"/>
          </a:p>
        </p:txBody>
      </p:sp>
    </p:spTree>
    <p:extLst>
      <p:ext uri="{BB962C8B-B14F-4D97-AF65-F5344CB8AC3E}">
        <p14:creationId xmlns:p14="http://schemas.microsoft.com/office/powerpoint/2010/main" val="2985679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875A3-05AD-3127-B907-D7B4605F3C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F231AD-8E8B-E4DF-A770-257B41F6B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5B18ED-8CB1-9CBE-2D1E-289199F9F4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914493-39C5-77CC-D7BE-27DA08F364BD}"/>
              </a:ext>
            </a:extLst>
          </p:cNvPr>
          <p:cNvSpPr>
            <a:spLocks noGrp="1"/>
          </p:cNvSpPr>
          <p:nvPr>
            <p:ph type="dt" sz="half" idx="10"/>
          </p:nvPr>
        </p:nvSpPr>
        <p:spPr/>
        <p:txBody>
          <a:bodyPr/>
          <a:lstStyle/>
          <a:p>
            <a:fld id="{3E9591B1-824F-4B86-A334-B677D429EFEF}" type="datetimeFigureOut">
              <a:rPr lang="en-US" smtClean="0"/>
              <a:t>7/16/2025</a:t>
            </a:fld>
            <a:endParaRPr lang="en-US"/>
          </a:p>
        </p:txBody>
      </p:sp>
      <p:sp>
        <p:nvSpPr>
          <p:cNvPr id="6" name="Footer Placeholder 5">
            <a:extLst>
              <a:ext uri="{FF2B5EF4-FFF2-40B4-BE49-F238E27FC236}">
                <a16:creationId xmlns:a16="http://schemas.microsoft.com/office/drawing/2014/main" id="{9D09C8B4-24B2-0D0B-A6D5-558E35071A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AB7B45-22E2-35BA-F4C7-20412CCE00C5}"/>
              </a:ext>
            </a:extLst>
          </p:cNvPr>
          <p:cNvSpPr>
            <a:spLocks noGrp="1"/>
          </p:cNvSpPr>
          <p:nvPr>
            <p:ph type="sldNum" sz="quarter" idx="12"/>
          </p:nvPr>
        </p:nvSpPr>
        <p:spPr/>
        <p:txBody>
          <a:bodyPr/>
          <a:lstStyle/>
          <a:p>
            <a:fld id="{C40CB03A-219C-4598-B38D-C125D4CBC21B}" type="slidenum">
              <a:rPr lang="en-US" smtClean="0"/>
              <a:t>‹#›</a:t>
            </a:fld>
            <a:endParaRPr lang="en-US"/>
          </a:p>
        </p:txBody>
      </p:sp>
    </p:spTree>
    <p:extLst>
      <p:ext uri="{BB962C8B-B14F-4D97-AF65-F5344CB8AC3E}">
        <p14:creationId xmlns:p14="http://schemas.microsoft.com/office/powerpoint/2010/main" val="3074559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27BD-E5F3-37EB-1F78-E9A57C0A29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7F427C-BBB6-2C2C-2539-99A6A552CD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F66CC9-97DC-4F3F-E8B6-1028155A8EB4}"/>
              </a:ext>
            </a:extLst>
          </p:cNvPr>
          <p:cNvSpPr>
            <a:spLocks noGrp="1"/>
          </p:cNvSpPr>
          <p:nvPr>
            <p:ph type="dt" sz="half" idx="10"/>
          </p:nvPr>
        </p:nvSpPr>
        <p:spPr/>
        <p:txBody>
          <a:bodyPr/>
          <a:lstStyle/>
          <a:p>
            <a:fld id="{3E9591B1-824F-4B86-A334-B677D429EFEF}" type="datetimeFigureOut">
              <a:rPr lang="en-US" smtClean="0"/>
              <a:t>7/16/2025</a:t>
            </a:fld>
            <a:endParaRPr lang="en-US"/>
          </a:p>
        </p:txBody>
      </p:sp>
      <p:sp>
        <p:nvSpPr>
          <p:cNvPr id="5" name="Footer Placeholder 4">
            <a:extLst>
              <a:ext uri="{FF2B5EF4-FFF2-40B4-BE49-F238E27FC236}">
                <a16:creationId xmlns:a16="http://schemas.microsoft.com/office/drawing/2014/main" id="{5CE90BB5-1318-59D3-2BEC-0460335A74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F07269-4F65-4FE2-EEC7-3EA1E29FBA25}"/>
              </a:ext>
            </a:extLst>
          </p:cNvPr>
          <p:cNvSpPr>
            <a:spLocks noGrp="1"/>
          </p:cNvSpPr>
          <p:nvPr>
            <p:ph type="sldNum" sz="quarter" idx="12"/>
          </p:nvPr>
        </p:nvSpPr>
        <p:spPr/>
        <p:txBody>
          <a:bodyPr/>
          <a:lstStyle/>
          <a:p>
            <a:fld id="{C40CB03A-219C-4598-B38D-C125D4CBC21B}" type="slidenum">
              <a:rPr lang="en-US" smtClean="0"/>
              <a:t>‹#›</a:t>
            </a:fld>
            <a:endParaRPr lang="en-US"/>
          </a:p>
        </p:txBody>
      </p:sp>
    </p:spTree>
    <p:extLst>
      <p:ext uri="{BB962C8B-B14F-4D97-AF65-F5344CB8AC3E}">
        <p14:creationId xmlns:p14="http://schemas.microsoft.com/office/powerpoint/2010/main" val="4001546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C38948-B744-4A08-3477-1339062EE2F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C9658E1-6463-6CF9-2179-267BDF813E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E162E9-E269-B085-E7C7-28C2EB488469}"/>
              </a:ext>
            </a:extLst>
          </p:cNvPr>
          <p:cNvSpPr>
            <a:spLocks noGrp="1"/>
          </p:cNvSpPr>
          <p:nvPr>
            <p:ph type="dt" sz="half" idx="10"/>
          </p:nvPr>
        </p:nvSpPr>
        <p:spPr/>
        <p:txBody>
          <a:bodyPr/>
          <a:lstStyle/>
          <a:p>
            <a:fld id="{3E9591B1-824F-4B86-A334-B677D429EFEF}" type="datetimeFigureOut">
              <a:rPr lang="en-US" smtClean="0"/>
              <a:t>7/16/2025</a:t>
            </a:fld>
            <a:endParaRPr lang="en-US"/>
          </a:p>
        </p:txBody>
      </p:sp>
      <p:sp>
        <p:nvSpPr>
          <p:cNvPr id="5" name="Footer Placeholder 4">
            <a:extLst>
              <a:ext uri="{FF2B5EF4-FFF2-40B4-BE49-F238E27FC236}">
                <a16:creationId xmlns:a16="http://schemas.microsoft.com/office/drawing/2014/main" id="{BCDA865C-2106-62AD-2640-F8B744363D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B6B5C3-69D2-0A14-424D-D41BAB87A875}"/>
              </a:ext>
            </a:extLst>
          </p:cNvPr>
          <p:cNvSpPr>
            <a:spLocks noGrp="1"/>
          </p:cNvSpPr>
          <p:nvPr>
            <p:ph type="sldNum" sz="quarter" idx="12"/>
          </p:nvPr>
        </p:nvSpPr>
        <p:spPr/>
        <p:txBody>
          <a:bodyPr/>
          <a:lstStyle/>
          <a:p>
            <a:fld id="{C40CB03A-219C-4598-B38D-C125D4CBC21B}" type="slidenum">
              <a:rPr lang="en-US" smtClean="0"/>
              <a:t>‹#›</a:t>
            </a:fld>
            <a:endParaRPr lang="en-US"/>
          </a:p>
        </p:txBody>
      </p:sp>
    </p:spTree>
    <p:extLst>
      <p:ext uri="{BB962C8B-B14F-4D97-AF65-F5344CB8AC3E}">
        <p14:creationId xmlns:p14="http://schemas.microsoft.com/office/powerpoint/2010/main" val="3678926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10000"/>
                    </a14:imgEffect>
                    <a14:imgEffect>
                      <a14:brightnessContrast bright="-20000"/>
                    </a14:imgEffect>
                  </a14:imgLayer>
                </a14:imgProps>
              </a:ext>
            </a:extLst>
          </a:blip>
          <a:srcRect/>
          <a:stretch>
            <a:fillRect t="-13000" b="-13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B79015-1C34-9697-1EFE-8BE6093719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C5FC9A-7A98-080F-81C5-A977774997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51F822-31D5-F696-D4C4-5D48EED7EF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9591B1-824F-4B86-A334-B677D429EFEF}" type="datetimeFigureOut">
              <a:rPr lang="en-US" smtClean="0"/>
              <a:t>7/16/2025</a:t>
            </a:fld>
            <a:endParaRPr lang="en-US"/>
          </a:p>
        </p:txBody>
      </p:sp>
      <p:sp>
        <p:nvSpPr>
          <p:cNvPr id="5" name="Footer Placeholder 4">
            <a:extLst>
              <a:ext uri="{FF2B5EF4-FFF2-40B4-BE49-F238E27FC236}">
                <a16:creationId xmlns:a16="http://schemas.microsoft.com/office/drawing/2014/main" id="{CB69D8B7-7EF6-AB9E-4DD5-419C4D7F35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4B1268E-A9C0-EB13-3BC5-66BF79179A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0CB03A-219C-4598-B38D-C125D4CBC21B}" type="slidenum">
              <a:rPr lang="en-US" smtClean="0"/>
              <a:t>‹#›</a:t>
            </a:fld>
            <a:endParaRPr lang="en-US"/>
          </a:p>
        </p:txBody>
      </p:sp>
    </p:spTree>
    <p:extLst>
      <p:ext uri="{BB962C8B-B14F-4D97-AF65-F5344CB8AC3E}">
        <p14:creationId xmlns:p14="http://schemas.microsoft.com/office/powerpoint/2010/main" val="1240901025"/>
      </p:ext>
    </p:extLst>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44" r:id="rId4"/>
    <p:sldLayoutId id="2147484145" r:id="rId5"/>
    <p:sldLayoutId id="2147484146" r:id="rId6"/>
    <p:sldLayoutId id="2147484147" r:id="rId7"/>
    <p:sldLayoutId id="2147484148" r:id="rId8"/>
    <p:sldLayoutId id="2147484149" r:id="rId9"/>
    <p:sldLayoutId id="2147484150" r:id="rId10"/>
    <p:sldLayoutId id="214748415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microsoft.com/office/2007/relationships/hdphoto" Target="../media/hdphoto3.wdp"/><Relationship Id="rId7"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11" Type="http://schemas.microsoft.com/office/2007/relationships/hdphoto" Target="../media/hdphoto7.wdp"/><Relationship Id="rId5" Type="http://schemas.microsoft.com/office/2007/relationships/hdphoto" Target="../media/hdphoto4.wdp"/><Relationship Id="rId10" Type="http://schemas.openxmlformats.org/officeDocument/2006/relationships/image" Target="../media/image13.png"/><Relationship Id="rId4" Type="http://schemas.openxmlformats.org/officeDocument/2006/relationships/image" Target="../media/image10.png"/><Relationship Id="rId9" Type="http://schemas.microsoft.com/office/2007/relationships/hdphoto" Target="../media/hdphoto6.wdp"/></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07/relationships/hdphoto" Target="../media/hdphoto3.wdp"/><Relationship Id="rId7" Type="http://schemas.microsoft.com/office/2007/relationships/hdphoto" Target="../media/hdphoto9.wdp"/><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5.png"/><Relationship Id="rId11" Type="http://schemas.microsoft.com/office/2007/relationships/hdphoto" Target="../media/hdphoto11.wdp"/><Relationship Id="rId5" Type="http://schemas.microsoft.com/office/2007/relationships/hdphoto" Target="../media/hdphoto8.wdp"/><Relationship Id="rId10" Type="http://schemas.openxmlformats.org/officeDocument/2006/relationships/image" Target="../media/image17.png"/><Relationship Id="rId4" Type="http://schemas.openxmlformats.org/officeDocument/2006/relationships/image" Target="../media/image14.png"/><Relationship Id="rId9" Type="http://schemas.microsoft.com/office/2007/relationships/hdphoto" Target="../media/hdphoto10.wdp"/></Relationships>
</file>

<file path=ppt/slides/_rels/slide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3.png"/><Relationship Id="rId4" Type="http://schemas.microsoft.com/office/2007/relationships/hdphoto" Target="../media/hdphoto3.wdp"/></Relationships>
</file>

<file path=ppt/slides/_rels/slide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www.pizzahut.lk/"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C88CF1-460F-45C0-92B2-6998E61EFA0F}"/>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backgroundMark x1="52418" y1="36581" x2="52418" y2="36581"/>
                        <a14:backgroundMark x1="52418" y1="36581" x2="52418" y2="36581"/>
                        <a14:backgroundMark x1="52418" y1="36581" x2="52418" y2="36581"/>
                        <a14:backgroundMark x1="52418" y1="36581" x2="52418" y2="36581"/>
                        <a14:backgroundMark x1="52418" y1="36581" x2="52418" y2="36581"/>
                        <a14:backgroundMark x1="52418" y1="36581" x2="52418" y2="36581"/>
                        <a14:backgroundMark x1="52418" y1="36581" x2="52418" y2="36581"/>
                        <a14:backgroundMark x1="52418" y1="36581" x2="52418" y2="36581"/>
                        <a14:backgroundMark x1="52193" y1="36581" x2="52193" y2="36581"/>
                        <a14:backgroundMark x1="52193" y1="36581" x2="52193" y2="36581"/>
                        <a14:backgroundMark x1="52193" y1="36581" x2="52193" y2="36581"/>
                        <a14:backgroundMark x1="52193" y1="36581" x2="52193" y2="36581"/>
                      </a14:backgroundRemoval>
                    </a14:imgEffect>
                  </a14:imgLayer>
                </a14:imgProps>
              </a:ext>
            </a:extLst>
          </a:blip>
          <a:stretch>
            <a:fillRect/>
          </a:stretch>
        </p:blipFill>
        <p:spPr>
          <a:xfrm>
            <a:off x="0" y="-682218"/>
            <a:ext cx="5419814" cy="3566469"/>
          </a:xfrm>
          <a:prstGeom prst="rect">
            <a:avLst/>
          </a:prstGeom>
        </p:spPr>
      </p:pic>
      <p:sp>
        <p:nvSpPr>
          <p:cNvPr id="5" name="TextBox 4">
            <a:extLst>
              <a:ext uri="{FF2B5EF4-FFF2-40B4-BE49-F238E27FC236}">
                <a16:creationId xmlns:a16="http://schemas.microsoft.com/office/drawing/2014/main" id="{8638CF76-969D-4C53-8CE9-80C224AC0C94}"/>
              </a:ext>
            </a:extLst>
          </p:cNvPr>
          <p:cNvSpPr txBox="1"/>
          <p:nvPr/>
        </p:nvSpPr>
        <p:spPr>
          <a:xfrm>
            <a:off x="491246" y="1948243"/>
            <a:ext cx="7777265" cy="1077218"/>
          </a:xfrm>
          <a:prstGeom prst="rect">
            <a:avLst/>
          </a:prstGeom>
          <a:noFill/>
        </p:spPr>
        <p:txBody>
          <a:bodyPr wrap="square" rtlCol="0">
            <a:spAutoFit/>
          </a:bodyPr>
          <a:lstStyle/>
          <a:p>
            <a:r>
              <a:rPr lang="en-US" sz="3200" b="1" dirty="0">
                <a:solidFill>
                  <a:schemeClr val="tx1"/>
                </a:solidFill>
                <a:latin typeface="+mj-lt"/>
                <a:ea typeface="Crimson Pro"/>
                <a:cs typeface="Times New Roman" panose="02020603050405020304" pitchFamily="18" charset="0"/>
              </a:rPr>
              <a:t>BUSINESS INFORMATION</a:t>
            </a:r>
            <a:br>
              <a:rPr lang="en-US" sz="3200" b="1" dirty="0">
                <a:solidFill>
                  <a:schemeClr val="tx1"/>
                </a:solidFill>
                <a:latin typeface="+mj-lt"/>
                <a:ea typeface="Crimson Pro"/>
                <a:cs typeface="Times New Roman" panose="02020603050405020304" pitchFamily="18" charset="0"/>
              </a:rPr>
            </a:br>
            <a:r>
              <a:rPr lang="en-US" sz="3200" b="1" dirty="0">
                <a:solidFill>
                  <a:schemeClr val="tx1"/>
                </a:solidFill>
                <a:latin typeface="+mj-lt"/>
                <a:ea typeface="Crimson Pro"/>
                <a:cs typeface="Times New Roman" panose="02020603050405020304" pitchFamily="18" charset="0"/>
              </a:rPr>
              <a:t>SYSTEMS - CSE4003</a:t>
            </a:r>
            <a:endParaRPr lang="en-US" sz="3200" dirty="0">
              <a:latin typeface="+mj-lt"/>
            </a:endParaRPr>
          </a:p>
        </p:txBody>
      </p:sp>
      <p:sp>
        <p:nvSpPr>
          <p:cNvPr id="8" name="TextBox 7">
            <a:extLst>
              <a:ext uri="{FF2B5EF4-FFF2-40B4-BE49-F238E27FC236}">
                <a16:creationId xmlns:a16="http://schemas.microsoft.com/office/drawing/2014/main" id="{712EA155-D66F-4B2E-9846-03ABCAF7CEB0}"/>
              </a:ext>
            </a:extLst>
          </p:cNvPr>
          <p:cNvSpPr txBox="1"/>
          <p:nvPr/>
        </p:nvSpPr>
        <p:spPr>
          <a:xfrm>
            <a:off x="491246" y="3059668"/>
            <a:ext cx="6096000" cy="369332"/>
          </a:xfrm>
          <a:prstGeom prst="rect">
            <a:avLst/>
          </a:prstGeom>
          <a:noFill/>
        </p:spPr>
        <p:txBody>
          <a:bodyPr wrap="square">
            <a:spAutoFit/>
          </a:bodyPr>
          <a:lstStyle/>
          <a:p>
            <a:r>
              <a:rPr lang="en-US" sz="1800" b="1" dirty="0">
                <a:solidFill>
                  <a:schemeClr val="tx1"/>
                </a:solidFill>
                <a:ea typeface="Crimson Pro"/>
                <a:cs typeface="Times New Roman" panose="02020603050405020304" pitchFamily="18" charset="0"/>
              </a:rPr>
              <a:t>GROUP PRESENTATION</a:t>
            </a:r>
            <a:endParaRPr lang="en-US" b="1" dirty="0"/>
          </a:p>
        </p:txBody>
      </p:sp>
      <p:pic>
        <p:nvPicPr>
          <p:cNvPr id="10" name="Picture 9">
            <a:extLst>
              <a:ext uri="{FF2B5EF4-FFF2-40B4-BE49-F238E27FC236}">
                <a16:creationId xmlns:a16="http://schemas.microsoft.com/office/drawing/2014/main" id="{C60EF32C-4C7C-40CC-94FF-9C9B7AD500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18260" y="336403"/>
            <a:ext cx="3178344" cy="2984465"/>
          </a:xfrm>
          <a:prstGeom prst="rect">
            <a:avLst/>
          </a:prstGeom>
        </p:spPr>
      </p:pic>
      <p:sp>
        <p:nvSpPr>
          <p:cNvPr id="11" name="TextBox 10">
            <a:extLst>
              <a:ext uri="{FF2B5EF4-FFF2-40B4-BE49-F238E27FC236}">
                <a16:creationId xmlns:a16="http://schemas.microsoft.com/office/drawing/2014/main" id="{1D6A7854-8511-4280-B299-66962289D8A5}"/>
              </a:ext>
            </a:extLst>
          </p:cNvPr>
          <p:cNvSpPr txBox="1"/>
          <p:nvPr/>
        </p:nvSpPr>
        <p:spPr>
          <a:xfrm>
            <a:off x="491246" y="4092525"/>
            <a:ext cx="9556994" cy="1477328"/>
          </a:xfrm>
          <a:prstGeom prst="rect">
            <a:avLst/>
          </a:prstGeom>
          <a:noFill/>
        </p:spPr>
        <p:txBody>
          <a:bodyPr wrap="square" rtlCol="0">
            <a:spAutoFit/>
          </a:bodyPr>
          <a:lstStyle/>
          <a:p>
            <a:r>
              <a:rPr lang="en-US" dirty="0"/>
              <a:t>Samarakoon </a:t>
            </a:r>
            <a:r>
              <a:rPr lang="en-US" dirty="0" err="1"/>
              <a:t>Mudiyanselage</a:t>
            </a:r>
            <a:r>
              <a:rPr lang="en-US" dirty="0"/>
              <a:t> </a:t>
            </a:r>
            <a:r>
              <a:rPr lang="en-US" dirty="0" err="1"/>
              <a:t>Tharindu</a:t>
            </a:r>
            <a:r>
              <a:rPr lang="en-US" dirty="0"/>
              <a:t> Francesco CL/HDCSE/CMU/131/17 st20339052</a:t>
            </a:r>
          </a:p>
          <a:p>
            <a:r>
              <a:rPr lang="en-US" dirty="0" err="1"/>
              <a:t>Hingurage</a:t>
            </a:r>
            <a:r>
              <a:rPr lang="en-US" dirty="0"/>
              <a:t> </a:t>
            </a:r>
            <a:r>
              <a:rPr lang="en-US" dirty="0" err="1"/>
              <a:t>Ravindu</a:t>
            </a:r>
            <a:r>
              <a:rPr lang="en-US" dirty="0"/>
              <a:t> Shenal Perera CL/HDCSE/CMU/131/28  st20338940</a:t>
            </a:r>
          </a:p>
          <a:p>
            <a:r>
              <a:rPr lang="en-US" dirty="0" err="1"/>
              <a:t>Dunukara</a:t>
            </a:r>
            <a:r>
              <a:rPr lang="en-US" dirty="0"/>
              <a:t> </a:t>
            </a:r>
            <a:r>
              <a:rPr lang="en-US" dirty="0" err="1"/>
              <a:t>Mudiyanselage</a:t>
            </a:r>
            <a:r>
              <a:rPr lang="en-US" dirty="0"/>
              <a:t> </a:t>
            </a:r>
            <a:r>
              <a:rPr lang="en-US" dirty="0" err="1"/>
              <a:t>Sithumi</a:t>
            </a:r>
            <a:r>
              <a:rPr lang="en-US" dirty="0"/>
              <a:t> Amaya CL/HDCSE/CMU/131/14 st20339049</a:t>
            </a:r>
          </a:p>
          <a:p>
            <a:r>
              <a:rPr lang="en-US" dirty="0" err="1"/>
              <a:t>Sahan</a:t>
            </a:r>
            <a:r>
              <a:rPr lang="en-US" dirty="0"/>
              <a:t> </a:t>
            </a:r>
            <a:r>
              <a:rPr lang="en-US" dirty="0" err="1"/>
              <a:t>Kavishka</a:t>
            </a:r>
            <a:r>
              <a:rPr lang="en-US" dirty="0"/>
              <a:t> Adhikari CL/HDCSE/CMU/131/32 st20338943</a:t>
            </a:r>
          </a:p>
          <a:p>
            <a:r>
              <a:rPr lang="en-US" dirty="0" err="1"/>
              <a:t>Randyn</a:t>
            </a:r>
            <a:r>
              <a:rPr lang="en-US" dirty="0"/>
              <a:t> </a:t>
            </a:r>
            <a:r>
              <a:rPr lang="en-US" dirty="0" err="1"/>
              <a:t>Shalinka</a:t>
            </a:r>
            <a:r>
              <a:rPr lang="en-US" dirty="0"/>
              <a:t> Mario </a:t>
            </a:r>
            <a:r>
              <a:rPr lang="en-US" dirty="0" err="1"/>
              <a:t>Uyanage</a:t>
            </a:r>
            <a:r>
              <a:rPr lang="en-US" dirty="0"/>
              <a:t> CL/HDCSE/CMU/131/27 st20338939</a:t>
            </a:r>
          </a:p>
        </p:txBody>
      </p:sp>
    </p:spTree>
    <p:extLst>
      <p:ext uri="{BB962C8B-B14F-4D97-AF65-F5344CB8AC3E}">
        <p14:creationId xmlns:p14="http://schemas.microsoft.com/office/powerpoint/2010/main" val="8362715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white paper with black text&#10;&#10;AI-generated content may be incorrect.">
            <a:extLst>
              <a:ext uri="{FF2B5EF4-FFF2-40B4-BE49-F238E27FC236}">
                <a16:creationId xmlns:a16="http://schemas.microsoft.com/office/drawing/2014/main" id="{DC60B398-9059-957C-E81C-B7EF31B501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6964" y="0"/>
            <a:ext cx="5858072" cy="6858000"/>
          </a:xfrm>
          <a:prstGeom prst="rect">
            <a:avLst/>
          </a:prstGeom>
        </p:spPr>
      </p:pic>
      <p:sp>
        <p:nvSpPr>
          <p:cNvPr id="4" name="TextBox 3">
            <a:extLst>
              <a:ext uri="{FF2B5EF4-FFF2-40B4-BE49-F238E27FC236}">
                <a16:creationId xmlns:a16="http://schemas.microsoft.com/office/drawing/2014/main" id="{6E4F2D76-3EF5-D1A5-EF02-ACEA85EEA83E}"/>
              </a:ext>
            </a:extLst>
          </p:cNvPr>
          <p:cNvSpPr txBox="1"/>
          <p:nvPr/>
        </p:nvSpPr>
        <p:spPr>
          <a:xfrm>
            <a:off x="4007358" y="960120"/>
            <a:ext cx="4478274" cy="276999"/>
          </a:xfrm>
          <a:prstGeom prst="rect">
            <a:avLst/>
          </a:prstGeom>
          <a:noFill/>
        </p:spPr>
        <p:txBody>
          <a:bodyPr wrap="square">
            <a:spAutoFit/>
          </a:bodyPr>
          <a:lstStyle/>
          <a:p>
            <a:r>
              <a:rPr lang="en-US" sz="1200" dirty="0">
                <a:latin typeface="Times New Roman" panose="02020603050405020304" pitchFamily="18" charset="0"/>
                <a:cs typeface="Times New Roman" panose="02020603050405020304" pitchFamily="18" charset="0"/>
              </a:rPr>
              <a:t>Randyn Shalinka Mario </a:t>
            </a:r>
            <a:r>
              <a:rPr lang="en-US" sz="1200" dirty="0" err="1">
                <a:latin typeface="Times New Roman" panose="02020603050405020304" pitchFamily="18" charset="0"/>
                <a:cs typeface="Times New Roman" panose="02020603050405020304" pitchFamily="18" charset="0"/>
              </a:rPr>
              <a:t>Uyanage</a:t>
            </a:r>
            <a:r>
              <a:rPr lang="en-US" sz="1200" dirty="0">
                <a:latin typeface="Times New Roman" panose="02020603050405020304" pitchFamily="18" charset="0"/>
                <a:cs typeface="Times New Roman" panose="02020603050405020304" pitchFamily="18" charset="0"/>
              </a:rPr>
              <a:t>  CL/HDCSE/CMU/131/27 </a:t>
            </a:r>
          </a:p>
        </p:txBody>
      </p:sp>
    </p:spTree>
    <p:extLst>
      <p:ext uri="{BB962C8B-B14F-4D97-AF65-F5344CB8AC3E}">
        <p14:creationId xmlns:p14="http://schemas.microsoft.com/office/powerpoint/2010/main" val="1162915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D6B1D-2CE5-0A5C-4A99-9A44281A69C7}"/>
              </a:ext>
            </a:extLst>
          </p:cNvPr>
          <p:cNvSpPr>
            <a:spLocks noGrp="1"/>
          </p:cNvSpPr>
          <p:nvPr>
            <p:ph type="title"/>
          </p:nvPr>
        </p:nvSpPr>
        <p:spPr>
          <a:solidFill>
            <a:schemeClr val="bg1"/>
          </a:solidFill>
        </p:spPr>
        <p:txBody>
          <a:bodyPr/>
          <a:lstStyle/>
          <a:p>
            <a:r>
              <a:rPr lang="en-US" dirty="0"/>
              <a:t>Table of contents</a:t>
            </a:r>
            <a:br>
              <a:rPr lang="en-US" dirty="0"/>
            </a:br>
            <a:endParaRPr lang="en-US" dirty="0"/>
          </a:p>
        </p:txBody>
      </p:sp>
      <p:sp>
        <p:nvSpPr>
          <p:cNvPr id="9" name="Content Placeholder 8">
            <a:extLst>
              <a:ext uri="{FF2B5EF4-FFF2-40B4-BE49-F238E27FC236}">
                <a16:creationId xmlns:a16="http://schemas.microsoft.com/office/drawing/2014/main" id="{706ECE98-54B3-C782-2596-81CD2A7D0540}"/>
              </a:ext>
            </a:extLst>
          </p:cNvPr>
          <p:cNvSpPr txBox="1">
            <a:spLocks noGrp="1"/>
          </p:cNvSpPr>
          <p:nvPr>
            <p:ph idx="1"/>
          </p:nvPr>
        </p:nvSpPr>
        <p:spPr>
          <a:xfrm>
            <a:off x="838200" y="1027906"/>
            <a:ext cx="7029659" cy="5438284"/>
          </a:xfrm>
          <a:prstGeom prst="rect">
            <a:avLst/>
          </a:prstGeom>
          <a:noFill/>
        </p:spPr>
        <p:txBody>
          <a:bodyPr wrap="square">
            <a:spAutoFit/>
          </a:bodyPr>
          <a:lstStyle/>
          <a:p>
            <a:pPr algn="l"/>
            <a:r>
              <a:rPr lang="en-US" sz="1000" b="1" dirty="0">
                <a:latin typeface="__GeistSans_3a0388"/>
              </a:rPr>
              <a:t>Feedback form…………………………………………………………………………………………………………………………………………………………….2</a:t>
            </a:r>
            <a:endParaRPr lang="en-US" sz="1000" b="1" i="0" dirty="0">
              <a:effectLst/>
              <a:latin typeface="__GeistSans_3a0388"/>
            </a:endParaRPr>
          </a:p>
          <a:p>
            <a:pPr algn="l"/>
            <a:r>
              <a:rPr lang="en-US" sz="1000" b="1" i="0" dirty="0">
                <a:effectLst/>
                <a:latin typeface="__GeistSans_3a0388"/>
              </a:rPr>
              <a:t>Improving the Performance and Customer Satisfaction in Pizza Hut of Sri Lanka …………………………………………………………5</a:t>
            </a:r>
          </a:p>
          <a:p>
            <a:r>
              <a:rPr lang="en-US" sz="1000" b="1" i="0" dirty="0">
                <a:effectLst/>
                <a:latin typeface="+mj-lt"/>
              </a:rPr>
              <a:t>Competitive advantage of Information Systems…………………………………………………………………………………………....6</a:t>
            </a:r>
            <a:endParaRPr lang="en-US" sz="1000" b="1" dirty="0">
              <a:latin typeface="+mj-lt"/>
            </a:endParaRPr>
          </a:p>
          <a:p>
            <a:r>
              <a:rPr lang="en-US" sz="1000" b="1" dirty="0"/>
              <a:t>General picture of the Food Preparation Department…………………………………………………………………………....7</a:t>
            </a:r>
          </a:p>
          <a:p>
            <a:r>
              <a:rPr lang="en-US" sz="1000" b="1" dirty="0"/>
              <a:t>Optimization of Food Delivery Tasks……………………………………………………………………………………………………8</a:t>
            </a:r>
          </a:p>
          <a:p>
            <a:r>
              <a:rPr lang="en-US" sz="1000" b="1" dirty="0"/>
              <a:t>To Enhance Customer Service in Pizza Hut Sri Lanka………………………………………………………………………….....9</a:t>
            </a:r>
          </a:p>
          <a:p>
            <a:r>
              <a:rPr lang="en-US" sz="1000" b="1" i="0" dirty="0">
                <a:effectLst/>
                <a:latin typeface="+mj-lt"/>
              </a:rPr>
              <a:t>Inventory Management optimization in Pizza Hut Sri Lanka………………………………………………....................................10</a:t>
            </a:r>
            <a:endParaRPr lang="en-US" sz="1000" b="1" dirty="0">
              <a:latin typeface="+mj-lt"/>
            </a:endParaRPr>
          </a:p>
          <a:p>
            <a:r>
              <a:rPr lang="en-US" sz="1000" b="1" i="0" dirty="0">
                <a:effectLst/>
                <a:latin typeface="+mj-lt"/>
              </a:rPr>
              <a:t>Quality control, quality assurance strategies and strategies to ensure hygiene……………………………….………………….11</a:t>
            </a:r>
            <a:endParaRPr lang="en-US" sz="1000" b="1" dirty="0">
              <a:latin typeface="+mj-lt"/>
            </a:endParaRPr>
          </a:p>
          <a:p>
            <a:r>
              <a:rPr lang="en-US" sz="1000" b="1" i="0" dirty="0">
                <a:effectLst/>
                <a:latin typeface="+mj-lt"/>
              </a:rPr>
              <a:t>Role of Human Resources Department Functions………………………………………………………………………………………….12</a:t>
            </a:r>
            <a:endParaRPr lang="en-US" sz="1000" b="1" dirty="0">
              <a:latin typeface="+mj-lt"/>
            </a:endParaRPr>
          </a:p>
          <a:p>
            <a:r>
              <a:rPr lang="en-US" sz="1000" b="1" i="0" dirty="0">
                <a:effectLst/>
                <a:latin typeface="+mj-lt"/>
              </a:rPr>
              <a:t>Description of the Role of Finance Department………………………………………………………………………………………………13</a:t>
            </a:r>
            <a:endParaRPr lang="en-US" sz="1000" b="1" dirty="0">
              <a:latin typeface="+mj-lt"/>
            </a:endParaRPr>
          </a:p>
          <a:p>
            <a:r>
              <a:rPr lang="en-US" sz="1000" b="1" i="0" dirty="0">
                <a:effectLst/>
                <a:latin typeface="+mj-lt"/>
              </a:rPr>
              <a:t>Profile of Pizza Hut Sri Lanka IT Department operations…………………………………………………………………………………..14</a:t>
            </a:r>
            <a:endParaRPr lang="en-US" sz="1000" b="1" dirty="0">
              <a:latin typeface="+mj-lt"/>
            </a:endParaRPr>
          </a:p>
          <a:p>
            <a:r>
              <a:rPr lang="en-US" sz="1000" b="1" i="0" dirty="0">
                <a:effectLst/>
                <a:latin typeface="+mj-lt"/>
              </a:rPr>
              <a:t>Operation Excellence- Administration Department…………………………………………………………………………………………15</a:t>
            </a:r>
            <a:endParaRPr lang="en-US" sz="1000" b="1" dirty="0">
              <a:latin typeface="+mj-lt"/>
            </a:endParaRPr>
          </a:p>
          <a:p>
            <a:r>
              <a:rPr lang="en-US" sz="1000" b="1" dirty="0">
                <a:latin typeface="+mj-lt"/>
              </a:rPr>
              <a:t>Types of Information System in Pizza Hut………………………………………………………………………………………………......... 16</a:t>
            </a:r>
          </a:p>
          <a:p>
            <a:r>
              <a:rPr lang="en-US" sz="1000" b="1" i="0" dirty="0">
                <a:effectLst/>
                <a:latin typeface="+mj-lt"/>
              </a:rPr>
              <a:t>Knowledge of Decision Support System and ERP Solutions………………………………………………………………………….....</a:t>
            </a:r>
            <a:r>
              <a:rPr lang="en-US" sz="1000" b="1" dirty="0">
                <a:latin typeface="+mj-lt"/>
              </a:rPr>
              <a:t>.</a:t>
            </a:r>
            <a:r>
              <a:rPr lang="en-US" sz="1000" b="1" i="0" dirty="0">
                <a:effectLst/>
                <a:latin typeface="+mj-lt"/>
              </a:rPr>
              <a:t>.17</a:t>
            </a:r>
            <a:endParaRPr lang="en-US" sz="1000" b="1" dirty="0">
              <a:latin typeface="+mj-lt"/>
            </a:endParaRPr>
          </a:p>
          <a:p>
            <a:r>
              <a:rPr lang="en-US" sz="1000" b="1" i="0" dirty="0">
                <a:effectLst/>
                <a:latin typeface="+mj-lt"/>
              </a:rPr>
              <a:t>Fast Food Competitive Landscape: A comparison of Information systems………………………………………………………..…18</a:t>
            </a:r>
            <a:endParaRPr lang="en-US" sz="1000" b="1" dirty="0">
              <a:latin typeface="+mj-lt"/>
            </a:endParaRPr>
          </a:p>
          <a:p>
            <a:r>
              <a:rPr lang="en-US" sz="1000" b="1" i="0" dirty="0">
                <a:effectLst/>
                <a:latin typeface="+mj-lt"/>
              </a:rPr>
              <a:t>The New Trends in Fast Food Industry…………………………………………………………………………………………………...………19</a:t>
            </a:r>
            <a:endParaRPr lang="en-US" sz="1000" b="1" dirty="0">
              <a:latin typeface="+mj-lt"/>
            </a:endParaRPr>
          </a:p>
          <a:p>
            <a:r>
              <a:rPr lang="en-US" sz="1000" b="1" dirty="0"/>
              <a:t>Summary ………………………………………………………………………………………………………………………………………….20</a:t>
            </a:r>
          </a:p>
          <a:p>
            <a:r>
              <a:rPr lang="en-US" sz="1000" b="1" dirty="0"/>
              <a:t>Contribution Report……………………………………………………………………………………………………………………………21</a:t>
            </a:r>
          </a:p>
          <a:p>
            <a:r>
              <a:rPr lang="en-US" sz="1000" b="1" dirty="0"/>
              <a:t>Thank you …………………………………………………………………………………………………………………………………………22</a:t>
            </a:r>
          </a:p>
          <a:p>
            <a:r>
              <a:rPr lang="en-US" sz="1000" b="1" dirty="0"/>
              <a:t>References ………………………………………………………………………………………………………………………………………23</a:t>
            </a:r>
            <a:br>
              <a:rPr lang="en-US" sz="1000" b="1" dirty="0">
                <a:solidFill>
                  <a:schemeClr val="bg1"/>
                </a:solidFill>
              </a:rPr>
            </a:br>
            <a:endParaRPr lang="en-US" sz="1000" b="1" dirty="0">
              <a:solidFill>
                <a:schemeClr val="bg1"/>
              </a:solidFill>
            </a:endParaRPr>
          </a:p>
        </p:txBody>
      </p:sp>
    </p:spTree>
    <p:extLst>
      <p:ext uri="{BB962C8B-B14F-4D97-AF65-F5344CB8AC3E}">
        <p14:creationId xmlns:p14="http://schemas.microsoft.com/office/powerpoint/2010/main" val="4047697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8D11B79-DBD8-41E0-8AED-3D698749B7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441" y="0"/>
            <a:ext cx="13326796" cy="6857999"/>
          </a:xfrm>
          <a:prstGeom prst="rect">
            <a:avLst/>
          </a:prstGeom>
        </p:spPr>
      </p:pic>
      <p:pic>
        <p:nvPicPr>
          <p:cNvPr id="2052" name="Picture 4" descr="Pizza Hut logo">
            <a:extLst>
              <a:ext uri="{FF2B5EF4-FFF2-40B4-BE49-F238E27FC236}">
                <a16:creationId xmlns:a16="http://schemas.microsoft.com/office/drawing/2014/main" id="{BE2007BD-8566-4E7D-83D0-DB3579253B8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5731" r="67151" b="34401"/>
          <a:stretch/>
        </p:blipFill>
        <p:spPr bwMode="auto">
          <a:xfrm>
            <a:off x="-392069" y="2191371"/>
            <a:ext cx="1608367" cy="1475117"/>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23EA2770-F3C3-4789-B67A-1F5A425A5FCE}"/>
              </a:ext>
            </a:extLst>
          </p:cNvPr>
          <p:cNvSpPr txBox="1"/>
          <p:nvPr/>
        </p:nvSpPr>
        <p:spPr>
          <a:xfrm>
            <a:off x="1074237" y="2438337"/>
            <a:ext cx="2932824" cy="830997"/>
          </a:xfrm>
          <a:prstGeom prst="rect">
            <a:avLst/>
          </a:prstGeom>
          <a:noFill/>
        </p:spPr>
        <p:txBody>
          <a:bodyPr wrap="square" rtlCol="0">
            <a:spAutoFit/>
          </a:bodyPr>
          <a:lstStyle/>
          <a:p>
            <a:r>
              <a:rPr lang="en-US" sz="4800" b="1" dirty="0">
                <a:solidFill>
                  <a:schemeClr val="bg1"/>
                </a:solidFill>
                <a:latin typeface="High Tower Text" panose="02040502050506030303" pitchFamily="18" charset="0"/>
              </a:rPr>
              <a:t>Pizza Hut</a:t>
            </a:r>
          </a:p>
        </p:txBody>
      </p:sp>
      <p:sp>
        <p:nvSpPr>
          <p:cNvPr id="2" name="TextBox 1">
            <a:extLst>
              <a:ext uri="{FF2B5EF4-FFF2-40B4-BE49-F238E27FC236}">
                <a16:creationId xmlns:a16="http://schemas.microsoft.com/office/drawing/2014/main" id="{BFE0644D-2144-4E67-948D-9629B78DDEC3}"/>
              </a:ext>
            </a:extLst>
          </p:cNvPr>
          <p:cNvSpPr txBox="1"/>
          <p:nvPr/>
        </p:nvSpPr>
        <p:spPr>
          <a:xfrm>
            <a:off x="972637" y="3277085"/>
            <a:ext cx="4208964" cy="1323439"/>
          </a:xfrm>
          <a:prstGeom prst="rect">
            <a:avLst/>
          </a:prstGeom>
          <a:noFill/>
        </p:spPr>
        <p:txBody>
          <a:bodyPr wrap="square" rtlCol="0">
            <a:spAutoFit/>
          </a:bodyPr>
          <a:lstStyle/>
          <a:p>
            <a:r>
              <a:rPr lang="en-US" sz="2000" b="1" dirty="0">
                <a:solidFill>
                  <a:schemeClr val="bg1"/>
                </a:solidFill>
              </a:rPr>
              <a:t>Information Systems for Operational Efficiency &amp; Customer Satisfaction – The Pizza Hut Case</a:t>
            </a:r>
            <a:endParaRPr lang="en-US" sz="2000" dirty="0">
              <a:solidFill>
                <a:schemeClr val="bg1"/>
              </a:solidFill>
            </a:endParaRPr>
          </a:p>
          <a:p>
            <a:endParaRPr lang="en-US" sz="2000" dirty="0">
              <a:solidFill>
                <a:schemeClr val="bg1"/>
              </a:solidFill>
            </a:endParaRPr>
          </a:p>
        </p:txBody>
      </p:sp>
    </p:spTree>
    <p:extLst>
      <p:ext uri="{BB962C8B-B14F-4D97-AF65-F5344CB8AC3E}">
        <p14:creationId xmlns:p14="http://schemas.microsoft.com/office/powerpoint/2010/main" val="2673687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 and white photo">
            <a:extLst>
              <a:ext uri="{FF2B5EF4-FFF2-40B4-BE49-F238E27FC236}">
                <a16:creationId xmlns:a16="http://schemas.microsoft.com/office/drawing/2014/main" id="{889D3055-54DF-7F58-5877-A6DFC50BECAA}"/>
              </a:ext>
            </a:extLst>
          </p:cNvPr>
          <p:cNvPicPr/>
          <p:nvPr/>
        </p:nvPicPr>
        <p:blipFill>
          <a:blip r:embed="rId2">
            <a:biLevel thresh="75000"/>
            <a:extLst>
              <a:ext uri="{BEBA8EAE-BF5A-486C-A8C5-ECC9F3942E4B}">
                <a14:imgProps xmlns:a14="http://schemas.microsoft.com/office/drawing/2010/main">
                  <a14:imgLayer r:embed="rId3">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sp>
        <p:nvSpPr>
          <p:cNvPr id="9" name="TextBox 8">
            <a:extLst>
              <a:ext uri="{FF2B5EF4-FFF2-40B4-BE49-F238E27FC236}">
                <a16:creationId xmlns:a16="http://schemas.microsoft.com/office/drawing/2014/main" id="{72F02D1A-E7CD-40A9-A459-063242AB7AC0}"/>
              </a:ext>
            </a:extLst>
          </p:cNvPr>
          <p:cNvSpPr txBox="1"/>
          <p:nvPr/>
        </p:nvSpPr>
        <p:spPr>
          <a:xfrm>
            <a:off x="785782" y="4229876"/>
            <a:ext cx="11276515" cy="2554545"/>
          </a:xfrm>
          <a:prstGeom prst="rect">
            <a:avLst/>
          </a:prstGeom>
          <a:noFill/>
        </p:spPr>
        <p:txBody>
          <a:bodyPr wrap="square">
            <a:spAutoFit/>
          </a:bodyPr>
          <a:lstStyle/>
          <a:p>
            <a:pPr algn="l"/>
            <a:r>
              <a:rPr lang="en-US" sz="4000" b="1" i="0" dirty="0">
                <a:solidFill>
                  <a:schemeClr val="bg1"/>
                </a:solidFill>
                <a:effectLst/>
                <a:latin typeface="__GeistSans_3a0388"/>
              </a:rPr>
              <a:t>Improving the Performance and Customer Satisfaction in Pizza Hut of Sri Lanka </a:t>
            </a:r>
          </a:p>
          <a:p>
            <a:br>
              <a:rPr lang="en-US" sz="4000" b="1" dirty="0">
                <a:solidFill>
                  <a:schemeClr val="bg1"/>
                </a:solidFill>
              </a:rPr>
            </a:br>
            <a:endParaRPr lang="en-US" sz="4000" b="1" dirty="0">
              <a:solidFill>
                <a:schemeClr val="bg1"/>
              </a:solidFill>
            </a:endParaRPr>
          </a:p>
        </p:txBody>
      </p:sp>
      <p:sp>
        <p:nvSpPr>
          <p:cNvPr id="11" name="TextBox 10">
            <a:extLst>
              <a:ext uri="{FF2B5EF4-FFF2-40B4-BE49-F238E27FC236}">
                <a16:creationId xmlns:a16="http://schemas.microsoft.com/office/drawing/2014/main" id="{4E421A94-3462-4874-9B90-02B680061900}"/>
              </a:ext>
            </a:extLst>
          </p:cNvPr>
          <p:cNvSpPr txBox="1"/>
          <p:nvPr/>
        </p:nvSpPr>
        <p:spPr>
          <a:xfrm>
            <a:off x="785782" y="5529267"/>
            <a:ext cx="10275637" cy="1015663"/>
          </a:xfrm>
          <a:prstGeom prst="rect">
            <a:avLst/>
          </a:prstGeom>
          <a:noFill/>
        </p:spPr>
        <p:txBody>
          <a:bodyPr wrap="square">
            <a:spAutoFit/>
          </a:bodyPr>
          <a:lstStyle/>
          <a:p>
            <a:pPr algn="l"/>
            <a:r>
              <a:rPr lang="en-US" sz="2000" b="0" i="0" dirty="0">
                <a:solidFill>
                  <a:schemeClr val="bg1"/>
                </a:solidFill>
                <a:effectLst/>
                <a:latin typeface="Inter"/>
              </a:rPr>
              <a:t>This presentation goes into detail regarding how information systems are critical in streamlining operations, customer satisfaction at Pizza Hut Sri Lanka (preparing, marketing, finance, etc.) in addition to practically how this can be improved.</a:t>
            </a:r>
          </a:p>
        </p:txBody>
      </p:sp>
      <p:pic>
        <p:nvPicPr>
          <p:cNvPr id="13" name="Picture 12">
            <a:extLst>
              <a:ext uri="{FF2B5EF4-FFF2-40B4-BE49-F238E27FC236}">
                <a16:creationId xmlns:a16="http://schemas.microsoft.com/office/drawing/2014/main" id="{414CFEA3-D2C2-40AB-B645-D466A354A1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4229876"/>
          </a:xfrm>
          <a:prstGeom prst="rect">
            <a:avLst/>
          </a:prstGeom>
        </p:spPr>
      </p:pic>
    </p:spTree>
    <p:extLst>
      <p:ext uri="{BB962C8B-B14F-4D97-AF65-F5344CB8AC3E}">
        <p14:creationId xmlns:p14="http://schemas.microsoft.com/office/powerpoint/2010/main" val="1412176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 and white photo">
            <a:extLst>
              <a:ext uri="{FF2B5EF4-FFF2-40B4-BE49-F238E27FC236}">
                <a16:creationId xmlns:a16="http://schemas.microsoft.com/office/drawing/2014/main" id="{E90A18D8-FD42-4467-2B1B-B13FEB6C58D8}"/>
              </a:ext>
            </a:extLst>
          </p:cNvPr>
          <p:cNvPicPr/>
          <p:nvPr/>
        </p:nvPicPr>
        <p:blipFill>
          <a:blip r:embed="rId2">
            <a:biLevel thresh="75000"/>
            <a:extLst>
              <a:ext uri="{BEBA8EAE-BF5A-486C-A8C5-ECC9F3942E4B}">
                <a14:imgProps xmlns:a14="http://schemas.microsoft.com/office/drawing/2010/main">
                  <a14:imgLayer r:embed="rId3">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sp>
        <p:nvSpPr>
          <p:cNvPr id="5" name="TextBox 4">
            <a:extLst>
              <a:ext uri="{FF2B5EF4-FFF2-40B4-BE49-F238E27FC236}">
                <a16:creationId xmlns:a16="http://schemas.microsoft.com/office/drawing/2014/main" id="{9E31FE2E-1BB3-4AA2-9708-91F9B7BBFDA7}"/>
              </a:ext>
            </a:extLst>
          </p:cNvPr>
          <p:cNvSpPr txBox="1"/>
          <p:nvPr/>
        </p:nvSpPr>
        <p:spPr>
          <a:xfrm>
            <a:off x="6360731" y="2052058"/>
            <a:ext cx="5379280" cy="1323439"/>
          </a:xfrm>
          <a:prstGeom prst="rect">
            <a:avLst/>
          </a:prstGeom>
          <a:noFill/>
        </p:spPr>
        <p:txBody>
          <a:bodyPr wrap="square">
            <a:spAutoFit/>
          </a:bodyPr>
          <a:lstStyle/>
          <a:p>
            <a:r>
              <a:rPr lang="en-US" sz="4000" b="1" i="0" dirty="0">
                <a:solidFill>
                  <a:schemeClr val="bg1"/>
                </a:solidFill>
                <a:effectLst/>
                <a:latin typeface="+mj-lt"/>
              </a:rPr>
              <a:t>Competitive advantage of Information Systems</a:t>
            </a:r>
            <a:endParaRPr lang="en-US" sz="4000" b="1" dirty="0">
              <a:solidFill>
                <a:schemeClr val="bg1"/>
              </a:solidFill>
              <a:latin typeface="+mj-lt"/>
            </a:endParaRPr>
          </a:p>
        </p:txBody>
      </p:sp>
      <p:sp>
        <p:nvSpPr>
          <p:cNvPr id="9" name="TextBox 8">
            <a:extLst>
              <a:ext uri="{FF2B5EF4-FFF2-40B4-BE49-F238E27FC236}">
                <a16:creationId xmlns:a16="http://schemas.microsoft.com/office/drawing/2014/main" id="{FB693790-476F-4406-830C-2C1016C6D037}"/>
              </a:ext>
            </a:extLst>
          </p:cNvPr>
          <p:cNvSpPr txBox="1"/>
          <p:nvPr/>
        </p:nvSpPr>
        <p:spPr>
          <a:xfrm>
            <a:off x="6205030" y="3482504"/>
            <a:ext cx="5690682" cy="1323439"/>
          </a:xfrm>
          <a:prstGeom prst="rect">
            <a:avLst/>
          </a:prstGeom>
          <a:noFill/>
        </p:spPr>
        <p:txBody>
          <a:bodyPr wrap="square">
            <a:spAutoFit/>
          </a:bodyPr>
          <a:lstStyle/>
          <a:p>
            <a:r>
              <a:rPr lang="en-US" sz="2000" i="0" dirty="0">
                <a:solidFill>
                  <a:schemeClr val="bg1"/>
                </a:solidFill>
                <a:effectLst/>
                <a:latin typeface="__GeistSans_3a0388"/>
              </a:rPr>
              <a:t>An in-depth examination of the Pizza Hut Sri Lanka incorporating the use of digital processes to boost operation efficiency and to achieve the objectives of technology-business strategy integration.</a:t>
            </a:r>
            <a:endParaRPr lang="en-US" sz="2000" dirty="0">
              <a:solidFill>
                <a:schemeClr val="bg1"/>
              </a:solidFill>
            </a:endParaRPr>
          </a:p>
        </p:txBody>
      </p:sp>
      <p:pic>
        <p:nvPicPr>
          <p:cNvPr id="8" name="Picture 7">
            <a:extLst>
              <a:ext uri="{FF2B5EF4-FFF2-40B4-BE49-F238E27FC236}">
                <a16:creationId xmlns:a16="http://schemas.microsoft.com/office/drawing/2014/main" id="{06141D55-A6C5-454A-B6A6-DD65F6F75FE8}"/>
              </a:ext>
            </a:extLst>
          </p:cNvPr>
          <p:cNvPicPr>
            <a:picLocks noChangeAspect="1"/>
          </p:cNvPicPr>
          <p:nvPr/>
        </p:nvPicPr>
        <p:blipFill rotWithShape="1">
          <a:blip r:embed="rId4">
            <a:extLst>
              <a:ext uri="{28A0092B-C50C-407E-A947-70E740481C1C}">
                <a14:useLocalDpi xmlns:a14="http://schemas.microsoft.com/office/drawing/2010/main" val="0"/>
              </a:ext>
            </a:extLst>
          </a:blip>
          <a:srcRect l="7051" r="7102"/>
          <a:stretch/>
        </p:blipFill>
        <p:spPr>
          <a:xfrm>
            <a:off x="0" y="1"/>
            <a:ext cx="6104512" cy="6858000"/>
          </a:xfrm>
          <a:prstGeom prst="rect">
            <a:avLst/>
          </a:prstGeom>
        </p:spPr>
      </p:pic>
    </p:spTree>
    <p:extLst>
      <p:ext uri="{BB962C8B-B14F-4D97-AF65-F5344CB8AC3E}">
        <p14:creationId xmlns:p14="http://schemas.microsoft.com/office/powerpoint/2010/main" val="2753085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and white photo">
            <a:extLst>
              <a:ext uri="{FF2B5EF4-FFF2-40B4-BE49-F238E27FC236}">
                <a16:creationId xmlns:a16="http://schemas.microsoft.com/office/drawing/2014/main" id="{FDF65242-82DC-C585-AE84-13C31B53F4BA}"/>
              </a:ext>
            </a:extLst>
          </p:cNvPr>
          <p:cNvPicPr/>
          <p:nvPr/>
        </p:nvPicPr>
        <p:blipFill>
          <a:blip r:embed="rId2">
            <a:biLevel thresh="75000"/>
            <a:extLst>
              <a:ext uri="{BEBA8EAE-BF5A-486C-A8C5-ECC9F3942E4B}">
                <a14:imgProps xmlns:a14="http://schemas.microsoft.com/office/drawing/2010/main">
                  <a14:imgLayer r:embed="rId3">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sp>
        <p:nvSpPr>
          <p:cNvPr id="27" name="Rectangle: Rounded Corners 26">
            <a:extLst>
              <a:ext uri="{FF2B5EF4-FFF2-40B4-BE49-F238E27FC236}">
                <a16:creationId xmlns:a16="http://schemas.microsoft.com/office/drawing/2014/main" id="{DE5646D7-85DB-4389-9115-C073C529E0BF}"/>
              </a:ext>
            </a:extLst>
          </p:cNvPr>
          <p:cNvSpPr/>
          <p:nvPr/>
        </p:nvSpPr>
        <p:spPr>
          <a:xfrm>
            <a:off x="6288442" y="4101344"/>
            <a:ext cx="4747098" cy="2005743"/>
          </a:xfrm>
          <a:prstGeom prst="roundRect">
            <a:avLst/>
          </a:prstGeom>
          <a:solidFill>
            <a:schemeClr val="tx1">
              <a:alpha val="16000"/>
            </a:schemeClr>
          </a:solidFill>
          <a:ln w="38100">
            <a:solidFill>
              <a:schemeClr val="tx1"/>
            </a:solidFill>
          </a:ln>
          <a:effectLst>
            <a:innerShdw blurRad="63500" dist="50800" dir="2700000">
              <a:prstClr val="black">
                <a:alpha val="50000"/>
              </a:prstClr>
            </a:inn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6" name="Rectangle: Rounded Corners 25">
            <a:extLst>
              <a:ext uri="{FF2B5EF4-FFF2-40B4-BE49-F238E27FC236}">
                <a16:creationId xmlns:a16="http://schemas.microsoft.com/office/drawing/2014/main" id="{7F754F53-B621-4703-8219-C83A2C312860}"/>
              </a:ext>
            </a:extLst>
          </p:cNvPr>
          <p:cNvSpPr/>
          <p:nvPr/>
        </p:nvSpPr>
        <p:spPr>
          <a:xfrm>
            <a:off x="1156462" y="4101344"/>
            <a:ext cx="4747098" cy="2005743"/>
          </a:xfrm>
          <a:prstGeom prst="roundRect">
            <a:avLst/>
          </a:prstGeom>
          <a:solidFill>
            <a:schemeClr val="tx1">
              <a:alpha val="16000"/>
            </a:schemeClr>
          </a:solidFill>
          <a:ln w="38100">
            <a:solidFill>
              <a:schemeClr val="tx1"/>
            </a:solidFill>
          </a:ln>
          <a:effectLst>
            <a:innerShdw blurRad="63500" dist="50800" dir="2700000">
              <a:prstClr val="black">
                <a:alpha val="50000"/>
              </a:prstClr>
            </a:inn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4" name="Rectangle: Rounded Corners 23">
            <a:extLst>
              <a:ext uri="{FF2B5EF4-FFF2-40B4-BE49-F238E27FC236}">
                <a16:creationId xmlns:a16="http://schemas.microsoft.com/office/drawing/2014/main" id="{BD3C4D29-C3C4-44B0-AF42-1945F988E532}"/>
              </a:ext>
            </a:extLst>
          </p:cNvPr>
          <p:cNvSpPr/>
          <p:nvPr/>
        </p:nvSpPr>
        <p:spPr>
          <a:xfrm>
            <a:off x="6280278" y="1697772"/>
            <a:ext cx="4747098" cy="2005743"/>
          </a:xfrm>
          <a:prstGeom prst="roundRect">
            <a:avLst/>
          </a:prstGeom>
          <a:solidFill>
            <a:schemeClr val="tx1">
              <a:alpha val="16000"/>
            </a:schemeClr>
          </a:solidFill>
          <a:ln w="38100">
            <a:solidFill>
              <a:schemeClr val="tx1"/>
            </a:solidFill>
          </a:ln>
          <a:effectLst>
            <a:innerShdw blurRad="63500" dist="50800" dir="2700000">
              <a:prstClr val="black">
                <a:alpha val="50000"/>
              </a:prstClr>
            </a:inn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Rectangle: Rounded Corners 21">
            <a:extLst>
              <a:ext uri="{FF2B5EF4-FFF2-40B4-BE49-F238E27FC236}">
                <a16:creationId xmlns:a16="http://schemas.microsoft.com/office/drawing/2014/main" id="{DCB148C0-71BD-46FF-9964-E020029D54BD}"/>
              </a:ext>
            </a:extLst>
          </p:cNvPr>
          <p:cNvSpPr/>
          <p:nvPr/>
        </p:nvSpPr>
        <p:spPr>
          <a:xfrm>
            <a:off x="1164626" y="1697772"/>
            <a:ext cx="4747098" cy="2005743"/>
          </a:xfrm>
          <a:prstGeom prst="roundRect">
            <a:avLst/>
          </a:prstGeom>
          <a:solidFill>
            <a:schemeClr val="tx1">
              <a:alpha val="16000"/>
            </a:schemeClr>
          </a:solidFill>
          <a:ln w="38100">
            <a:solidFill>
              <a:schemeClr val="tx1"/>
            </a:solidFill>
          </a:ln>
          <a:effectLst>
            <a:innerShdw blurRad="63500" dist="50800" dir="2700000">
              <a:prstClr val="black">
                <a:alpha val="50000"/>
              </a:prstClr>
            </a:inn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TextBox 4">
            <a:extLst>
              <a:ext uri="{FF2B5EF4-FFF2-40B4-BE49-F238E27FC236}">
                <a16:creationId xmlns:a16="http://schemas.microsoft.com/office/drawing/2014/main" id="{7983461D-170A-40B7-91C0-36BDF2C58C05}"/>
              </a:ext>
            </a:extLst>
          </p:cNvPr>
          <p:cNvSpPr txBox="1"/>
          <p:nvPr/>
        </p:nvSpPr>
        <p:spPr>
          <a:xfrm>
            <a:off x="1014371" y="214281"/>
            <a:ext cx="12772847" cy="646331"/>
          </a:xfrm>
          <a:prstGeom prst="rect">
            <a:avLst/>
          </a:prstGeom>
          <a:noFill/>
        </p:spPr>
        <p:txBody>
          <a:bodyPr wrap="square">
            <a:spAutoFit/>
          </a:bodyPr>
          <a:lstStyle/>
          <a:p>
            <a:r>
              <a:rPr lang="en-US" sz="3600" b="1" dirty="0">
                <a:solidFill>
                  <a:schemeClr val="bg1"/>
                </a:solidFill>
              </a:rPr>
              <a:t>General picture of the Food Preparation Department</a:t>
            </a:r>
          </a:p>
        </p:txBody>
      </p:sp>
      <p:sp>
        <p:nvSpPr>
          <p:cNvPr id="9" name="TextBox 8">
            <a:extLst>
              <a:ext uri="{FF2B5EF4-FFF2-40B4-BE49-F238E27FC236}">
                <a16:creationId xmlns:a16="http://schemas.microsoft.com/office/drawing/2014/main" id="{0D984FBE-64AC-40BA-9004-5DF5F4AE7CBF}"/>
              </a:ext>
            </a:extLst>
          </p:cNvPr>
          <p:cNvSpPr txBox="1"/>
          <p:nvPr/>
        </p:nvSpPr>
        <p:spPr>
          <a:xfrm>
            <a:off x="1014371" y="881677"/>
            <a:ext cx="8922957" cy="400110"/>
          </a:xfrm>
          <a:prstGeom prst="rect">
            <a:avLst/>
          </a:prstGeom>
          <a:noFill/>
        </p:spPr>
        <p:txBody>
          <a:bodyPr wrap="square">
            <a:spAutoFit/>
          </a:bodyPr>
          <a:lstStyle/>
          <a:p>
            <a:r>
              <a:rPr lang="en-US" sz="2000" dirty="0">
                <a:solidFill>
                  <a:schemeClr val="bg1"/>
                </a:solidFill>
              </a:rPr>
              <a:t>Learning how food preparation is vital in terms of quality and customer satisfaction.</a:t>
            </a:r>
          </a:p>
        </p:txBody>
      </p:sp>
      <p:sp>
        <p:nvSpPr>
          <p:cNvPr id="13" name="TextBox 12">
            <a:extLst>
              <a:ext uri="{FF2B5EF4-FFF2-40B4-BE49-F238E27FC236}">
                <a16:creationId xmlns:a16="http://schemas.microsoft.com/office/drawing/2014/main" id="{267018F4-6B3A-4439-BF44-0530EF3371C3}"/>
              </a:ext>
            </a:extLst>
          </p:cNvPr>
          <p:cNvSpPr txBox="1"/>
          <p:nvPr/>
        </p:nvSpPr>
        <p:spPr>
          <a:xfrm>
            <a:off x="1448609" y="2729919"/>
            <a:ext cx="2486025" cy="369332"/>
          </a:xfrm>
          <a:prstGeom prst="rect">
            <a:avLst/>
          </a:prstGeom>
          <a:noFill/>
        </p:spPr>
        <p:txBody>
          <a:bodyPr wrap="square">
            <a:spAutoFit/>
          </a:bodyPr>
          <a:lstStyle/>
          <a:p>
            <a:r>
              <a:rPr lang="en-US" b="1" u="sng" dirty="0">
                <a:solidFill>
                  <a:schemeClr val="bg1"/>
                </a:solidFill>
              </a:rPr>
              <a:t>Superior Quality Food</a:t>
            </a:r>
          </a:p>
        </p:txBody>
      </p:sp>
      <p:sp>
        <p:nvSpPr>
          <p:cNvPr id="17" name="TextBox 16">
            <a:extLst>
              <a:ext uri="{FF2B5EF4-FFF2-40B4-BE49-F238E27FC236}">
                <a16:creationId xmlns:a16="http://schemas.microsoft.com/office/drawing/2014/main" id="{138A7DBD-4754-487B-A174-A392A7B65FC4}"/>
              </a:ext>
            </a:extLst>
          </p:cNvPr>
          <p:cNvSpPr txBox="1"/>
          <p:nvPr/>
        </p:nvSpPr>
        <p:spPr>
          <a:xfrm>
            <a:off x="6475145" y="2779450"/>
            <a:ext cx="2454844" cy="369332"/>
          </a:xfrm>
          <a:prstGeom prst="rect">
            <a:avLst/>
          </a:prstGeom>
          <a:noFill/>
        </p:spPr>
        <p:txBody>
          <a:bodyPr wrap="square">
            <a:spAutoFit/>
          </a:bodyPr>
          <a:lstStyle/>
          <a:p>
            <a:r>
              <a:rPr lang="en-US" b="1" u="sng" dirty="0">
                <a:solidFill>
                  <a:schemeClr val="bg1"/>
                </a:solidFill>
              </a:rPr>
              <a:t>Assurance of Taste</a:t>
            </a:r>
          </a:p>
        </p:txBody>
      </p:sp>
      <p:sp>
        <p:nvSpPr>
          <p:cNvPr id="21" name="TextBox 20">
            <a:extLst>
              <a:ext uri="{FF2B5EF4-FFF2-40B4-BE49-F238E27FC236}">
                <a16:creationId xmlns:a16="http://schemas.microsoft.com/office/drawing/2014/main" id="{72223F3F-DB07-4B60-84D2-9FC45D5D4F99}"/>
              </a:ext>
            </a:extLst>
          </p:cNvPr>
          <p:cNvSpPr txBox="1"/>
          <p:nvPr/>
        </p:nvSpPr>
        <p:spPr>
          <a:xfrm>
            <a:off x="1378853" y="5065737"/>
            <a:ext cx="3233012" cy="369332"/>
          </a:xfrm>
          <a:prstGeom prst="rect">
            <a:avLst/>
          </a:prstGeom>
          <a:noFill/>
        </p:spPr>
        <p:txBody>
          <a:bodyPr wrap="square">
            <a:spAutoFit/>
          </a:bodyPr>
          <a:lstStyle/>
          <a:p>
            <a:r>
              <a:rPr lang="en-US" b="1" u="sng" dirty="0">
                <a:solidFill>
                  <a:schemeClr val="bg1"/>
                </a:solidFill>
              </a:rPr>
              <a:t>Management of Stocks</a:t>
            </a:r>
          </a:p>
        </p:txBody>
      </p:sp>
      <p:sp>
        <p:nvSpPr>
          <p:cNvPr id="25" name="TextBox 24">
            <a:extLst>
              <a:ext uri="{FF2B5EF4-FFF2-40B4-BE49-F238E27FC236}">
                <a16:creationId xmlns:a16="http://schemas.microsoft.com/office/drawing/2014/main" id="{7E8A0026-8C5D-4BDA-AA98-DC68387A159B}"/>
              </a:ext>
            </a:extLst>
          </p:cNvPr>
          <p:cNvSpPr txBox="1"/>
          <p:nvPr/>
        </p:nvSpPr>
        <p:spPr>
          <a:xfrm>
            <a:off x="6575797" y="5065496"/>
            <a:ext cx="3515159" cy="369332"/>
          </a:xfrm>
          <a:prstGeom prst="rect">
            <a:avLst/>
          </a:prstGeom>
          <a:noFill/>
        </p:spPr>
        <p:txBody>
          <a:bodyPr wrap="square">
            <a:spAutoFit/>
          </a:bodyPr>
          <a:lstStyle/>
          <a:p>
            <a:r>
              <a:rPr lang="en-US" b="1" u="sng" dirty="0">
                <a:solidFill>
                  <a:schemeClr val="bg1"/>
                </a:solidFill>
              </a:rPr>
              <a:t>Schedules for Preparation</a:t>
            </a:r>
          </a:p>
        </p:txBody>
      </p:sp>
      <p:sp>
        <p:nvSpPr>
          <p:cNvPr id="29" name="TextBox 28">
            <a:extLst>
              <a:ext uri="{FF2B5EF4-FFF2-40B4-BE49-F238E27FC236}">
                <a16:creationId xmlns:a16="http://schemas.microsoft.com/office/drawing/2014/main" id="{5DCBE010-E3DE-408F-87DB-CCB825DE6E9D}"/>
              </a:ext>
            </a:extLst>
          </p:cNvPr>
          <p:cNvSpPr txBox="1"/>
          <p:nvPr/>
        </p:nvSpPr>
        <p:spPr>
          <a:xfrm>
            <a:off x="1378852" y="3092742"/>
            <a:ext cx="4302318" cy="369332"/>
          </a:xfrm>
          <a:prstGeom prst="rect">
            <a:avLst/>
          </a:prstGeom>
          <a:noFill/>
        </p:spPr>
        <p:txBody>
          <a:bodyPr wrap="square">
            <a:spAutoFit/>
          </a:bodyPr>
          <a:lstStyle/>
          <a:p>
            <a:r>
              <a:rPr lang="en-US" b="0" i="0" dirty="0">
                <a:solidFill>
                  <a:schemeClr val="bg1"/>
                </a:solidFill>
                <a:effectLst/>
                <a:latin typeface="__GeistSans_3a0388"/>
              </a:rPr>
              <a:t>They make sure food served is of quality.</a:t>
            </a:r>
            <a:endParaRPr lang="en-US" dirty="0">
              <a:solidFill>
                <a:schemeClr val="bg1"/>
              </a:solidFill>
            </a:endParaRPr>
          </a:p>
        </p:txBody>
      </p:sp>
      <p:sp>
        <p:nvSpPr>
          <p:cNvPr id="33" name="TextBox 32">
            <a:extLst>
              <a:ext uri="{FF2B5EF4-FFF2-40B4-BE49-F238E27FC236}">
                <a16:creationId xmlns:a16="http://schemas.microsoft.com/office/drawing/2014/main" id="{146C215C-2544-40D5-AFDC-F0F1B413419B}"/>
              </a:ext>
            </a:extLst>
          </p:cNvPr>
          <p:cNvSpPr txBox="1"/>
          <p:nvPr/>
        </p:nvSpPr>
        <p:spPr>
          <a:xfrm>
            <a:off x="6475145" y="3160355"/>
            <a:ext cx="4478200" cy="369332"/>
          </a:xfrm>
          <a:prstGeom prst="rect">
            <a:avLst/>
          </a:prstGeom>
          <a:noFill/>
        </p:spPr>
        <p:txBody>
          <a:bodyPr wrap="square">
            <a:spAutoFit/>
          </a:bodyPr>
          <a:lstStyle/>
          <a:p>
            <a:r>
              <a:rPr lang="en-US" b="0" i="0" dirty="0">
                <a:solidFill>
                  <a:schemeClr val="bg1"/>
                </a:solidFill>
                <a:effectLst/>
                <a:latin typeface="__GeistSans_3a0388"/>
              </a:rPr>
              <a:t>Concentrates in improving the taste of foods</a:t>
            </a:r>
            <a:r>
              <a:rPr lang="en-US" dirty="0">
                <a:solidFill>
                  <a:schemeClr val="bg1"/>
                </a:solidFill>
              </a:rPr>
              <a:t>.</a:t>
            </a:r>
          </a:p>
        </p:txBody>
      </p:sp>
      <p:sp>
        <p:nvSpPr>
          <p:cNvPr id="37" name="TextBox 36">
            <a:extLst>
              <a:ext uri="{FF2B5EF4-FFF2-40B4-BE49-F238E27FC236}">
                <a16:creationId xmlns:a16="http://schemas.microsoft.com/office/drawing/2014/main" id="{D99CF0AB-4A1A-4B79-9FDF-4A1C831E9ECA}"/>
              </a:ext>
            </a:extLst>
          </p:cNvPr>
          <p:cNvSpPr txBox="1"/>
          <p:nvPr/>
        </p:nvSpPr>
        <p:spPr>
          <a:xfrm>
            <a:off x="1378852" y="5425492"/>
            <a:ext cx="3939268" cy="369332"/>
          </a:xfrm>
          <a:prstGeom prst="rect">
            <a:avLst/>
          </a:prstGeom>
          <a:noFill/>
        </p:spPr>
        <p:txBody>
          <a:bodyPr wrap="square">
            <a:spAutoFit/>
          </a:bodyPr>
          <a:lstStyle/>
          <a:p>
            <a:r>
              <a:rPr lang="en-US" b="0" i="0" dirty="0">
                <a:solidFill>
                  <a:schemeClr val="bg1"/>
                </a:solidFill>
                <a:effectLst/>
                <a:latin typeface="__GeistSans_3a0388"/>
              </a:rPr>
              <a:t>Monitors stock to prevent out of stocks.</a:t>
            </a:r>
            <a:endParaRPr lang="en-US" dirty="0">
              <a:solidFill>
                <a:schemeClr val="bg1"/>
              </a:solidFill>
            </a:endParaRPr>
          </a:p>
        </p:txBody>
      </p:sp>
      <p:sp>
        <p:nvSpPr>
          <p:cNvPr id="41" name="TextBox 40">
            <a:extLst>
              <a:ext uri="{FF2B5EF4-FFF2-40B4-BE49-F238E27FC236}">
                <a16:creationId xmlns:a16="http://schemas.microsoft.com/office/drawing/2014/main" id="{2404E8C6-4842-4295-BA06-8F4D9576A952}"/>
              </a:ext>
            </a:extLst>
          </p:cNvPr>
          <p:cNvSpPr txBox="1"/>
          <p:nvPr/>
        </p:nvSpPr>
        <p:spPr>
          <a:xfrm>
            <a:off x="6624279" y="5425251"/>
            <a:ext cx="4260396" cy="369332"/>
          </a:xfrm>
          <a:prstGeom prst="rect">
            <a:avLst/>
          </a:prstGeom>
          <a:noFill/>
        </p:spPr>
        <p:txBody>
          <a:bodyPr wrap="square">
            <a:spAutoFit/>
          </a:bodyPr>
          <a:lstStyle/>
          <a:p>
            <a:r>
              <a:rPr lang="en-US" b="0" i="0" dirty="0">
                <a:solidFill>
                  <a:schemeClr val="bg1"/>
                </a:solidFill>
                <a:effectLst/>
                <a:latin typeface="__GeistSans_3a0388"/>
              </a:rPr>
              <a:t>Schedules dining in order to maximize time.</a:t>
            </a:r>
            <a:endParaRPr lang="en-US" dirty="0">
              <a:solidFill>
                <a:schemeClr val="bg1"/>
              </a:solidFill>
            </a:endParaRPr>
          </a:p>
        </p:txBody>
      </p:sp>
      <p:sp>
        <p:nvSpPr>
          <p:cNvPr id="2" name="Rectangle: Rounded Corners 1">
            <a:extLst>
              <a:ext uri="{FF2B5EF4-FFF2-40B4-BE49-F238E27FC236}">
                <a16:creationId xmlns:a16="http://schemas.microsoft.com/office/drawing/2014/main" id="{9D96E597-CD08-57E7-BDB4-5CBE9EE902DF}"/>
              </a:ext>
            </a:extLst>
          </p:cNvPr>
          <p:cNvSpPr/>
          <p:nvPr/>
        </p:nvSpPr>
        <p:spPr>
          <a:xfrm>
            <a:off x="1164626" y="1677551"/>
            <a:ext cx="4747098" cy="2005743"/>
          </a:xfrm>
          <a:prstGeom prst="roundRect">
            <a:avLst/>
          </a:prstGeom>
          <a:noFill/>
          <a:ln>
            <a:solidFill>
              <a:schemeClr val="bg1"/>
            </a:solidFill>
          </a:ln>
          <a:effectLst>
            <a:innerShdw blurRad="63500" dist="50800" dir="13500000">
              <a:prstClr val="black">
                <a:alpha val="50000"/>
              </a:prstClr>
            </a:inn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2" name="Picture 11" descr="A white logo with a black background&#10;&#10;AI-generated content may be incorrect.">
            <a:extLst>
              <a:ext uri="{FF2B5EF4-FFF2-40B4-BE49-F238E27FC236}">
                <a16:creationId xmlns:a16="http://schemas.microsoft.com/office/drawing/2014/main" id="{2B838361-F96C-96DC-04DA-1C54C40FF155}"/>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50000" y1="31579" x2="50000" y2="31579"/>
                        <a14:foregroundMark x1="44118" y1="64912" x2="44118" y2="64912"/>
                        <a14:foregroundMark x1="35294" y1="87719" x2="35294" y2="87719"/>
                        <a14:foregroundMark x1="77941" y1="56140" x2="77941" y2="56140"/>
                      </a14:backgroundRemoval>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448609" y="2026788"/>
            <a:ext cx="794065" cy="665614"/>
          </a:xfrm>
          <a:prstGeom prst="rect">
            <a:avLst/>
          </a:prstGeom>
        </p:spPr>
      </p:pic>
      <p:pic>
        <p:nvPicPr>
          <p:cNvPr id="15" name="Picture 14" descr="A white icon of a bowl&#10;&#10;AI-generated content may be incorrect.">
            <a:extLst>
              <a:ext uri="{FF2B5EF4-FFF2-40B4-BE49-F238E27FC236}">
                <a16:creationId xmlns:a16="http://schemas.microsoft.com/office/drawing/2014/main" id="{69B6F9FC-A153-C24C-D89E-8A365C7FB376}"/>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foregroundMark x1="50769" y1="23881" x2="50769" y2="23881"/>
                        <a14:foregroundMark x1="13846" y1="17910" x2="13846" y2="17910"/>
                        <a14:foregroundMark x1="10769" y1="49254" x2="10769" y2="49254"/>
                      </a14:backgroundRemoval>
                    </a14:imgEffect>
                  </a14:imgLayer>
                </a14:imgProps>
              </a:ext>
              <a:ext uri="{28A0092B-C50C-407E-A947-70E740481C1C}">
                <a14:useLocalDpi xmlns:a14="http://schemas.microsoft.com/office/drawing/2010/main" val="0"/>
              </a:ext>
            </a:extLst>
          </a:blip>
          <a:stretch>
            <a:fillRect/>
          </a:stretch>
        </p:blipFill>
        <p:spPr>
          <a:xfrm>
            <a:off x="6523627" y="2125386"/>
            <a:ext cx="619211" cy="638264"/>
          </a:xfrm>
          <a:prstGeom prst="rect">
            <a:avLst/>
          </a:prstGeom>
        </p:spPr>
      </p:pic>
      <p:pic>
        <p:nvPicPr>
          <p:cNvPr id="20" name="Picture 19" descr="A black and white logo&#10;&#10;AI-generated content may be incorrect.">
            <a:extLst>
              <a:ext uri="{FF2B5EF4-FFF2-40B4-BE49-F238E27FC236}">
                <a16:creationId xmlns:a16="http://schemas.microsoft.com/office/drawing/2014/main" id="{BAE2A80F-3037-802B-FBF6-21DBDD9A1EA4}"/>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20408" y1="35294" x2="20408" y2="35294"/>
                        <a14:foregroundMark x1="48980" y1="75000" x2="48980" y2="75000"/>
                        <a14:foregroundMark x1="28571" y1="83824" x2="28571" y2="83824"/>
                        <a14:foregroundMark x1="39796" y1="60294" x2="39796" y2="60294"/>
                        <a14:foregroundMark x1="21429" y1="16176" x2="21429" y2="16176"/>
                        <a14:foregroundMark x1="50000" y1="10294" x2="50000" y2="10294"/>
                        <a14:foregroundMark x1="51020" y1="64706" x2="51020" y2="64706"/>
                        <a14:foregroundMark x1="23469" y1="64706" x2="23469" y2="64706"/>
                      </a14:backgroundRemoval>
                    </a14:imgEffect>
                  </a14:imgLayer>
                </a14:imgProps>
              </a:ext>
              <a:ext uri="{28A0092B-C50C-407E-A947-70E740481C1C}">
                <a14:useLocalDpi xmlns:a14="http://schemas.microsoft.com/office/drawing/2010/main" val="0"/>
              </a:ext>
            </a:extLst>
          </a:blip>
          <a:stretch>
            <a:fillRect/>
          </a:stretch>
        </p:blipFill>
        <p:spPr>
          <a:xfrm>
            <a:off x="1378852" y="4397726"/>
            <a:ext cx="933580" cy="647790"/>
          </a:xfrm>
          <a:prstGeom prst="rect">
            <a:avLst/>
          </a:prstGeom>
        </p:spPr>
      </p:pic>
      <p:pic>
        <p:nvPicPr>
          <p:cNvPr id="23" name="Picture 22" descr="A white logo of a pot&#10;&#10;AI-generated content may be incorrect.">
            <a:extLst>
              <a:ext uri="{FF2B5EF4-FFF2-40B4-BE49-F238E27FC236}">
                <a16:creationId xmlns:a16="http://schemas.microsoft.com/office/drawing/2014/main" id="{9AD35065-E3EB-7B7B-0815-7A26CD795168}"/>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10000" r="90000">
                        <a14:foregroundMark x1="43182" y1="48529" x2="43182" y2="48529"/>
                        <a14:foregroundMark x1="51136" y1="20588" x2="51136" y2="20588"/>
                      </a14:backgroundRemoval>
                    </a14:imgEffect>
                  </a14:imgLayer>
                </a14:imgProps>
              </a:ext>
              <a:ext uri="{28A0092B-C50C-407E-A947-70E740481C1C}">
                <a14:useLocalDpi xmlns:a14="http://schemas.microsoft.com/office/drawing/2010/main" val="0"/>
              </a:ext>
            </a:extLst>
          </a:blip>
          <a:stretch>
            <a:fillRect/>
          </a:stretch>
        </p:blipFill>
        <p:spPr>
          <a:xfrm>
            <a:off x="6624279" y="4431309"/>
            <a:ext cx="838317" cy="647790"/>
          </a:xfrm>
          <a:prstGeom prst="rect">
            <a:avLst/>
          </a:prstGeom>
        </p:spPr>
      </p:pic>
    </p:spTree>
    <p:extLst>
      <p:ext uri="{BB962C8B-B14F-4D97-AF65-F5344CB8AC3E}">
        <p14:creationId xmlns:p14="http://schemas.microsoft.com/office/powerpoint/2010/main" val="27418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44" descr="A black and white photo">
            <a:extLst>
              <a:ext uri="{FF2B5EF4-FFF2-40B4-BE49-F238E27FC236}">
                <a16:creationId xmlns:a16="http://schemas.microsoft.com/office/drawing/2014/main" id="{211C86F2-5F00-493F-3710-E5E27CDD9EF0}"/>
              </a:ext>
            </a:extLst>
          </p:cNvPr>
          <p:cNvPicPr/>
          <p:nvPr/>
        </p:nvPicPr>
        <p:blipFill>
          <a:blip r:embed="rId2">
            <a:biLevel thresh="75000"/>
            <a:extLst>
              <a:ext uri="{BEBA8EAE-BF5A-486C-A8C5-ECC9F3942E4B}">
                <a14:imgProps xmlns:a14="http://schemas.microsoft.com/office/drawing/2010/main">
                  <a14:imgLayer r:embed="rId3">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sp>
        <p:nvSpPr>
          <p:cNvPr id="35" name="TextBox 34">
            <a:extLst>
              <a:ext uri="{FF2B5EF4-FFF2-40B4-BE49-F238E27FC236}">
                <a16:creationId xmlns:a16="http://schemas.microsoft.com/office/drawing/2014/main" id="{F8956BB4-A378-4A7B-9CF1-CBC367DC7D03}"/>
              </a:ext>
            </a:extLst>
          </p:cNvPr>
          <p:cNvSpPr txBox="1"/>
          <p:nvPr/>
        </p:nvSpPr>
        <p:spPr>
          <a:xfrm>
            <a:off x="262604" y="1573791"/>
            <a:ext cx="2997447" cy="2554545"/>
          </a:xfrm>
          <a:prstGeom prst="rect">
            <a:avLst/>
          </a:prstGeom>
          <a:noFill/>
        </p:spPr>
        <p:txBody>
          <a:bodyPr wrap="square">
            <a:spAutoFit/>
          </a:bodyPr>
          <a:lstStyle/>
          <a:p>
            <a:r>
              <a:rPr lang="en-US" sz="4000" b="1" i="0" dirty="0">
                <a:solidFill>
                  <a:schemeClr val="bg1"/>
                </a:solidFill>
                <a:effectLst/>
                <a:latin typeface="__GeistSans_3a0388"/>
              </a:rPr>
              <a:t>Optimization of Food Delivery Tasks</a:t>
            </a:r>
            <a:endParaRPr lang="en-US" sz="4000" b="1" dirty="0">
              <a:solidFill>
                <a:schemeClr val="bg1"/>
              </a:solidFill>
            </a:endParaRPr>
          </a:p>
        </p:txBody>
      </p:sp>
      <p:sp>
        <p:nvSpPr>
          <p:cNvPr id="39" name="TextBox 38">
            <a:extLst>
              <a:ext uri="{FF2B5EF4-FFF2-40B4-BE49-F238E27FC236}">
                <a16:creationId xmlns:a16="http://schemas.microsoft.com/office/drawing/2014/main" id="{5CD27190-5D9E-4BA5-AF44-87149F08630C}"/>
              </a:ext>
            </a:extLst>
          </p:cNvPr>
          <p:cNvSpPr txBox="1"/>
          <p:nvPr/>
        </p:nvSpPr>
        <p:spPr>
          <a:xfrm>
            <a:off x="335463" y="4206304"/>
            <a:ext cx="3067396" cy="1200329"/>
          </a:xfrm>
          <a:prstGeom prst="rect">
            <a:avLst/>
          </a:prstGeom>
          <a:noFill/>
        </p:spPr>
        <p:txBody>
          <a:bodyPr wrap="square">
            <a:spAutoFit/>
          </a:bodyPr>
          <a:lstStyle/>
          <a:p>
            <a:r>
              <a:rPr lang="en-US" b="0" i="0" dirty="0">
                <a:solidFill>
                  <a:schemeClr val="bg1"/>
                </a:solidFill>
                <a:effectLst/>
                <a:latin typeface="__GeistSans_3a0388"/>
              </a:rPr>
              <a:t>Making life easier to customers by having a good delivery system and tracking of the order on real time basis</a:t>
            </a:r>
            <a:endParaRPr lang="en-US" dirty="0">
              <a:solidFill>
                <a:schemeClr val="bg1"/>
              </a:solidFill>
            </a:endParaRPr>
          </a:p>
        </p:txBody>
      </p:sp>
      <p:grpSp>
        <p:nvGrpSpPr>
          <p:cNvPr id="38" name="Group 37">
            <a:extLst>
              <a:ext uri="{FF2B5EF4-FFF2-40B4-BE49-F238E27FC236}">
                <a16:creationId xmlns:a16="http://schemas.microsoft.com/office/drawing/2014/main" id="{BC36DCC3-5BC9-EEB3-43C0-3821067C4AD4}"/>
              </a:ext>
            </a:extLst>
          </p:cNvPr>
          <p:cNvGrpSpPr/>
          <p:nvPr/>
        </p:nvGrpSpPr>
        <p:grpSpPr>
          <a:xfrm>
            <a:off x="3322368" y="1665174"/>
            <a:ext cx="3841861" cy="1682178"/>
            <a:chOff x="3322368" y="1665174"/>
            <a:chExt cx="3841861" cy="1682178"/>
          </a:xfrm>
        </p:grpSpPr>
        <p:sp>
          <p:nvSpPr>
            <p:cNvPr id="2" name="Rectangle: Rounded Corners 1">
              <a:extLst>
                <a:ext uri="{FF2B5EF4-FFF2-40B4-BE49-F238E27FC236}">
                  <a16:creationId xmlns:a16="http://schemas.microsoft.com/office/drawing/2014/main" id="{10B8D61E-69D2-1DF7-285D-641FBB3EBC24}"/>
                </a:ext>
              </a:extLst>
            </p:cNvPr>
            <p:cNvSpPr/>
            <p:nvPr/>
          </p:nvSpPr>
          <p:spPr>
            <a:xfrm>
              <a:off x="3322368" y="1665174"/>
              <a:ext cx="3841861" cy="1682178"/>
            </a:xfrm>
            <a:prstGeom prst="roundRect">
              <a:avLst/>
            </a:prstGeom>
            <a:solidFill>
              <a:schemeClr val="tx1">
                <a:alpha val="33000"/>
              </a:schemeClr>
            </a:solidFill>
            <a:ln w="28575">
              <a:solidFill>
                <a:schemeClr val="tx1"/>
              </a:solidFill>
            </a:ln>
            <a:effectLst>
              <a:innerShdw blurRad="63500" dist="50800" dir="13500000">
                <a:prstClr val="black">
                  <a:alpha val="50000"/>
                </a:prstClr>
              </a:inn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TextBox 4">
              <a:extLst>
                <a:ext uri="{FF2B5EF4-FFF2-40B4-BE49-F238E27FC236}">
                  <a16:creationId xmlns:a16="http://schemas.microsoft.com/office/drawing/2014/main" id="{2602B991-464F-4AF0-9FF4-74AC81BC83B2}"/>
                </a:ext>
              </a:extLst>
            </p:cNvPr>
            <p:cNvSpPr txBox="1"/>
            <p:nvPr/>
          </p:nvSpPr>
          <p:spPr>
            <a:xfrm>
              <a:off x="3533228" y="2458012"/>
              <a:ext cx="2779939" cy="369332"/>
            </a:xfrm>
            <a:prstGeom prst="rect">
              <a:avLst/>
            </a:prstGeom>
            <a:noFill/>
          </p:spPr>
          <p:txBody>
            <a:bodyPr wrap="square">
              <a:spAutoFit/>
            </a:bodyPr>
            <a:lstStyle/>
            <a:p>
              <a:r>
                <a:rPr lang="en-US" b="1" i="0" u="sng" dirty="0">
                  <a:solidFill>
                    <a:schemeClr val="bg1"/>
                  </a:solidFill>
                  <a:effectLst/>
                  <a:latin typeface="__GeistSans_3a0388"/>
                </a:rPr>
                <a:t>On time delivery of food</a:t>
              </a:r>
              <a:endParaRPr lang="en-US" b="1" u="sng" dirty="0">
                <a:solidFill>
                  <a:schemeClr val="bg1"/>
                </a:solidFill>
              </a:endParaRPr>
            </a:p>
          </p:txBody>
        </p:sp>
        <p:sp>
          <p:nvSpPr>
            <p:cNvPr id="21" name="TextBox 20">
              <a:extLst>
                <a:ext uri="{FF2B5EF4-FFF2-40B4-BE49-F238E27FC236}">
                  <a16:creationId xmlns:a16="http://schemas.microsoft.com/office/drawing/2014/main" id="{CD3815EA-6CC0-4C47-8942-D03A8746F216}"/>
                </a:ext>
              </a:extLst>
            </p:cNvPr>
            <p:cNvSpPr txBox="1"/>
            <p:nvPr/>
          </p:nvSpPr>
          <p:spPr>
            <a:xfrm>
              <a:off x="3505501" y="2786565"/>
              <a:ext cx="3571179" cy="369332"/>
            </a:xfrm>
            <a:prstGeom prst="rect">
              <a:avLst/>
            </a:prstGeom>
            <a:noFill/>
          </p:spPr>
          <p:txBody>
            <a:bodyPr wrap="square">
              <a:spAutoFit/>
            </a:bodyPr>
            <a:lstStyle/>
            <a:p>
              <a:r>
                <a:rPr lang="en-US" b="0" i="0" dirty="0">
                  <a:solidFill>
                    <a:schemeClr val="bg1"/>
                  </a:solidFill>
                  <a:effectLst/>
                  <a:latin typeface="__GeistSans_3a0388"/>
                </a:rPr>
                <a:t>Makes customers more convenient.</a:t>
              </a:r>
              <a:endParaRPr lang="en-US" dirty="0">
                <a:solidFill>
                  <a:schemeClr val="bg1"/>
                </a:solidFill>
              </a:endParaRPr>
            </a:p>
          </p:txBody>
        </p:sp>
        <p:pic>
          <p:nvPicPr>
            <p:cNvPr id="8" name="Picture 7" descr="A white and black bag with a food icon&#10;&#10;AI-generated content may be incorrect.">
              <a:extLst>
                <a:ext uri="{FF2B5EF4-FFF2-40B4-BE49-F238E27FC236}">
                  <a16:creationId xmlns:a16="http://schemas.microsoft.com/office/drawing/2014/main" id="{9FF9C923-B6F1-7E96-48EC-C9D76B343EA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42424" y1="59740" x2="42424" y2="59740"/>
                          <a14:foregroundMark x1="40909" y1="14286" x2="40909" y2="14286"/>
                        </a14:backgroundRemoval>
                      </a14:imgEffect>
                    </a14:imgLayer>
                  </a14:imgProps>
                </a:ext>
                <a:ext uri="{28A0092B-C50C-407E-A947-70E740481C1C}">
                  <a14:useLocalDpi xmlns:a14="http://schemas.microsoft.com/office/drawing/2010/main" val="0"/>
                </a:ext>
              </a:extLst>
            </a:blip>
            <a:stretch>
              <a:fillRect/>
            </a:stretch>
          </p:blipFill>
          <p:spPr>
            <a:xfrm>
              <a:off x="3646217" y="1724485"/>
              <a:ext cx="628738" cy="733527"/>
            </a:xfrm>
            <a:prstGeom prst="rect">
              <a:avLst/>
            </a:prstGeom>
          </p:spPr>
        </p:pic>
      </p:grpSp>
      <p:sp>
        <p:nvSpPr>
          <p:cNvPr id="9" name="TextBox 8">
            <a:extLst>
              <a:ext uri="{FF2B5EF4-FFF2-40B4-BE49-F238E27FC236}">
                <a16:creationId xmlns:a16="http://schemas.microsoft.com/office/drawing/2014/main" id="{F3AF3DD1-0752-4293-AE4D-19ADAC6E1A79}"/>
              </a:ext>
            </a:extLst>
          </p:cNvPr>
          <p:cNvSpPr txBox="1"/>
          <p:nvPr/>
        </p:nvSpPr>
        <p:spPr>
          <a:xfrm>
            <a:off x="7794252" y="2421674"/>
            <a:ext cx="3826794" cy="369332"/>
          </a:xfrm>
          <a:prstGeom prst="rect">
            <a:avLst/>
          </a:prstGeom>
          <a:noFill/>
        </p:spPr>
        <p:txBody>
          <a:bodyPr wrap="square">
            <a:spAutoFit/>
          </a:bodyPr>
          <a:lstStyle/>
          <a:p>
            <a:r>
              <a:rPr lang="en-US" b="1" i="0" u="sng" dirty="0">
                <a:solidFill>
                  <a:schemeClr val="bg1"/>
                </a:solidFill>
                <a:effectLst/>
                <a:latin typeface="__GeistSans_3a0388"/>
              </a:rPr>
              <a:t>Order tracking in real time</a:t>
            </a:r>
            <a:endParaRPr lang="en-US" b="1" u="sng" dirty="0">
              <a:solidFill>
                <a:schemeClr val="bg1"/>
              </a:solidFill>
            </a:endParaRPr>
          </a:p>
        </p:txBody>
      </p:sp>
      <p:sp>
        <p:nvSpPr>
          <p:cNvPr id="23" name="TextBox 22">
            <a:extLst>
              <a:ext uri="{FF2B5EF4-FFF2-40B4-BE49-F238E27FC236}">
                <a16:creationId xmlns:a16="http://schemas.microsoft.com/office/drawing/2014/main" id="{B966C6E5-45E5-42CB-BF14-BD09099E107D}"/>
              </a:ext>
            </a:extLst>
          </p:cNvPr>
          <p:cNvSpPr txBox="1"/>
          <p:nvPr/>
        </p:nvSpPr>
        <p:spPr>
          <a:xfrm>
            <a:off x="7794252" y="2787116"/>
            <a:ext cx="4002498" cy="369332"/>
          </a:xfrm>
          <a:prstGeom prst="rect">
            <a:avLst/>
          </a:prstGeom>
          <a:noFill/>
        </p:spPr>
        <p:txBody>
          <a:bodyPr wrap="square">
            <a:spAutoFit/>
          </a:bodyPr>
          <a:lstStyle/>
          <a:p>
            <a:pPr algn="l"/>
            <a:r>
              <a:rPr lang="en-US" b="0" i="0" dirty="0">
                <a:solidFill>
                  <a:schemeClr val="bg1"/>
                </a:solidFill>
                <a:effectLst/>
                <a:latin typeface="__GeistSans_3a0388"/>
              </a:rPr>
              <a:t>Makes delivery processes efficient</a:t>
            </a:r>
            <a:r>
              <a:rPr lang="en-US" b="0" i="0" dirty="0">
                <a:solidFill>
                  <a:schemeClr val="bg1"/>
                </a:solidFill>
                <a:effectLst/>
                <a:latin typeface="Inter"/>
              </a:rPr>
              <a:t>.</a:t>
            </a:r>
          </a:p>
        </p:txBody>
      </p:sp>
      <p:pic>
        <p:nvPicPr>
          <p:cNvPr id="11" name="Picture 10" descr="A white logo with boxes on it&#10;&#10;AI-generated content may be incorrect.">
            <a:extLst>
              <a:ext uri="{FF2B5EF4-FFF2-40B4-BE49-F238E27FC236}">
                <a16:creationId xmlns:a16="http://schemas.microsoft.com/office/drawing/2014/main" id="{5CD7F5A2-F4C4-F494-4C39-4767AC892BA0}"/>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foregroundMark x1="33750" y1="76119" x2="33750" y2="76119"/>
                        <a14:foregroundMark x1="52500" y1="64179" x2="52500" y2="64179"/>
                        <a14:foregroundMark x1="65000" y1="59701" x2="65000" y2="59701"/>
                        <a14:foregroundMark x1="26250" y1="58209" x2="26250" y2="58209"/>
                      </a14:backgroundRemoval>
                    </a14:imgEffect>
                  </a14:imgLayer>
                </a14:imgProps>
              </a:ext>
              <a:ext uri="{28A0092B-C50C-407E-A947-70E740481C1C}">
                <a14:useLocalDpi xmlns:a14="http://schemas.microsoft.com/office/drawing/2010/main" val="0"/>
              </a:ext>
            </a:extLst>
          </a:blip>
          <a:stretch>
            <a:fillRect/>
          </a:stretch>
        </p:blipFill>
        <p:spPr>
          <a:xfrm>
            <a:off x="7918885" y="1797557"/>
            <a:ext cx="762106" cy="638264"/>
          </a:xfrm>
          <a:prstGeom prst="rect">
            <a:avLst/>
          </a:prstGeom>
        </p:spPr>
      </p:pic>
      <p:sp>
        <p:nvSpPr>
          <p:cNvPr id="26" name="Rectangle: Rounded Corners 25">
            <a:extLst>
              <a:ext uri="{FF2B5EF4-FFF2-40B4-BE49-F238E27FC236}">
                <a16:creationId xmlns:a16="http://schemas.microsoft.com/office/drawing/2014/main" id="{690E4ADD-6433-4A38-A964-6D119D00C41C}"/>
              </a:ext>
            </a:extLst>
          </p:cNvPr>
          <p:cNvSpPr/>
          <p:nvPr/>
        </p:nvSpPr>
        <p:spPr>
          <a:xfrm>
            <a:off x="3370159" y="3922228"/>
            <a:ext cx="3841861" cy="1682178"/>
          </a:xfrm>
          <a:prstGeom prst="roundRect">
            <a:avLst/>
          </a:prstGeom>
          <a:solidFill>
            <a:schemeClr val="tx1">
              <a:alpha val="32000"/>
            </a:schemeClr>
          </a:solidFill>
          <a:ln w="28575">
            <a:solidFill>
              <a:schemeClr val="tx1"/>
            </a:solidFill>
          </a:ln>
          <a:effectLst>
            <a:innerShdw blurRad="63500" dist="50800" dir="2700000">
              <a:prstClr val="black">
                <a:alpha val="50000"/>
              </a:prstClr>
            </a:inn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TextBox 12">
            <a:extLst>
              <a:ext uri="{FF2B5EF4-FFF2-40B4-BE49-F238E27FC236}">
                <a16:creationId xmlns:a16="http://schemas.microsoft.com/office/drawing/2014/main" id="{5B4B892B-D40C-4F8F-A2C5-70048E5A09D9}"/>
              </a:ext>
            </a:extLst>
          </p:cNvPr>
          <p:cNvSpPr txBox="1"/>
          <p:nvPr/>
        </p:nvSpPr>
        <p:spPr>
          <a:xfrm>
            <a:off x="3360491" y="4810798"/>
            <a:ext cx="3914634" cy="369332"/>
          </a:xfrm>
          <a:prstGeom prst="rect">
            <a:avLst/>
          </a:prstGeom>
          <a:noFill/>
        </p:spPr>
        <p:txBody>
          <a:bodyPr wrap="square">
            <a:spAutoFit/>
          </a:bodyPr>
          <a:lstStyle/>
          <a:p>
            <a:r>
              <a:rPr lang="en-US" b="1" i="0" u="sng" dirty="0">
                <a:solidFill>
                  <a:schemeClr val="bg1"/>
                </a:solidFill>
                <a:effectLst/>
                <a:latin typeface="__GeistSans_3a0388"/>
              </a:rPr>
              <a:t>Efficient administration of the logistics</a:t>
            </a:r>
            <a:endParaRPr lang="en-US" b="1" u="sng" dirty="0">
              <a:solidFill>
                <a:schemeClr val="bg1"/>
              </a:solidFill>
            </a:endParaRPr>
          </a:p>
        </p:txBody>
      </p:sp>
      <p:sp>
        <p:nvSpPr>
          <p:cNvPr id="27" name="TextBox 26">
            <a:extLst>
              <a:ext uri="{FF2B5EF4-FFF2-40B4-BE49-F238E27FC236}">
                <a16:creationId xmlns:a16="http://schemas.microsoft.com/office/drawing/2014/main" id="{7FB65CCE-6CB6-4187-9B35-25F674354271}"/>
              </a:ext>
            </a:extLst>
          </p:cNvPr>
          <p:cNvSpPr txBox="1"/>
          <p:nvPr/>
        </p:nvSpPr>
        <p:spPr>
          <a:xfrm>
            <a:off x="3334992" y="5115269"/>
            <a:ext cx="3989467" cy="369332"/>
          </a:xfrm>
          <a:prstGeom prst="rect">
            <a:avLst/>
          </a:prstGeom>
          <a:noFill/>
        </p:spPr>
        <p:txBody>
          <a:bodyPr wrap="square">
            <a:spAutoFit/>
          </a:bodyPr>
          <a:lstStyle/>
          <a:p>
            <a:r>
              <a:rPr lang="en-US" b="0" i="0" dirty="0">
                <a:solidFill>
                  <a:schemeClr val="bg1"/>
                </a:solidFill>
                <a:effectLst/>
                <a:latin typeface="__GeistSans_3a0388"/>
              </a:rPr>
              <a:t>Facilitates the process of delivery.</a:t>
            </a:r>
            <a:endParaRPr lang="en-US" dirty="0">
              <a:solidFill>
                <a:schemeClr val="bg1"/>
              </a:solidFill>
            </a:endParaRPr>
          </a:p>
        </p:txBody>
      </p:sp>
      <p:pic>
        <p:nvPicPr>
          <p:cNvPr id="14" name="Picture 13" descr="A white symbol with dots and lines&#10;&#10;AI-generated content may be incorrect.">
            <a:extLst>
              <a:ext uri="{FF2B5EF4-FFF2-40B4-BE49-F238E27FC236}">
                <a16:creationId xmlns:a16="http://schemas.microsoft.com/office/drawing/2014/main" id="{30CBA92E-EE2B-05BA-907F-8D3DC213496F}"/>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8475" b="93220" l="10000" r="90000">
                        <a14:foregroundMark x1="61111" y1="27119" x2="61111" y2="27119"/>
                        <a14:foregroundMark x1="28889" y1="30508" x2="28889" y2="30508"/>
                        <a14:foregroundMark x1="38889" y1="89831" x2="38889" y2="89831"/>
                        <a14:foregroundMark x1="68889" y1="93220" x2="68889" y2="93220"/>
                      </a14:backgroundRemoval>
                    </a14:imgEffect>
                  </a14:imgLayer>
                </a14:imgProps>
              </a:ext>
              <a:ext uri="{28A0092B-C50C-407E-A947-70E740481C1C}">
                <a14:useLocalDpi xmlns:a14="http://schemas.microsoft.com/office/drawing/2010/main" val="0"/>
              </a:ext>
            </a:extLst>
          </a:blip>
          <a:stretch>
            <a:fillRect/>
          </a:stretch>
        </p:blipFill>
        <p:spPr>
          <a:xfrm>
            <a:off x="3435558" y="4198666"/>
            <a:ext cx="857370" cy="562053"/>
          </a:xfrm>
          <a:prstGeom prst="rect">
            <a:avLst/>
          </a:prstGeom>
        </p:spPr>
      </p:pic>
      <p:grpSp>
        <p:nvGrpSpPr>
          <p:cNvPr id="4" name="Group 3">
            <a:extLst>
              <a:ext uri="{FF2B5EF4-FFF2-40B4-BE49-F238E27FC236}">
                <a16:creationId xmlns:a16="http://schemas.microsoft.com/office/drawing/2014/main" id="{758BE060-18C9-236B-6C9A-266F8333A5BE}"/>
              </a:ext>
            </a:extLst>
          </p:cNvPr>
          <p:cNvGrpSpPr/>
          <p:nvPr/>
        </p:nvGrpSpPr>
        <p:grpSpPr>
          <a:xfrm>
            <a:off x="7702503" y="3820175"/>
            <a:ext cx="3887898" cy="1682178"/>
            <a:chOff x="4886121" y="3760864"/>
            <a:chExt cx="3887898" cy="1682178"/>
          </a:xfrm>
        </p:grpSpPr>
        <p:sp>
          <p:nvSpPr>
            <p:cNvPr id="28" name="Rectangle: Rounded Corners 27">
              <a:extLst>
                <a:ext uri="{FF2B5EF4-FFF2-40B4-BE49-F238E27FC236}">
                  <a16:creationId xmlns:a16="http://schemas.microsoft.com/office/drawing/2014/main" id="{60E92495-1FCF-4423-98FF-A8C82EF8B5DE}"/>
                </a:ext>
              </a:extLst>
            </p:cNvPr>
            <p:cNvSpPr/>
            <p:nvPr/>
          </p:nvSpPr>
          <p:spPr>
            <a:xfrm>
              <a:off x="4886121" y="3760864"/>
              <a:ext cx="3841861" cy="1682178"/>
            </a:xfrm>
            <a:prstGeom prst="roundRect">
              <a:avLst/>
            </a:prstGeom>
            <a:solidFill>
              <a:schemeClr val="tx1">
                <a:alpha val="32000"/>
              </a:schemeClr>
            </a:solidFill>
            <a:ln w="28575">
              <a:solidFill>
                <a:schemeClr val="tx1"/>
              </a:solidFill>
            </a:ln>
            <a:effectLst>
              <a:innerShdw blurRad="63500" dist="50800" dir="2700000">
                <a:prstClr val="black">
                  <a:alpha val="50000"/>
                </a:prstClr>
              </a:inn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28575">
                  <a:solidFill>
                    <a:schemeClr val="tx1"/>
                  </a:solidFill>
                </a:ln>
                <a:solidFill>
                  <a:schemeClr val="bg1"/>
                </a:solidFill>
              </a:endParaRPr>
            </a:p>
          </p:txBody>
        </p:sp>
        <p:sp>
          <p:nvSpPr>
            <p:cNvPr id="17" name="TextBox 16">
              <a:extLst>
                <a:ext uri="{FF2B5EF4-FFF2-40B4-BE49-F238E27FC236}">
                  <a16:creationId xmlns:a16="http://schemas.microsoft.com/office/drawing/2014/main" id="{33FF8110-0AB4-4B6E-BDB0-89F5A4E53139}"/>
                </a:ext>
              </a:extLst>
            </p:cNvPr>
            <p:cNvSpPr txBox="1"/>
            <p:nvPr/>
          </p:nvSpPr>
          <p:spPr>
            <a:xfrm>
              <a:off x="4945605" y="4332679"/>
              <a:ext cx="3828414" cy="646331"/>
            </a:xfrm>
            <a:prstGeom prst="rect">
              <a:avLst/>
            </a:prstGeom>
            <a:noFill/>
          </p:spPr>
          <p:txBody>
            <a:bodyPr wrap="square">
              <a:spAutoFit/>
            </a:bodyPr>
            <a:lstStyle/>
            <a:p>
              <a:r>
                <a:rPr lang="en-US" b="1" u="sng" dirty="0">
                  <a:solidFill>
                    <a:schemeClr val="bg1"/>
                  </a:solidFill>
                </a:rPr>
                <a:t>Customer satisfaction focus</a:t>
              </a:r>
            </a:p>
            <a:p>
              <a:endParaRPr lang="en-US" b="1" u="sng" dirty="0">
                <a:solidFill>
                  <a:schemeClr val="bg1"/>
                </a:solidFill>
              </a:endParaRPr>
            </a:p>
          </p:txBody>
        </p:sp>
        <p:sp>
          <p:nvSpPr>
            <p:cNvPr id="31" name="TextBox 30">
              <a:extLst>
                <a:ext uri="{FF2B5EF4-FFF2-40B4-BE49-F238E27FC236}">
                  <a16:creationId xmlns:a16="http://schemas.microsoft.com/office/drawing/2014/main" id="{60B7E2FF-9858-4E32-9EC2-3380F99A2525}"/>
                </a:ext>
              </a:extLst>
            </p:cNvPr>
            <p:cNvSpPr txBox="1"/>
            <p:nvPr/>
          </p:nvSpPr>
          <p:spPr>
            <a:xfrm>
              <a:off x="4966973" y="4729500"/>
              <a:ext cx="3588942" cy="646331"/>
            </a:xfrm>
            <a:prstGeom prst="rect">
              <a:avLst/>
            </a:prstGeom>
            <a:noFill/>
          </p:spPr>
          <p:txBody>
            <a:bodyPr wrap="square">
              <a:spAutoFit/>
            </a:bodyPr>
            <a:lstStyle/>
            <a:p>
              <a:r>
                <a:rPr lang="en-US" b="0" i="0" dirty="0">
                  <a:solidFill>
                    <a:schemeClr val="bg1"/>
                  </a:solidFill>
                  <a:effectLst/>
                  <a:latin typeface="__GeistSans_3a0388"/>
                </a:rPr>
                <a:t>Putting the needs of the consumers first.</a:t>
              </a:r>
              <a:endParaRPr lang="en-US" dirty="0">
                <a:solidFill>
                  <a:schemeClr val="bg1"/>
                </a:solidFill>
              </a:endParaRPr>
            </a:p>
          </p:txBody>
        </p:sp>
        <p:pic>
          <p:nvPicPr>
            <p:cNvPr id="16" name="Picture 15">
              <a:extLst>
                <a:ext uri="{FF2B5EF4-FFF2-40B4-BE49-F238E27FC236}">
                  <a16:creationId xmlns:a16="http://schemas.microsoft.com/office/drawing/2014/main" id="{8DA74B8D-7E92-F64E-2A81-1B99DA842289}"/>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4945605" y="3794101"/>
              <a:ext cx="975866" cy="476316"/>
            </a:xfrm>
            <a:prstGeom prst="rect">
              <a:avLst/>
            </a:prstGeom>
          </p:spPr>
        </p:pic>
      </p:grpSp>
      <p:sp>
        <p:nvSpPr>
          <p:cNvPr id="41" name="Rectangle: Rounded Corners 40">
            <a:extLst>
              <a:ext uri="{FF2B5EF4-FFF2-40B4-BE49-F238E27FC236}">
                <a16:creationId xmlns:a16="http://schemas.microsoft.com/office/drawing/2014/main" id="{CE725B9F-4EAD-C4ED-ACE1-B44ADD9888CF}"/>
              </a:ext>
            </a:extLst>
          </p:cNvPr>
          <p:cNvSpPr/>
          <p:nvPr/>
        </p:nvSpPr>
        <p:spPr>
          <a:xfrm>
            <a:off x="7702503" y="1665174"/>
            <a:ext cx="3841861" cy="1682178"/>
          </a:xfrm>
          <a:prstGeom prst="roundRect">
            <a:avLst/>
          </a:prstGeom>
          <a:solidFill>
            <a:schemeClr val="tx1">
              <a:alpha val="33000"/>
            </a:schemeClr>
          </a:solidFill>
          <a:ln w="28575">
            <a:solidFill>
              <a:schemeClr val="tx1"/>
            </a:solidFill>
          </a:ln>
          <a:effectLst>
            <a:innerShdw blurRad="63500" dist="50800" dir="13500000">
              <a:prstClr val="black">
                <a:alpha val="50000"/>
              </a:prstClr>
            </a:inn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Tree>
    <p:extLst>
      <p:ext uri="{BB962C8B-B14F-4D97-AF65-F5344CB8AC3E}">
        <p14:creationId xmlns:p14="http://schemas.microsoft.com/office/powerpoint/2010/main" val="3845306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and white photo">
            <a:extLst>
              <a:ext uri="{FF2B5EF4-FFF2-40B4-BE49-F238E27FC236}">
                <a16:creationId xmlns:a16="http://schemas.microsoft.com/office/drawing/2014/main" id="{2ED1E2C9-A813-DC6F-F974-0DC8D0517E62}"/>
              </a:ext>
            </a:extLst>
          </p:cNvPr>
          <p:cNvPicPr/>
          <p:nvPr/>
        </p:nvPicPr>
        <p:blipFill>
          <a:blip r:embed="rId2">
            <a:biLevel thresh="75000"/>
            <a:extLst>
              <a:ext uri="{BEBA8EAE-BF5A-486C-A8C5-ECC9F3942E4B}">
                <a14:imgProps xmlns:a14="http://schemas.microsoft.com/office/drawing/2010/main">
                  <a14:imgLayer r:embed="rId3">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grpSp>
        <p:nvGrpSpPr>
          <p:cNvPr id="3" name="Group 2">
            <a:extLst>
              <a:ext uri="{FF2B5EF4-FFF2-40B4-BE49-F238E27FC236}">
                <a16:creationId xmlns:a16="http://schemas.microsoft.com/office/drawing/2014/main" id="{D0316CF4-64CF-4D01-A844-AB301784774C}"/>
              </a:ext>
            </a:extLst>
          </p:cNvPr>
          <p:cNvGrpSpPr/>
          <p:nvPr/>
        </p:nvGrpSpPr>
        <p:grpSpPr>
          <a:xfrm>
            <a:off x="295156" y="67835"/>
            <a:ext cx="11896844" cy="1108354"/>
            <a:chOff x="295156" y="67835"/>
            <a:chExt cx="11896844" cy="1108354"/>
          </a:xfrm>
        </p:grpSpPr>
        <p:sp>
          <p:nvSpPr>
            <p:cNvPr id="5" name="TextBox 4">
              <a:extLst>
                <a:ext uri="{FF2B5EF4-FFF2-40B4-BE49-F238E27FC236}">
                  <a16:creationId xmlns:a16="http://schemas.microsoft.com/office/drawing/2014/main" id="{8B1476D8-34B8-43EC-9BDD-DAFEDD52084E}"/>
                </a:ext>
              </a:extLst>
            </p:cNvPr>
            <p:cNvSpPr txBox="1"/>
            <p:nvPr/>
          </p:nvSpPr>
          <p:spPr>
            <a:xfrm>
              <a:off x="295156" y="67835"/>
              <a:ext cx="11896844" cy="707886"/>
            </a:xfrm>
            <a:prstGeom prst="rect">
              <a:avLst/>
            </a:prstGeom>
            <a:noFill/>
          </p:spPr>
          <p:txBody>
            <a:bodyPr wrap="square">
              <a:spAutoFit/>
            </a:bodyPr>
            <a:lstStyle/>
            <a:p>
              <a:r>
                <a:rPr lang="en-US" sz="4000" b="1" i="0" dirty="0">
                  <a:solidFill>
                    <a:schemeClr val="bg1"/>
                  </a:solidFill>
                  <a:effectLst/>
                  <a:latin typeface="+mj-lt"/>
                </a:rPr>
                <a:t>To Enhance Customer Service in Pizza Hut Sri Lanka</a:t>
              </a:r>
              <a:endParaRPr lang="en-US" sz="4000" b="1" dirty="0">
                <a:solidFill>
                  <a:schemeClr val="bg1"/>
                </a:solidFill>
                <a:latin typeface="+mj-lt"/>
              </a:endParaRPr>
            </a:p>
          </p:txBody>
        </p:sp>
        <p:sp>
          <p:nvSpPr>
            <p:cNvPr id="7" name="TextBox 6">
              <a:extLst>
                <a:ext uri="{FF2B5EF4-FFF2-40B4-BE49-F238E27FC236}">
                  <a16:creationId xmlns:a16="http://schemas.microsoft.com/office/drawing/2014/main" id="{14A8684A-7DF9-486E-B08C-1E0B19EE878D}"/>
                </a:ext>
              </a:extLst>
            </p:cNvPr>
            <p:cNvSpPr txBox="1"/>
            <p:nvPr/>
          </p:nvSpPr>
          <p:spPr>
            <a:xfrm>
              <a:off x="436092" y="806857"/>
              <a:ext cx="9441996" cy="369332"/>
            </a:xfrm>
            <a:prstGeom prst="rect">
              <a:avLst/>
            </a:prstGeom>
            <a:noFill/>
          </p:spPr>
          <p:txBody>
            <a:bodyPr wrap="square">
              <a:spAutoFit/>
            </a:bodyPr>
            <a:lstStyle/>
            <a:p>
              <a:r>
                <a:rPr lang="en-US" dirty="0">
                  <a:solidFill>
                    <a:schemeClr val="bg1"/>
                  </a:solidFill>
                </a:rPr>
                <a:t>The improvement of quality services by the ability to access information and be responsive.</a:t>
              </a:r>
            </a:p>
          </p:txBody>
        </p:sp>
      </p:grpSp>
      <p:grpSp>
        <p:nvGrpSpPr>
          <p:cNvPr id="2" name="Group 1">
            <a:extLst>
              <a:ext uri="{FF2B5EF4-FFF2-40B4-BE49-F238E27FC236}">
                <a16:creationId xmlns:a16="http://schemas.microsoft.com/office/drawing/2014/main" id="{1E5DC911-23C5-4271-B657-04A034869D2D}"/>
              </a:ext>
            </a:extLst>
          </p:cNvPr>
          <p:cNvGrpSpPr/>
          <p:nvPr/>
        </p:nvGrpSpPr>
        <p:grpSpPr>
          <a:xfrm>
            <a:off x="244928" y="1343004"/>
            <a:ext cx="11702144" cy="5237509"/>
            <a:chOff x="489856" y="1343004"/>
            <a:chExt cx="11702144" cy="5237509"/>
          </a:xfrm>
        </p:grpSpPr>
        <p:sp>
          <p:nvSpPr>
            <p:cNvPr id="11" name="TextBox 10">
              <a:extLst>
                <a:ext uri="{FF2B5EF4-FFF2-40B4-BE49-F238E27FC236}">
                  <a16:creationId xmlns:a16="http://schemas.microsoft.com/office/drawing/2014/main" id="{72FD6F16-E08B-48B2-8E5E-7AE589009FDE}"/>
                </a:ext>
              </a:extLst>
            </p:cNvPr>
            <p:cNvSpPr txBox="1"/>
            <p:nvPr/>
          </p:nvSpPr>
          <p:spPr>
            <a:xfrm>
              <a:off x="566050" y="1343004"/>
              <a:ext cx="6098720" cy="369332"/>
            </a:xfrm>
            <a:prstGeom prst="rect">
              <a:avLst/>
            </a:prstGeom>
            <a:noFill/>
          </p:spPr>
          <p:txBody>
            <a:bodyPr wrap="square">
              <a:spAutoFit/>
            </a:bodyPr>
            <a:lstStyle/>
            <a:p>
              <a:r>
                <a:rPr lang="en-US" b="1" dirty="0">
                  <a:solidFill>
                    <a:schemeClr val="bg1"/>
                  </a:solidFill>
                </a:rPr>
                <a:t>Handling of Customer Queries</a:t>
              </a:r>
            </a:p>
          </p:txBody>
        </p:sp>
        <p:sp>
          <p:nvSpPr>
            <p:cNvPr id="17" name="TextBox 16">
              <a:extLst>
                <a:ext uri="{FF2B5EF4-FFF2-40B4-BE49-F238E27FC236}">
                  <a16:creationId xmlns:a16="http://schemas.microsoft.com/office/drawing/2014/main" id="{6A228845-5CFD-488B-A938-6F7AA120E77D}"/>
                </a:ext>
              </a:extLst>
            </p:cNvPr>
            <p:cNvSpPr txBox="1"/>
            <p:nvPr/>
          </p:nvSpPr>
          <p:spPr>
            <a:xfrm>
              <a:off x="925961" y="1705481"/>
              <a:ext cx="9752239" cy="369332"/>
            </a:xfrm>
            <a:prstGeom prst="rect">
              <a:avLst/>
            </a:prstGeom>
            <a:noFill/>
          </p:spPr>
          <p:txBody>
            <a:bodyPr wrap="square">
              <a:spAutoFit/>
            </a:bodyPr>
            <a:lstStyle/>
            <a:p>
              <a:r>
                <a:rPr lang="en-US" dirty="0">
                  <a:solidFill>
                    <a:schemeClr val="bg1"/>
                  </a:solidFill>
                </a:rPr>
                <a:t>The unit highly responds to customer queries in order to improve customer satisfaction and loyalty.</a:t>
              </a:r>
            </a:p>
          </p:txBody>
        </p:sp>
        <p:sp>
          <p:nvSpPr>
            <p:cNvPr id="21" name="TextBox 20">
              <a:extLst>
                <a:ext uri="{FF2B5EF4-FFF2-40B4-BE49-F238E27FC236}">
                  <a16:creationId xmlns:a16="http://schemas.microsoft.com/office/drawing/2014/main" id="{6D32E183-7E35-40CA-AEA7-4DEE135A73C7}"/>
                </a:ext>
              </a:extLst>
            </p:cNvPr>
            <p:cNvSpPr txBox="1"/>
            <p:nvPr/>
          </p:nvSpPr>
          <p:spPr>
            <a:xfrm>
              <a:off x="489856" y="2167581"/>
              <a:ext cx="6098720" cy="369332"/>
            </a:xfrm>
            <a:prstGeom prst="rect">
              <a:avLst/>
            </a:prstGeom>
            <a:noFill/>
          </p:spPr>
          <p:txBody>
            <a:bodyPr wrap="square">
              <a:spAutoFit/>
            </a:bodyPr>
            <a:lstStyle/>
            <a:p>
              <a:r>
                <a:rPr lang="en-US" b="1" dirty="0">
                  <a:solidFill>
                    <a:schemeClr val="bg1"/>
                  </a:solidFill>
                </a:rPr>
                <a:t>Management of Feedback</a:t>
              </a:r>
            </a:p>
          </p:txBody>
        </p:sp>
        <p:sp>
          <p:nvSpPr>
            <p:cNvPr id="27" name="TextBox 26">
              <a:extLst>
                <a:ext uri="{FF2B5EF4-FFF2-40B4-BE49-F238E27FC236}">
                  <a16:creationId xmlns:a16="http://schemas.microsoft.com/office/drawing/2014/main" id="{E8EBDB44-7772-4BC9-BB16-879C529A6184}"/>
                </a:ext>
              </a:extLst>
            </p:cNvPr>
            <p:cNvSpPr txBox="1"/>
            <p:nvPr/>
          </p:nvSpPr>
          <p:spPr>
            <a:xfrm>
              <a:off x="985153" y="2533665"/>
              <a:ext cx="10487026" cy="369332"/>
            </a:xfrm>
            <a:prstGeom prst="rect">
              <a:avLst/>
            </a:prstGeom>
            <a:noFill/>
          </p:spPr>
          <p:txBody>
            <a:bodyPr wrap="square">
              <a:spAutoFit/>
            </a:bodyPr>
            <a:lstStyle/>
            <a:p>
              <a:r>
                <a:rPr lang="en-US" dirty="0">
                  <a:solidFill>
                    <a:schemeClr val="bg1"/>
                  </a:solidFill>
                </a:rPr>
                <a:t>Gathering and evaluating customers ideas about how to better the services provided and the total experience.</a:t>
              </a:r>
            </a:p>
          </p:txBody>
        </p:sp>
        <p:sp>
          <p:nvSpPr>
            <p:cNvPr id="31" name="TextBox 30">
              <a:extLst>
                <a:ext uri="{FF2B5EF4-FFF2-40B4-BE49-F238E27FC236}">
                  <a16:creationId xmlns:a16="http://schemas.microsoft.com/office/drawing/2014/main" id="{EA59F46A-D802-42F2-96F8-7AC7FCFC55DF}"/>
                </a:ext>
              </a:extLst>
            </p:cNvPr>
            <p:cNvSpPr txBox="1"/>
            <p:nvPr/>
          </p:nvSpPr>
          <p:spPr>
            <a:xfrm>
              <a:off x="566050" y="3001129"/>
              <a:ext cx="6098720" cy="369332"/>
            </a:xfrm>
            <a:prstGeom prst="rect">
              <a:avLst/>
            </a:prstGeom>
            <a:noFill/>
          </p:spPr>
          <p:txBody>
            <a:bodyPr wrap="square">
              <a:spAutoFit/>
            </a:bodyPr>
            <a:lstStyle/>
            <a:p>
              <a:r>
                <a:rPr lang="en-US" b="1" dirty="0">
                  <a:solidFill>
                    <a:schemeClr val="bg1"/>
                  </a:solidFill>
                </a:rPr>
                <a:t>Access to Order History</a:t>
              </a:r>
            </a:p>
          </p:txBody>
        </p:sp>
        <p:sp>
          <p:nvSpPr>
            <p:cNvPr id="35" name="TextBox 34">
              <a:extLst>
                <a:ext uri="{FF2B5EF4-FFF2-40B4-BE49-F238E27FC236}">
                  <a16:creationId xmlns:a16="http://schemas.microsoft.com/office/drawing/2014/main" id="{05E7AA88-4AC4-483D-91D2-E717CEC353B4}"/>
                </a:ext>
              </a:extLst>
            </p:cNvPr>
            <p:cNvSpPr txBox="1"/>
            <p:nvPr/>
          </p:nvSpPr>
          <p:spPr>
            <a:xfrm>
              <a:off x="985153" y="3273863"/>
              <a:ext cx="11206847" cy="646331"/>
            </a:xfrm>
            <a:prstGeom prst="rect">
              <a:avLst/>
            </a:prstGeom>
            <a:noFill/>
          </p:spPr>
          <p:txBody>
            <a:bodyPr wrap="square">
              <a:spAutoFit/>
            </a:bodyPr>
            <a:lstStyle/>
            <a:p>
              <a:r>
                <a:rPr lang="en-US" dirty="0">
                  <a:solidFill>
                    <a:schemeClr val="bg1"/>
                  </a:solidFill>
                </a:rPr>
                <a:t>When it comes to personal service, quick complaints resolution requires the ability to look into customer order history.</a:t>
              </a:r>
            </a:p>
            <a:p>
              <a:endParaRPr lang="en-US" dirty="0">
                <a:solidFill>
                  <a:schemeClr val="bg1"/>
                </a:solidFill>
              </a:endParaRPr>
            </a:p>
          </p:txBody>
        </p:sp>
        <p:sp>
          <p:nvSpPr>
            <p:cNvPr id="39" name="TextBox 38">
              <a:extLst>
                <a:ext uri="{FF2B5EF4-FFF2-40B4-BE49-F238E27FC236}">
                  <a16:creationId xmlns:a16="http://schemas.microsoft.com/office/drawing/2014/main" id="{153D24A7-5BD4-4369-9B8A-63F697D36524}"/>
                </a:ext>
              </a:extLst>
            </p:cNvPr>
            <p:cNvSpPr txBox="1"/>
            <p:nvPr/>
          </p:nvSpPr>
          <p:spPr>
            <a:xfrm>
              <a:off x="489856" y="3753109"/>
              <a:ext cx="6098720" cy="369332"/>
            </a:xfrm>
            <a:prstGeom prst="rect">
              <a:avLst/>
            </a:prstGeom>
            <a:noFill/>
          </p:spPr>
          <p:txBody>
            <a:bodyPr wrap="square">
              <a:spAutoFit/>
            </a:bodyPr>
            <a:lstStyle/>
            <a:p>
              <a:r>
                <a:rPr lang="en-US" b="1" dirty="0">
                  <a:solidFill>
                    <a:schemeClr val="bg1"/>
                  </a:solidFill>
                </a:rPr>
                <a:t>Resolution of Complaints</a:t>
              </a:r>
            </a:p>
          </p:txBody>
        </p:sp>
        <p:sp>
          <p:nvSpPr>
            <p:cNvPr id="43" name="TextBox 42">
              <a:extLst>
                <a:ext uri="{FF2B5EF4-FFF2-40B4-BE49-F238E27FC236}">
                  <a16:creationId xmlns:a16="http://schemas.microsoft.com/office/drawing/2014/main" id="{F82B37C2-3D28-44AD-BB54-211CAADB0961}"/>
                </a:ext>
              </a:extLst>
            </p:cNvPr>
            <p:cNvSpPr txBox="1"/>
            <p:nvPr/>
          </p:nvSpPr>
          <p:spPr>
            <a:xfrm>
              <a:off x="985153" y="4153577"/>
              <a:ext cx="11206847" cy="646331"/>
            </a:xfrm>
            <a:prstGeom prst="rect">
              <a:avLst/>
            </a:prstGeom>
            <a:noFill/>
          </p:spPr>
          <p:txBody>
            <a:bodyPr wrap="square">
              <a:spAutoFit/>
            </a:bodyPr>
            <a:lstStyle/>
            <a:p>
              <a:r>
                <a:rPr lang="en-US" b="0" i="0" dirty="0">
                  <a:solidFill>
                    <a:schemeClr val="bg1"/>
                  </a:solidFill>
                  <a:effectLst/>
                  <a:latin typeface="__GeistSans_3a0388"/>
                </a:rPr>
                <a:t>Swiftly resolving issues such as customer complaints that will help to regain customer satisfaction and confidence on the service.</a:t>
              </a:r>
              <a:endParaRPr lang="en-US" dirty="0">
                <a:solidFill>
                  <a:schemeClr val="bg1"/>
                </a:solidFill>
              </a:endParaRPr>
            </a:p>
          </p:txBody>
        </p:sp>
        <p:sp>
          <p:nvSpPr>
            <p:cNvPr id="47" name="TextBox 46">
              <a:extLst>
                <a:ext uri="{FF2B5EF4-FFF2-40B4-BE49-F238E27FC236}">
                  <a16:creationId xmlns:a16="http://schemas.microsoft.com/office/drawing/2014/main" id="{DB4203BA-4EAB-47DB-B72C-29E5B9371D36}"/>
                </a:ext>
              </a:extLst>
            </p:cNvPr>
            <p:cNvSpPr txBox="1"/>
            <p:nvPr/>
          </p:nvSpPr>
          <p:spPr>
            <a:xfrm>
              <a:off x="566050" y="4887148"/>
              <a:ext cx="6098720" cy="369332"/>
            </a:xfrm>
            <a:prstGeom prst="rect">
              <a:avLst/>
            </a:prstGeom>
            <a:noFill/>
          </p:spPr>
          <p:txBody>
            <a:bodyPr wrap="square">
              <a:spAutoFit/>
            </a:bodyPr>
            <a:lstStyle/>
            <a:p>
              <a:r>
                <a:rPr lang="en-US" b="1" dirty="0">
                  <a:solidFill>
                    <a:schemeClr val="bg1"/>
                  </a:solidFill>
                </a:rPr>
                <a:t>Improvement of Quality</a:t>
              </a:r>
            </a:p>
          </p:txBody>
        </p:sp>
        <p:sp>
          <p:nvSpPr>
            <p:cNvPr id="51" name="TextBox 50">
              <a:extLst>
                <a:ext uri="{FF2B5EF4-FFF2-40B4-BE49-F238E27FC236}">
                  <a16:creationId xmlns:a16="http://schemas.microsoft.com/office/drawing/2014/main" id="{3B607AA1-6B34-4D64-A8A1-A40E39095A81}"/>
                </a:ext>
              </a:extLst>
            </p:cNvPr>
            <p:cNvSpPr txBox="1"/>
            <p:nvPr/>
          </p:nvSpPr>
          <p:spPr>
            <a:xfrm>
              <a:off x="1066171" y="5211527"/>
              <a:ext cx="10896604" cy="369332"/>
            </a:xfrm>
            <a:prstGeom prst="rect">
              <a:avLst/>
            </a:prstGeom>
            <a:noFill/>
          </p:spPr>
          <p:txBody>
            <a:bodyPr wrap="square">
              <a:spAutoFit/>
            </a:bodyPr>
            <a:lstStyle/>
            <a:p>
              <a:r>
                <a:rPr lang="en-US" b="0" i="0" dirty="0">
                  <a:solidFill>
                    <a:schemeClr val="bg1"/>
                  </a:solidFill>
                  <a:effectLst/>
                  <a:latin typeface="__GeistSans_3a0388"/>
                </a:rPr>
                <a:t>Using the comments given by customers and order information to constantly increase the service level at Pizza Hut.</a:t>
              </a:r>
              <a:endParaRPr lang="en-US" dirty="0">
                <a:solidFill>
                  <a:schemeClr val="bg1"/>
                </a:solidFill>
              </a:endParaRPr>
            </a:p>
          </p:txBody>
        </p:sp>
        <p:sp>
          <p:nvSpPr>
            <p:cNvPr id="57" name="TextBox 56">
              <a:extLst>
                <a:ext uri="{FF2B5EF4-FFF2-40B4-BE49-F238E27FC236}">
                  <a16:creationId xmlns:a16="http://schemas.microsoft.com/office/drawing/2014/main" id="{EDDECF41-2D14-4875-83BD-386434CAF38E}"/>
                </a:ext>
              </a:extLst>
            </p:cNvPr>
            <p:cNvSpPr txBox="1"/>
            <p:nvPr/>
          </p:nvSpPr>
          <p:spPr>
            <a:xfrm>
              <a:off x="681020" y="5711354"/>
              <a:ext cx="6098720" cy="369332"/>
            </a:xfrm>
            <a:prstGeom prst="rect">
              <a:avLst/>
            </a:prstGeom>
            <a:noFill/>
          </p:spPr>
          <p:txBody>
            <a:bodyPr wrap="square">
              <a:spAutoFit/>
            </a:bodyPr>
            <a:lstStyle/>
            <a:p>
              <a:r>
                <a:rPr lang="en-US" b="1" dirty="0">
                  <a:solidFill>
                    <a:schemeClr val="bg1"/>
                  </a:solidFill>
                </a:rPr>
                <a:t>Building Loyalty</a:t>
              </a:r>
            </a:p>
          </p:txBody>
        </p:sp>
        <p:sp>
          <p:nvSpPr>
            <p:cNvPr id="61" name="TextBox 60">
              <a:extLst>
                <a:ext uri="{FF2B5EF4-FFF2-40B4-BE49-F238E27FC236}">
                  <a16:creationId xmlns:a16="http://schemas.microsoft.com/office/drawing/2014/main" id="{54A529FB-4E83-43B3-A9DC-AD002C51C859}"/>
                </a:ext>
              </a:extLst>
            </p:cNvPr>
            <p:cNvSpPr txBox="1"/>
            <p:nvPr/>
          </p:nvSpPr>
          <p:spPr>
            <a:xfrm>
              <a:off x="1066171" y="6211181"/>
              <a:ext cx="9752239" cy="369332"/>
            </a:xfrm>
            <a:prstGeom prst="rect">
              <a:avLst/>
            </a:prstGeom>
            <a:noFill/>
          </p:spPr>
          <p:txBody>
            <a:bodyPr wrap="square">
              <a:spAutoFit/>
            </a:bodyPr>
            <a:lstStyle/>
            <a:p>
              <a:r>
                <a:rPr lang="en-US" b="0" i="0" dirty="0">
                  <a:solidFill>
                    <a:schemeClr val="bg1"/>
                  </a:solidFill>
                  <a:effectLst/>
                  <a:latin typeface="__GeistSans_3a0388"/>
                </a:rPr>
                <a:t>Using customer-based strategies to enable customer loyalty and repeat business.</a:t>
              </a:r>
              <a:endParaRPr lang="en-US" dirty="0">
                <a:solidFill>
                  <a:schemeClr val="bg1"/>
                </a:solidFill>
              </a:endParaRPr>
            </a:p>
          </p:txBody>
        </p:sp>
      </p:grpSp>
    </p:spTree>
    <p:extLst>
      <p:ext uri="{BB962C8B-B14F-4D97-AF65-F5344CB8AC3E}">
        <p14:creationId xmlns:p14="http://schemas.microsoft.com/office/powerpoint/2010/main" val="1349451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 and white photo">
            <a:extLst>
              <a:ext uri="{FF2B5EF4-FFF2-40B4-BE49-F238E27FC236}">
                <a16:creationId xmlns:a16="http://schemas.microsoft.com/office/drawing/2014/main" id="{EE691431-0092-5AAD-9F25-5907E8000FCA}"/>
              </a:ext>
            </a:extLst>
          </p:cNvPr>
          <p:cNvPicPr/>
          <p:nvPr/>
        </p:nvPicPr>
        <p:blipFill>
          <a:blip r:embed="rId2">
            <a:biLevel thresh="75000"/>
            <a:extLst>
              <a:ext uri="{BEBA8EAE-BF5A-486C-A8C5-ECC9F3942E4B}">
                <a14:imgProps xmlns:a14="http://schemas.microsoft.com/office/drawing/2010/main">
                  <a14:imgLayer r:embed="rId3">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grpSp>
        <p:nvGrpSpPr>
          <p:cNvPr id="33" name="Group 32">
            <a:extLst>
              <a:ext uri="{FF2B5EF4-FFF2-40B4-BE49-F238E27FC236}">
                <a16:creationId xmlns:a16="http://schemas.microsoft.com/office/drawing/2014/main" id="{5C0307C1-8A5A-4AB7-A9F4-7900953FCF06}"/>
              </a:ext>
            </a:extLst>
          </p:cNvPr>
          <p:cNvGrpSpPr/>
          <p:nvPr/>
        </p:nvGrpSpPr>
        <p:grpSpPr>
          <a:xfrm>
            <a:off x="354992" y="-16588"/>
            <a:ext cx="12580709" cy="970600"/>
            <a:chOff x="354992" y="-16588"/>
            <a:chExt cx="12580709" cy="970600"/>
          </a:xfrm>
        </p:grpSpPr>
        <p:sp>
          <p:nvSpPr>
            <p:cNvPr id="5" name="TextBox 4">
              <a:extLst>
                <a:ext uri="{FF2B5EF4-FFF2-40B4-BE49-F238E27FC236}">
                  <a16:creationId xmlns:a16="http://schemas.microsoft.com/office/drawing/2014/main" id="{51BED1D9-5564-4236-B649-CC97A7ECD18F}"/>
                </a:ext>
              </a:extLst>
            </p:cNvPr>
            <p:cNvSpPr txBox="1"/>
            <p:nvPr/>
          </p:nvSpPr>
          <p:spPr>
            <a:xfrm>
              <a:off x="453117" y="-16588"/>
              <a:ext cx="12482584" cy="646331"/>
            </a:xfrm>
            <a:prstGeom prst="rect">
              <a:avLst/>
            </a:prstGeom>
            <a:noFill/>
          </p:spPr>
          <p:txBody>
            <a:bodyPr wrap="square">
              <a:spAutoFit/>
            </a:bodyPr>
            <a:lstStyle/>
            <a:p>
              <a:r>
                <a:rPr lang="en-US" sz="3600" b="1" i="0" dirty="0">
                  <a:solidFill>
                    <a:schemeClr val="bg1"/>
                  </a:solidFill>
                  <a:effectLst/>
                  <a:latin typeface="+mj-lt"/>
                </a:rPr>
                <a:t>Inventory Management optimization in Pizza Hut Sri Lanka</a:t>
              </a:r>
              <a:endParaRPr lang="en-US" sz="3600" b="1" dirty="0">
                <a:solidFill>
                  <a:schemeClr val="bg1"/>
                </a:solidFill>
                <a:latin typeface="+mj-lt"/>
              </a:endParaRPr>
            </a:p>
          </p:txBody>
        </p:sp>
        <p:sp>
          <p:nvSpPr>
            <p:cNvPr id="7" name="TextBox 6">
              <a:extLst>
                <a:ext uri="{FF2B5EF4-FFF2-40B4-BE49-F238E27FC236}">
                  <a16:creationId xmlns:a16="http://schemas.microsoft.com/office/drawing/2014/main" id="{0E4F0CF5-4C69-4161-A2A8-E289F2030119}"/>
                </a:ext>
              </a:extLst>
            </p:cNvPr>
            <p:cNvSpPr txBox="1"/>
            <p:nvPr/>
          </p:nvSpPr>
          <p:spPr>
            <a:xfrm>
              <a:off x="354992" y="584680"/>
              <a:ext cx="11074853" cy="369332"/>
            </a:xfrm>
            <a:prstGeom prst="rect">
              <a:avLst/>
            </a:prstGeom>
            <a:noFill/>
          </p:spPr>
          <p:txBody>
            <a:bodyPr wrap="square">
              <a:spAutoFit/>
            </a:bodyPr>
            <a:lstStyle/>
            <a:p>
              <a:r>
                <a:rPr lang="en-US" b="0" i="0" dirty="0">
                  <a:solidFill>
                    <a:schemeClr val="bg1"/>
                  </a:solidFill>
                  <a:effectLst/>
                  <a:latin typeface="__GeistSans_3a0388"/>
                </a:rPr>
                <a:t>Learning how inventory management is necessary to increase the efficiency of food supply and resource allocation.</a:t>
              </a:r>
              <a:endParaRPr lang="en-US" dirty="0">
                <a:solidFill>
                  <a:schemeClr val="bg1"/>
                </a:solidFill>
              </a:endParaRPr>
            </a:p>
          </p:txBody>
        </p:sp>
      </p:grpSp>
      <p:grpSp>
        <p:nvGrpSpPr>
          <p:cNvPr id="32" name="Group 31">
            <a:extLst>
              <a:ext uri="{FF2B5EF4-FFF2-40B4-BE49-F238E27FC236}">
                <a16:creationId xmlns:a16="http://schemas.microsoft.com/office/drawing/2014/main" id="{BC7AEE79-78F1-4F88-8EC3-ED339AFB63C9}"/>
              </a:ext>
            </a:extLst>
          </p:cNvPr>
          <p:cNvGrpSpPr/>
          <p:nvPr/>
        </p:nvGrpSpPr>
        <p:grpSpPr>
          <a:xfrm>
            <a:off x="171151" y="1060640"/>
            <a:ext cx="11821849" cy="5611432"/>
            <a:chOff x="171151" y="1060640"/>
            <a:chExt cx="11821849" cy="5611432"/>
          </a:xfrm>
        </p:grpSpPr>
        <p:sp>
          <p:nvSpPr>
            <p:cNvPr id="30" name="Flowchart: Alternate Process 29">
              <a:extLst>
                <a:ext uri="{FF2B5EF4-FFF2-40B4-BE49-F238E27FC236}">
                  <a16:creationId xmlns:a16="http://schemas.microsoft.com/office/drawing/2014/main" id="{4C4DF943-0404-45A2-A2D4-4CE40979D506}"/>
                </a:ext>
              </a:extLst>
            </p:cNvPr>
            <p:cNvSpPr/>
            <p:nvPr/>
          </p:nvSpPr>
          <p:spPr>
            <a:xfrm>
              <a:off x="508383" y="5934739"/>
              <a:ext cx="11144783" cy="737333"/>
            </a:xfrm>
            <a:prstGeom prst="flowChartAlternateProcess">
              <a:avLst/>
            </a:prstGeom>
            <a:solidFill>
              <a:schemeClr val="tx1">
                <a:alpha val="15000"/>
              </a:schemeClr>
            </a:solidFill>
            <a:ln w="28575">
              <a:solidFill>
                <a:schemeClr val="tx1"/>
              </a:solid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lowchart: Alternate Process 28">
              <a:extLst>
                <a:ext uri="{FF2B5EF4-FFF2-40B4-BE49-F238E27FC236}">
                  <a16:creationId xmlns:a16="http://schemas.microsoft.com/office/drawing/2014/main" id="{5AF9D01B-26FE-4013-959C-37BE755F59A9}"/>
                </a:ext>
              </a:extLst>
            </p:cNvPr>
            <p:cNvSpPr/>
            <p:nvPr/>
          </p:nvSpPr>
          <p:spPr>
            <a:xfrm>
              <a:off x="508384" y="4882881"/>
              <a:ext cx="11144783" cy="719927"/>
            </a:xfrm>
            <a:prstGeom prst="flowChartAlternateProcess">
              <a:avLst/>
            </a:prstGeom>
            <a:solidFill>
              <a:schemeClr val="tx1">
                <a:alpha val="15000"/>
              </a:schemeClr>
            </a:solidFill>
            <a:ln w="28575">
              <a:solidFill>
                <a:schemeClr val="tx1"/>
              </a:solid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lowchart: Alternate Process 27">
              <a:extLst>
                <a:ext uri="{FF2B5EF4-FFF2-40B4-BE49-F238E27FC236}">
                  <a16:creationId xmlns:a16="http://schemas.microsoft.com/office/drawing/2014/main" id="{02B7565F-DEBD-482E-AB7C-22EA0AFE2BF0}"/>
                </a:ext>
              </a:extLst>
            </p:cNvPr>
            <p:cNvSpPr/>
            <p:nvPr/>
          </p:nvSpPr>
          <p:spPr>
            <a:xfrm>
              <a:off x="550690" y="3695478"/>
              <a:ext cx="11175519" cy="886358"/>
            </a:xfrm>
            <a:prstGeom prst="flowChartAlternateProcess">
              <a:avLst/>
            </a:prstGeom>
            <a:solidFill>
              <a:schemeClr val="tx1">
                <a:alpha val="15000"/>
              </a:schemeClr>
            </a:solidFill>
            <a:ln w="28575">
              <a:solidFill>
                <a:schemeClr val="tx1"/>
              </a:solid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lowchart: Alternate Process 15">
              <a:extLst>
                <a:ext uri="{FF2B5EF4-FFF2-40B4-BE49-F238E27FC236}">
                  <a16:creationId xmlns:a16="http://schemas.microsoft.com/office/drawing/2014/main" id="{DC9DC31A-A001-4BCF-B605-4C2376E8CD6F}"/>
                </a:ext>
              </a:extLst>
            </p:cNvPr>
            <p:cNvSpPr/>
            <p:nvPr/>
          </p:nvSpPr>
          <p:spPr>
            <a:xfrm>
              <a:off x="550693" y="2632103"/>
              <a:ext cx="11175516" cy="761736"/>
            </a:xfrm>
            <a:prstGeom prst="flowChartAlternateProcess">
              <a:avLst/>
            </a:prstGeom>
            <a:solidFill>
              <a:schemeClr val="tx1">
                <a:alpha val="15000"/>
              </a:schemeClr>
            </a:solidFill>
            <a:ln w="28575">
              <a:solidFill>
                <a:schemeClr val="tx1"/>
              </a:solid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358BBCE2-377B-4318-8575-B1610D25EBA1}"/>
                </a:ext>
              </a:extLst>
            </p:cNvPr>
            <p:cNvSpPr txBox="1"/>
            <p:nvPr/>
          </p:nvSpPr>
          <p:spPr>
            <a:xfrm>
              <a:off x="453117" y="1060640"/>
              <a:ext cx="6098720" cy="646331"/>
            </a:xfrm>
            <a:prstGeom prst="rect">
              <a:avLst/>
            </a:prstGeom>
            <a:noFill/>
          </p:spPr>
          <p:txBody>
            <a:bodyPr wrap="square">
              <a:spAutoFit/>
            </a:bodyPr>
            <a:lstStyle/>
            <a:p>
              <a:r>
                <a:rPr lang="en-US" b="1" dirty="0">
                  <a:solidFill>
                    <a:schemeClr val="bg1"/>
                  </a:solidFill>
                </a:rPr>
                <a:t>Management of the Food Supply</a:t>
              </a:r>
            </a:p>
            <a:p>
              <a:endParaRPr lang="en-US" b="1" dirty="0">
                <a:solidFill>
                  <a:schemeClr val="bg1"/>
                </a:solidFill>
              </a:endParaRPr>
            </a:p>
          </p:txBody>
        </p:sp>
        <p:sp>
          <p:nvSpPr>
            <p:cNvPr id="19" name="TextBox 18">
              <a:extLst>
                <a:ext uri="{FF2B5EF4-FFF2-40B4-BE49-F238E27FC236}">
                  <a16:creationId xmlns:a16="http://schemas.microsoft.com/office/drawing/2014/main" id="{61A01A1F-D7FE-42C0-B06A-FC5434682818}"/>
                </a:ext>
              </a:extLst>
            </p:cNvPr>
            <p:cNvSpPr txBox="1"/>
            <p:nvPr/>
          </p:nvSpPr>
          <p:spPr>
            <a:xfrm>
              <a:off x="551240" y="2701263"/>
              <a:ext cx="11175515" cy="584775"/>
            </a:xfrm>
            <a:prstGeom prst="rect">
              <a:avLst/>
            </a:prstGeom>
            <a:noFill/>
          </p:spPr>
          <p:txBody>
            <a:bodyPr wrap="square">
              <a:spAutoFit/>
            </a:bodyPr>
            <a:lstStyle/>
            <a:p>
              <a:r>
                <a:rPr lang="en-US" sz="1600" b="0" i="0" dirty="0">
                  <a:solidFill>
                    <a:schemeClr val="bg1"/>
                  </a:solidFill>
                  <a:effectLst/>
                  <a:latin typeface="__GeistSans_3a0388"/>
                </a:rPr>
                <a:t>The department contributes very nice to the efficiency of operations by offering good inventory management services. This will entail ordering and tracking of supplies promptly to eliminate inconveniences in the service delivery.</a:t>
              </a:r>
              <a:endParaRPr lang="en-US" sz="1600" dirty="0">
                <a:solidFill>
                  <a:schemeClr val="bg1"/>
                </a:solidFill>
              </a:endParaRPr>
            </a:p>
          </p:txBody>
        </p:sp>
        <p:sp>
          <p:nvSpPr>
            <p:cNvPr id="23" name="TextBox 22">
              <a:extLst>
                <a:ext uri="{FF2B5EF4-FFF2-40B4-BE49-F238E27FC236}">
                  <a16:creationId xmlns:a16="http://schemas.microsoft.com/office/drawing/2014/main" id="{2A654F31-CAD1-4B1C-9087-4AAF43B140EC}"/>
                </a:ext>
              </a:extLst>
            </p:cNvPr>
            <p:cNvSpPr txBox="1"/>
            <p:nvPr/>
          </p:nvSpPr>
          <p:spPr>
            <a:xfrm>
              <a:off x="410259" y="2307225"/>
              <a:ext cx="6098720" cy="369332"/>
            </a:xfrm>
            <a:prstGeom prst="rect">
              <a:avLst/>
            </a:prstGeom>
            <a:noFill/>
          </p:spPr>
          <p:txBody>
            <a:bodyPr wrap="square">
              <a:spAutoFit/>
            </a:bodyPr>
            <a:lstStyle/>
            <a:p>
              <a:r>
                <a:rPr lang="en-US" b="1" dirty="0">
                  <a:solidFill>
                    <a:schemeClr val="bg1"/>
                  </a:solidFill>
                </a:rPr>
                <a:t>Efficiency in Operations</a:t>
              </a:r>
            </a:p>
          </p:txBody>
        </p:sp>
        <p:sp>
          <p:nvSpPr>
            <p:cNvPr id="27" name="TextBox 26">
              <a:extLst>
                <a:ext uri="{FF2B5EF4-FFF2-40B4-BE49-F238E27FC236}">
                  <a16:creationId xmlns:a16="http://schemas.microsoft.com/office/drawing/2014/main" id="{97BA7C12-FC60-4D11-9D3A-4696D417EFF4}"/>
                </a:ext>
              </a:extLst>
            </p:cNvPr>
            <p:cNvSpPr txBox="1"/>
            <p:nvPr/>
          </p:nvSpPr>
          <p:spPr>
            <a:xfrm>
              <a:off x="410259" y="3337823"/>
              <a:ext cx="6098720" cy="369332"/>
            </a:xfrm>
            <a:prstGeom prst="rect">
              <a:avLst/>
            </a:prstGeom>
            <a:noFill/>
          </p:spPr>
          <p:txBody>
            <a:bodyPr wrap="square">
              <a:spAutoFit/>
            </a:bodyPr>
            <a:lstStyle/>
            <a:p>
              <a:r>
                <a:rPr lang="en-US" b="1" i="0" dirty="0">
                  <a:solidFill>
                    <a:schemeClr val="bg1"/>
                  </a:solidFill>
                  <a:effectLst/>
                  <a:latin typeface="__GeistSans_3a0388"/>
                </a:rPr>
                <a:t>Needs of information Supplier Information</a:t>
              </a:r>
              <a:endParaRPr lang="en-US" b="1" dirty="0">
                <a:solidFill>
                  <a:schemeClr val="bg1"/>
                </a:solidFill>
              </a:endParaRPr>
            </a:p>
          </p:txBody>
        </p:sp>
        <p:sp>
          <p:nvSpPr>
            <p:cNvPr id="31" name="TextBox 30">
              <a:extLst>
                <a:ext uri="{FF2B5EF4-FFF2-40B4-BE49-F238E27FC236}">
                  <a16:creationId xmlns:a16="http://schemas.microsoft.com/office/drawing/2014/main" id="{255212CD-A7BE-405C-B8C4-C6BF1D13E3F5}"/>
                </a:ext>
              </a:extLst>
            </p:cNvPr>
            <p:cNvSpPr txBox="1"/>
            <p:nvPr/>
          </p:nvSpPr>
          <p:spPr>
            <a:xfrm>
              <a:off x="564358" y="3844973"/>
              <a:ext cx="11428642" cy="584775"/>
            </a:xfrm>
            <a:prstGeom prst="rect">
              <a:avLst/>
            </a:prstGeom>
            <a:noFill/>
          </p:spPr>
          <p:txBody>
            <a:bodyPr wrap="square">
              <a:spAutoFit/>
            </a:bodyPr>
            <a:lstStyle/>
            <a:p>
              <a:r>
                <a:rPr lang="en-US" sz="1600" b="0" i="0" dirty="0">
                  <a:solidFill>
                    <a:schemeClr val="bg1"/>
                  </a:solidFill>
                  <a:effectLst/>
                  <a:latin typeface="__GeistSans_3a0388"/>
                </a:rPr>
                <a:t>The department will need correct information about suppliers so as to make the right decisions in regards to purchase. This will accommodate the information on the delivery schedules, prices, and quality of supplies in order to have dependable operations.</a:t>
              </a:r>
              <a:endParaRPr lang="en-US" sz="1600" dirty="0">
                <a:solidFill>
                  <a:schemeClr val="bg1"/>
                </a:solidFill>
              </a:endParaRPr>
            </a:p>
          </p:txBody>
        </p:sp>
        <p:sp>
          <p:nvSpPr>
            <p:cNvPr id="35" name="TextBox 34">
              <a:extLst>
                <a:ext uri="{FF2B5EF4-FFF2-40B4-BE49-F238E27FC236}">
                  <a16:creationId xmlns:a16="http://schemas.microsoft.com/office/drawing/2014/main" id="{2B2FC02A-AB38-4D3A-AD17-CF03DEF1D805}"/>
                </a:ext>
              </a:extLst>
            </p:cNvPr>
            <p:cNvSpPr txBox="1"/>
            <p:nvPr/>
          </p:nvSpPr>
          <p:spPr>
            <a:xfrm>
              <a:off x="495586" y="4541596"/>
              <a:ext cx="6098720" cy="369332"/>
            </a:xfrm>
            <a:prstGeom prst="rect">
              <a:avLst/>
            </a:prstGeom>
            <a:noFill/>
          </p:spPr>
          <p:txBody>
            <a:bodyPr wrap="square">
              <a:spAutoFit/>
            </a:bodyPr>
            <a:lstStyle/>
            <a:p>
              <a:r>
                <a:rPr lang="en-US" b="1" dirty="0">
                  <a:solidFill>
                    <a:schemeClr val="bg1"/>
                  </a:solidFill>
                </a:rPr>
                <a:t>Preventing Shortages</a:t>
              </a:r>
            </a:p>
          </p:txBody>
        </p:sp>
        <p:sp>
          <p:nvSpPr>
            <p:cNvPr id="39" name="TextBox 38">
              <a:extLst>
                <a:ext uri="{FF2B5EF4-FFF2-40B4-BE49-F238E27FC236}">
                  <a16:creationId xmlns:a16="http://schemas.microsoft.com/office/drawing/2014/main" id="{74718907-A69D-4DF0-9FAD-972C4656FA89}"/>
                </a:ext>
              </a:extLst>
            </p:cNvPr>
            <p:cNvSpPr txBox="1"/>
            <p:nvPr/>
          </p:nvSpPr>
          <p:spPr>
            <a:xfrm>
              <a:off x="506648" y="4990930"/>
              <a:ext cx="11091252" cy="584775"/>
            </a:xfrm>
            <a:prstGeom prst="rect">
              <a:avLst/>
            </a:prstGeom>
            <a:noFill/>
          </p:spPr>
          <p:txBody>
            <a:bodyPr wrap="square">
              <a:spAutoFit/>
            </a:bodyPr>
            <a:lstStyle/>
            <a:p>
              <a:r>
                <a:rPr lang="en-US" sz="1600" b="0" i="0" dirty="0">
                  <a:solidFill>
                    <a:schemeClr val="bg1"/>
                  </a:solidFill>
                  <a:effectLst/>
                  <a:latin typeface="__GeistSans_3a0388"/>
                </a:rPr>
                <a:t>The department should record the inventory levels constantly to prevent shortages. Such a proactive strategy can assist in resource management and the elimination of obstacles to the provision of food in Pizza Hut.</a:t>
              </a:r>
              <a:endParaRPr lang="en-US" sz="1600" dirty="0">
                <a:solidFill>
                  <a:schemeClr val="bg1"/>
                </a:solidFill>
              </a:endParaRPr>
            </a:p>
          </p:txBody>
        </p:sp>
        <p:sp>
          <p:nvSpPr>
            <p:cNvPr id="43" name="TextBox 42">
              <a:extLst>
                <a:ext uri="{FF2B5EF4-FFF2-40B4-BE49-F238E27FC236}">
                  <a16:creationId xmlns:a16="http://schemas.microsoft.com/office/drawing/2014/main" id="{4BA89CAE-BAD5-486D-8A9F-133909D60297}"/>
                </a:ext>
              </a:extLst>
            </p:cNvPr>
            <p:cNvSpPr txBox="1"/>
            <p:nvPr/>
          </p:nvSpPr>
          <p:spPr>
            <a:xfrm>
              <a:off x="464646" y="5606834"/>
              <a:ext cx="3115981" cy="369332"/>
            </a:xfrm>
            <a:prstGeom prst="rect">
              <a:avLst/>
            </a:prstGeom>
            <a:noFill/>
          </p:spPr>
          <p:txBody>
            <a:bodyPr wrap="square">
              <a:spAutoFit/>
            </a:bodyPr>
            <a:lstStyle/>
            <a:p>
              <a:r>
                <a:rPr lang="en-US" b="1" dirty="0">
                  <a:solidFill>
                    <a:schemeClr val="bg1"/>
                  </a:solidFill>
                </a:rPr>
                <a:t>Management of Resources</a:t>
              </a:r>
            </a:p>
          </p:txBody>
        </p:sp>
        <p:sp>
          <p:nvSpPr>
            <p:cNvPr id="47" name="TextBox 46">
              <a:extLst>
                <a:ext uri="{FF2B5EF4-FFF2-40B4-BE49-F238E27FC236}">
                  <a16:creationId xmlns:a16="http://schemas.microsoft.com/office/drawing/2014/main" id="{CF54C2FE-E02E-4DF4-9085-ADAA0ABE1041}"/>
                </a:ext>
              </a:extLst>
            </p:cNvPr>
            <p:cNvSpPr txBox="1"/>
            <p:nvPr/>
          </p:nvSpPr>
          <p:spPr>
            <a:xfrm>
              <a:off x="483065" y="6050159"/>
              <a:ext cx="11114835" cy="584775"/>
            </a:xfrm>
            <a:prstGeom prst="rect">
              <a:avLst/>
            </a:prstGeom>
            <a:noFill/>
          </p:spPr>
          <p:txBody>
            <a:bodyPr wrap="square">
              <a:spAutoFit/>
            </a:bodyPr>
            <a:lstStyle/>
            <a:p>
              <a:r>
                <a:rPr lang="en-US" sz="1600" b="0" i="0" dirty="0">
                  <a:solidFill>
                    <a:schemeClr val="bg1"/>
                  </a:solidFill>
                  <a:effectLst/>
                  <a:latin typeface="__GeistSans_3a0388"/>
                </a:rPr>
                <a:t>Appropriate management of resources by the department would mean that materials needed in operations are in place and wastage is reduced. This is important in upholding quality of services offered to the customers.</a:t>
              </a:r>
              <a:endParaRPr lang="en-US" sz="1600" dirty="0">
                <a:solidFill>
                  <a:schemeClr val="bg1"/>
                </a:solidFill>
              </a:endParaRPr>
            </a:p>
          </p:txBody>
        </p:sp>
        <p:sp>
          <p:nvSpPr>
            <p:cNvPr id="3" name="Rectangle: Rounded Corners 2">
              <a:extLst>
                <a:ext uri="{FF2B5EF4-FFF2-40B4-BE49-F238E27FC236}">
                  <a16:creationId xmlns:a16="http://schemas.microsoft.com/office/drawing/2014/main" id="{6612C597-F04C-596A-7118-25157442ED26}"/>
                </a:ext>
              </a:extLst>
            </p:cNvPr>
            <p:cNvSpPr/>
            <p:nvPr/>
          </p:nvSpPr>
          <p:spPr>
            <a:xfrm>
              <a:off x="171151" y="1060641"/>
              <a:ext cx="281966" cy="308068"/>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8" name="Rectangle: Rounded Corners 7">
              <a:extLst>
                <a:ext uri="{FF2B5EF4-FFF2-40B4-BE49-F238E27FC236}">
                  <a16:creationId xmlns:a16="http://schemas.microsoft.com/office/drawing/2014/main" id="{6032CC34-7111-4C59-2E7A-E4943E21F5BD}"/>
                </a:ext>
              </a:extLst>
            </p:cNvPr>
            <p:cNvSpPr/>
            <p:nvPr/>
          </p:nvSpPr>
          <p:spPr>
            <a:xfrm>
              <a:off x="171151" y="2318585"/>
              <a:ext cx="281966" cy="308068"/>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9" name="Rectangle: Rounded Corners 8">
              <a:extLst>
                <a:ext uri="{FF2B5EF4-FFF2-40B4-BE49-F238E27FC236}">
                  <a16:creationId xmlns:a16="http://schemas.microsoft.com/office/drawing/2014/main" id="{8B573531-B655-A14D-5F7A-55BBD0F3B850}"/>
                </a:ext>
              </a:extLst>
            </p:cNvPr>
            <p:cNvSpPr/>
            <p:nvPr/>
          </p:nvSpPr>
          <p:spPr>
            <a:xfrm>
              <a:off x="171151" y="3385352"/>
              <a:ext cx="281966" cy="308068"/>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10" name="Rectangle: Rounded Corners 9">
              <a:extLst>
                <a:ext uri="{FF2B5EF4-FFF2-40B4-BE49-F238E27FC236}">
                  <a16:creationId xmlns:a16="http://schemas.microsoft.com/office/drawing/2014/main" id="{963FD48E-8CA2-D1DA-93AB-7C13265C16D5}"/>
                </a:ext>
              </a:extLst>
            </p:cNvPr>
            <p:cNvSpPr/>
            <p:nvPr/>
          </p:nvSpPr>
          <p:spPr>
            <a:xfrm>
              <a:off x="182680" y="4551761"/>
              <a:ext cx="281966" cy="308068"/>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12" name="Rectangle: Rounded Corners 11">
              <a:extLst>
                <a:ext uri="{FF2B5EF4-FFF2-40B4-BE49-F238E27FC236}">
                  <a16:creationId xmlns:a16="http://schemas.microsoft.com/office/drawing/2014/main" id="{93949F92-114F-CED9-2986-EFAF570D3E73}"/>
                </a:ext>
              </a:extLst>
            </p:cNvPr>
            <p:cNvSpPr/>
            <p:nvPr/>
          </p:nvSpPr>
          <p:spPr>
            <a:xfrm>
              <a:off x="193502" y="5626671"/>
              <a:ext cx="281966" cy="308068"/>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cxnSp>
          <p:nvCxnSpPr>
            <p:cNvPr id="15" name="Straight Connector 14">
              <a:extLst>
                <a:ext uri="{FF2B5EF4-FFF2-40B4-BE49-F238E27FC236}">
                  <a16:creationId xmlns:a16="http://schemas.microsoft.com/office/drawing/2014/main" id="{AF1E32E6-6D54-7649-9CB2-DDCD89BD56F3}"/>
                </a:ext>
              </a:extLst>
            </p:cNvPr>
            <p:cNvCxnSpPr>
              <a:stCxn id="3" idx="2"/>
              <a:endCxn id="8" idx="0"/>
            </p:cNvCxnSpPr>
            <p:nvPr/>
          </p:nvCxnSpPr>
          <p:spPr>
            <a:xfrm>
              <a:off x="312134" y="1368709"/>
              <a:ext cx="0" cy="949876"/>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5E68B626-95B5-2707-BB7E-E6445C78BEF0}"/>
                </a:ext>
              </a:extLst>
            </p:cNvPr>
            <p:cNvCxnSpPr>
              <a:stCxn id="8" idx="2"/>
              <a:endCxn id="9" idx="0"/>
            </p:cNvCxnSpPr>
            <p:nvPr/>
          </p:nvCxnSpPr>
          <p:spPr>
            <a:xfrm>
              <a:off x="312134" y="2626653"/>
              <a:ext cx="0" cy="758699"/>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B8B879C8-D0BC-4267-41FA-FE84D94480CD}"/>
                </a:ext>
              </a:extLst>
            </p:cNvPr>
            <p:cNvCxnSpPr>
              <a:stCxn id="9" idx="2"/>
              <a:endCxn id="10" idx="0"/>
            </p:cNvCxnSpPr>
            <p:nvPr/>
          </p:nvCxnSpPr>
          <p:spPr>
            <a:xfrm>
              <a:off x="312134" y="3693420"/>
              <a:ext cx="11529" cy="858341"/>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266F25C9-15A8-3931-1D18-7F880D38D446}"/>
                </a:ext>
              </a:extLst>
            </p:cNvPr>
            <p:cNvCxnSpPr>
              <a:stCxn id="10" idx="2"/>
              <a:endCxn id="12" idx="0"/>
            </p:cNvCxnSpPr>
            <p:nvPr/>
          </p:nvCxnSpPr>
          <p:spPr>
            <a:xfrm>
              <a:off x="323663" y="4859829"/>
              <a:ext cx="10822" cy="766842"/>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sp>
          <p:nvSpPr>
            <p:cNvPr id="4" name="Flowchart: Alternate Process 3">
              <a:extLst>
                <a:ext uri="{FF2B5EF4-FFF2-40B4-BE49-F238E27FC236}">
                  <a16:creationId xmlns:a16="http://schemas.microsoft.com/office/drawing/2014/main" id="{BAD2D78C-CB3E-4B9B-960C-C2F6B7023866}"/>
                </a:ext>
              </a:extLst>
            </p:cNvPr>
            <p:cNvSpPr/>
            <p:nvPr/>
          </p:nvSpPr>
          <p:spPr>
            <a:xfrm>
              <a:off x="551241" y="1432227"/>
              <a:ext cx="11175515" cy="874998"/>
            </a:xfrm>
            <a:prstGeom prst="flowChartAlternateProcess">
              <a:avLst/>
            </a:prstGeom>
            <a:solidFill>
              <a:schemeClr val="tx1">
                <a:alpha val="15000"/>
              </a:schemeClr>
            </a:solidFill>
            <a:ln w="28575">
              <a:solidFill>
                <a:schemeClr val="tx1"/>
              </a:solid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dirty="0"/>
            </a:p>
            <a:p>
              <a:r>
                <a:rPr lang="en-US" sz="1600" dirty="0"/>
                <a:t>The Inventory Management Department has the responsibility of managing the food supplies in order to ensure efficiency in the running of the operations. It guarantees the availability of all the required ingredients that are needed depending on the demand made by the customers without overstocking in an inventory.</a:t>
              </a:r>
            </a:p>
            <a:p>
              <a:pPr algn="ctr"/>
              <a:endParaRPr lang="en-US" dirty="0"/>
            </a:p>
          </p:txBody>
        </p:sp>
      </p:grpSp>
    </p:spTree>
    <p:extLst>
      <p:ext uri="{BB962C8B-B14F-4D97-AF65-F5344CB8AC3E}">
        <p14:creationId xmlns:p14="http://schemas.microsoft.com/office/powerpoint/2010/main" val="1061517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and white photo">
            <a:extLst>
              <a:ext uri="{FF2B5EF4-FFF2-40B4-BE49-F238E27FC236}">
                <a16:creationId xmlns:a16="http://schemas.microsoft.com/office/drawing/2014/main" id="{73BE5659-FC83-66A1-5949-88F6733C7907}"/>
              </a:ext>
            </a:extLst>
          </p:cNvPr>
          <p:cNvPicPr/>
          <p:nvPr/>
        </p:nvPicPr>
        <p:blipFill>
          <a:blip r:embed="rId2">
            <a:biLevel thresh="75000"/>
            <a:extLst>
              <a:ext uri="{BEBA8EAE-BF5A-486C-A8C5-ECC9F3942E4B}">
                <a14:imgProps xmlns:a14="http://schemas.microsoft.com/office/drawing/2010/main">
                  <a14:imgLayer r:embed="rId3">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sp>
        <p:nvSpPr>
          <p:cNvPr id="4" name="Rectangle: Rounded Corners 3">
            <a:extLst>
              <a:ext uri="{FF2B5EF4-FFF2-40B4-BE49-F238E27FC236}">
                <a16:creationId xmlns:a16="http://schemas.microsoft.com/office/drawing/2014/main" id="{B89D65DE-B600-4F2E-54C6-77537227F483}"/>
              </a:ext>
            </a:extLst>
          </p:cNvPr>
          <p:cNvSpPr/>
          <p:nvPr/>
        </p:nvSpPr>
        <p:spPr>
          <a:xfrm>
            <a:off x="4597674" y="1422722"/>
            <a:ext cx="3935637" cy="4012553"/>
          </a:xfrm>
          <a:prstGeom prst="roundRect">
            <a:avLst/>
          </a:prstGeom>
          <a:solidFill>
            <a:schemeClr val="tx1">
              <a:alpha val="15000"/>
            </a:schemeClr>
          </a:solidFill>
          <a:ln>
            <a:solidFill>
              <a:schemeClr val="tx1"/>
            </a:solid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Rectangle: Rounded Corners 1">
            <a:extLst>
              <a:ext uri="{FF2B5EF4-FFF2-40B4-BE49-F238E27FC236}">
                <a16:creationId xmlns:a16="http://schemas.microsoft.com/office/drawing/2014/main" id="{D32B0DCE-F32C-128E-B078-D85EFF59F413}"/>
              </a:ext>
            </a:extLst>
          </p:cNvPr>
          <p:cNvSpPr/>
          <p:nvPr/>
        </p:nvSpPr>
        <p:spPr>
          <a:xfrm>
            <a:off x="344487" y="1422723"/>
            <a:ext cx="3935637" cy="4012553"/>
          </a:xfrm>
          <a:prstGeom prst="roundRect">
            <a:avLst/>
          </a:prstGeom>
          <a:solidFill>
            <a:schemeClr val="tx1">
              <a:alpha val="15000"/>
            </a:schemeClr>
          </a:solidFill>
          <a:ln>
            <a:solidFill>
              <a:schemeClr val="tx1"/>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TextBox 4">
            <a:extLst>
              <a:ext uri="{FF2B5EF4-FFF2-40B4-BE49-F238E27FC236}">
                <a16:creationId xmlns:a16="http://schemas.microsoft.com/office/drawing/2014/main" id="{2633E606-DEF6-405D-B06B-32A1A3C2C03D}"/>
              </a:ext>
            </a:extLst>
          </p:cNvPr>
          <p:cNvSpPr txBox="1"/>
          <p:nvPr/>
        </p:nvSpPr>
        <p:spPr>
          <a:xfrm>
            <a:off x="8756593" y="1401324"/>
            <a:ext cx="3755336" cy="2862322"/>
          </a:xfrm>
          <a:prstGeom prst="rect">
            <a:avLst/>
          </a:prstGeom>
          <a:noFill/>
        </p:spPr>
        <p:txBody>
          <a:bodyPr wrap="square">
            <a:spAutoFit/>
          </a:bodyPr>
          <a:lstStyle/>
          <a:p>
            <a:r>
              <a:rPr lang="en-US" sz="3600" b="1" i="0" dirty="0">
                <a:solidFill>
                  <a:schemeClr val="bg1"/>
                </a:solidFill>
                <a:effectLst/>
                <a:latin typeface="+mj-lt"/>
              </a:rPr>
              <a:t>Quality control, quality assurance strategies and strategies to ensure hygiene</a:t>
            </a:r>
            <a:endParaRPr lang="en-US" sz="3600" b="1" dirty="0">
              <a:solidFill>
                <a:schemeClr val="bg1"/>
              </a:solidFill>
              <a:latin typeface="+mj-lt"/>
            </a:endParaRPr>
          </a:p>
        </p:txBody>
      </p:sp>
      <p:sp>
        <p:nvSpPr>
          <p:cNvPr id="11" name="TextBox 10">
            <a:extLst>
              <a:ext uri="{FF2B5EF4-FFF2-40B4-BE49-F238E27FC236}">
                <a16:creationId xmlns:a16="http://schemas.microsoft.com/office/drawing/2014/main" id="{D4F4C0DB-C825-4986-B647-6DAF9969D7AB}"/>
              </a:ext>
            </a:extLst>
          </p:cNvPr>
          <p:cNvSpPr txBox="1"/>
          <p:nvPr/>
        </p:nvSpPr>
        <p:spPr>
          <a:xfrm>
            <a:off x="8756593" y="4263646"/>
            <a:ext cx="2976708" cy="923330"/>
          </a:xfrm>
          <a:prstGeom prst="rect">
            <a:avLst/>
          </a:prstGeom>
          <a:noFill/>
        </p:spPr>
        <p:txBody>
          <a:bodyPr wrap="square">
            <a:spAutoFit/>
          </a:bodyPr>
          <a:lstStyle/>
          <a:p>
            <a:r>
              <a:rPr lang="en-US" b="0" i="0" dirty="0">
                <a:solidFill>
                  <a:schemeClr val="bg1"/>
                </a:solidFill>
                <a:effectLst/>
                <a:latin typeface="__GeistSans_3a0388"/>
              </a:rPr>
              <a:t>Food safety and hygiene provision to customer satisfaction</a:t>
            </a:r>
            <a:endParaRPr lang="en-US" dirty="0">
              <a:solidFill>
                <a:schemeClr val="bg1"/>
              </a:solidFill>
            </a:endParaRPr>
          </a:p>
        </p:txBody>
      </p:sp>
      <p:sp>
        <p:nvSpPr>
          <p:cNvPr id="15" name="TextBox 14">
            <a:extLst>
              <a:ext uri="{FF2B5EF4-FFF2-40B4-BE49-F238E27FC236}">
                <a16:creationId xmlns:a16="http://schemas.microsoft.com/office/drawing/2014/main" id="{4FC801DA-E268-44DF-B6BD-3416C304FBC3}"/>
              </a:ext>
            </a:extLst>
          </p:cNvPr>
          <p:cNvSpPr txBox="1"/>
          <p:nvPr/>
        </p:nvSpPr>
        <p:spPr>
          <a:xfrm>
            <a:off x="252863" y="2721112"/>
            <a:ext cx="4118882" cy="707886"/>
          </a:xfrm>
          <a:prstGeom prst="rect">
            <a:avLst/>
          </a:prstGeom>
          <a:noFill/>
        </p:spPr>
        <p:txBody>
          <a:bodyPr wrap="square">
            <a:spAutoFit/>
          </a:bodyPr>
          <a:lstStyle/>
          <a:p>
            <a:pPr algn="ctr"/>
            <a:r>
              <a:rPr lang="en-US" sz="2000" b="1" dirty="0">
                <a:solidFill>
                  <a:schemeClr val="bg1"/>
                </a:solidFill>
              </a:rPr>
              <a:t>maintains standards for food safety and quality.</a:t>
            </a:r>
          </a:p>
        </p:txBody>
      </p:sp>
      <p:sp>
        <p:nvSpPr>
          <p:cNvPr id="19" name="TextBox 18">
            <a:extLst>
              <a:ext uri="{FF2B5EF4-FFF2-40B4-BE49-F238E27FC236}">
                <a16:creationId xmlns:a16="http://schemas.microsoft.com/office/drawing/2014/main" id="{60AFC7AD-E730-496E-90A3-4405EB2AF87D}"/>
              </a:ext>
            </a:extLst>
          </p:cNvPr>
          <p:cNvSpPr txBox="1"/>
          <p:nvPr/>
        </p:nvSpPr>
        <p:spPr>
          <a:xfrm>
            <a:off x="4820956" y="2721112"/>
            <a:ext cx="3489072" cy="707886"/>
          </a:xfrm>
          <a:prstGeom prst="rect">
            <a:avLst/>
          </a:prstGeom>
          <a:noFill/>
        </p:spPr>
        <p:txBody>
          <a:bodyPr wrap="square">
            <a:spAutoFit/>
          </a:bodyPr>
          <a:lstStyle/>
          <a:p>
            <a:pPr algn="ctr"/>
            <a:r>
              <a:rPr lang="en-US" sz="2000" b="1" i="0" dirty="0">
                <a:solidFill>
                  <a:schemeClr val="bg1"/>
                </a:solidFill>
                <a:effectLst/>
                <a:latin typeface="__GeistSans_3a0388"/>
              </a:rPr>
              <a:t>Checks quality and hygiene reports needed</a:t>
            </a:r>
            <a:endParaRPr lang="en-US" sz="2000" b="1" dirty="0">
              <a:solidFill>
                <a:schemeClr val="bg1"/>
              </a:solidFill>
            </a:endParaRPr>
          </a:p>
        </p:txBody>
      </p:sp>
      <p:sp>
        <p:nvSpPr>
          <p:cNvPr id="23" name="TextBox 22">
            <a:extLst>
              <a:ext uri="{FF2B5EF4-FFF2-40B4-BE49-F238E27FC236}">
                <a16:creationId xmlns:a16="http://schemas.microsoft.com/office/drawing/2014/main" id="{EDEC2C25-E142-42F9-A20F-557DC0A9F33A}"/>
              </a:ext>
            </a:extLst>
          </p:cNvPr>
          <p:cNvSpPr txBox="1"/>
          <p:nvPr/>
        </p:nvSpPr>
        <p:spPr>
          <a:xfrm>
            <a:off x="415470" y="3428999"/>
            <a:ext cx="3793669" cy="1815882"/>
          </a:xfrm>
          <a:prstGeom prst="rect">
            <a:avLst/>
          </a:prstGeom>
          <a:noFill/>
        </p:spPr>
        <p:txBody>
          <a:bodyPr wrap="square">
            <a:spAutoFit/>
          </a:bodyPr>
          <a:lstStyle/>
          <a:p>
            <a:pPr algn="ctr"/>
            <a:r>
              <a:rPr lang="en-US" sz="1600" b="0" i="0" dirty="0">
                <a:solidFill>
                  <a:schemeClr val="bg1"/>
                </a:solidFill>
                <a:effectLst/>
                <a:latin typeface="__GeistSans_3a0388"/>
              </a:rPr>
              <a:t>The Quality Control and Hygiene Assurance Department is mandated with the role of ensuring that the food safety standards and quality backing of the food products is effective so as to safeguard the health of the consumers and the reputation of the brand.</a:t>
            </a:r>
            <a:endParaRPr lang="en-US" sz="1600" dirty="0">
              <a:solidFill>
                <a:schemeClr val="bg1"/>
              </a:solidFill>
            </a:endParaRPr>
          </a:p>
        </p:txBody>
      </p:sp>
      <p:sp>
        <p:nvSpPr>
          <p:cNvPr id="27" name="TextBox 26">
            <a:extLst>
              <a:ext uri="{FF2B5EF4-FFF2-40B4-BE49-F238E27FC236}">
                <a16:creationId xmlns:a16="http://schemas.microsoft.com/office/drawing/2014/main" id="{C279BD95-CA25-491E-A820-E90851B7D250}"/>
              </a:ext>
            </a:extLst>
          </p:cNvPr>
          <p:cNvSpPr txBox="1"/>
          <p:nvPr/>
        </p:nvSpPr>
        <p:spPr>
          <a:xfrm>
            <a:off x="4597674" y="3601927"/>
            <a:ext cx="3935637" cy="1323439"/>
          </a:xfrm>
          <a:prstGeom prst="rect">
            <a:avLst/>
          </a:prstGeom>
          <a:noFill/>
        </p:spPr>
        <p:txBody>
          <a:bodyPr wrap="square">
            <a:spAutoFit/>
          </a:bodyPr>
          <a:lstStyle/>
          <a:p>
            <a:pPr algn="ctr"/>
            <a:r>
              <a:rPr lang="en-US" sz="1600" b="0" i="0" dirty="0">
                <a:solidFill>
                  <a:schemeClr val="bg1"/>
                </a:solidFill>
                <a:effectLst/>
                <a:latin typeface="__GeistSans_3a0388"/>
              </a:rPr>
              <a:t>The department should cover health standards and protect the reputation of the brand, so quality checks and hygiene reports should be regular with information on the food handling practices and cleanliness.</a:t>
            </a:r>
            <a:endParaRPr lang="en-US" sz="1600" dirty="0">
              <a:solidFill>
                <a:schemeClr val="bg1"/>
              </a:solidFill>
            </a:endParaRPr>
          </a:p>
        </p:txBody>
      </p:sp>
    </p:spTree>
    <p:extLst>
      <p:ext uri="{BB962C8B-B14F-4D97-AF65-F5344CB8AC3E}">
        <p14:creationId xmlns:p14="http://schemas.microsoft.com/office/powerpoint/2010/main" val="3068563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ack and white photo">
            <a:extLst>
              <a:ext uri="{FF2B5EF4-FFF2-40B4-BE49-F238E27FC236}">
                <a16:creationId xmlns:a16="http://schemas.microsoft.com/office/drawing/2014/main" id="{0F6BA29C-6BA1-ED38-7DA2-3F7A037A6D3A}"/>
              </a:ext>
            </a:extLst>
          </p:cNvPr>
          <p:cNvPicPr/>
          <p:nvPr/>
        </p:nvPicPr>
        <p:blipFill>
          <a:blip r:embed="rId2">
            <a:biLevel thresh="75000"/>
            <a:extLst>
              <a:ext uri="{BEBA8EAE-BF5A-486C-A8C5-ECC9F3942E4B}">
                <a14:imgProps xmlns:a14="http://schemas.microsoft.com/office/drawing/2010/main">
                  <a14:imgLayer r:embed="rId3">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sp>
        <p:nvSpPr>
          <p:cNvPr id="6" name="Rectangle: Rounded Corners 5">
            <a:extLst>
              <a:ext uri="{FF2B5EF4-FFF2-40B4-BE49-F238E27FC236}">
                <a16:creationId xmlns:a16="http://schemas.microsoft.com/office/drawing/2014/main" id="{963911FC-6217-E343-AE0B-D26BF8B4BDF8}"/>
              </a:ext>
            </a:extLst>
          </p:cNvPr>
          <p:cNvSpPr/>
          <p:nvPr/>
        </p:nvSpPr>
        <p:spPr>
          <a:xfrm>
            <a:off x="5089466" y="5067271"/>
            <a:ext cx="7043570" cy="1518452"/>
          </a:xfrm>
          <a:prstGeom prst="roundRect">
            <a:avLst/>
          </a:prstGeom>
          <a:solidFill>
            <a:schemeClr val="tx1">
              <a:alpha val="15000"/>
            </a:schemeClr>
          </a:solidFill>
          <a:ln>
            <a:solidFill>
              <a:schemeClr val="tx1"/>
            </a:solid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Rectangle: Rounded Corners 3">
            <a:extLst>
              <a:ext uri="{FF2B5EF4-FFF2-40B4-BE49-F238E27FC236}">
                <a16:creationId xmlns:a16="http://schemas.microsoft.com/office/drawing/2014/main" id="{B77473F5-7D55-40C2-1B60-8936DCB459B6}"/>
              </a:ext>
            </a:extLst>
          </p:cNvPr>
          <p:cNvSpPr/>
          <p:nvPr/>
        </p:nvSpPr>
        <p:spPr>
          <a:xfrm>
            <a:off x="4191867" y="3426640"/>
            <a:ext cx="7102535" cy="1518452"/>
          </a:xfrm>
          <a:prstGeom prst="roundRect">
            <a:avLst/>
          </a:prstGeom>
          <a:solidFill>
            <a:schemeClr val="tx1">
              <a:alpha val="15000"/>
            </a:schemeClr>
          </a:solidFill>
          <a:ln>
            <a:solidFill>
              <a:schemeClr val="tx1"/>
            </a:solid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 name="Rectangle: Rounded Corners 2">
            <a:extLst>
              <a:ext uri="{FF2B5EF4-FFF2-40B4-BE49-F238E27FC236}">
                <a16:creationId xmlns:a16="http://schemas.microsoft.com/office/drawing/2014/main" id="{D3002DAC-72DB-43A3-A708-AF9A45ADAE75}"/>
              </a:ext>
            </a:extLst>
          </p:cNvPr>
          <p:cNvSpPr/>
          <p:nvPr/>
        </p:nvSpPr>
        <p:spPr>
          <a:xfrm>
            <a:off x="3366826" y="1803317"/>
            <a:ext cx="7102535" cy="1518452"/>
          </a:xfrm>
          <a:prstGeom prst="roundRect">
            <a:avLst/>
          </a:prstGeom>
          <a:solidFill>
            <a:schemeClr val="tx1">
              <a:alpha val="15000"/>
            </a:schemeClr>
          </a:solidFill>
          <a:ln>
            <a:solidFill>
              <a:schemeClr val="tx1"/>
            </a:solid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Rectangle: Rounded Corners 1">
            <a:extLst>
              <a:ext uri="{FF2B5EF4-FFF2-40B4-BE49-F238E27FC236}">
                <a16:creationId xmlns:a16="http://schemas.microsoft.com/office/drawing/2014/main" id="{C0C83195-18EB-F083-987E-FDF8239DFEA0}"/>
              </a:ext>
            </a:extLst>
          </p:cNvPr>
          <p:cNvSpPr/>
          <p:nvPr/>
        </p:nvSpPr>
        <p:spPr>
          <a:xfrm>
            <a:off x="2655650" y="176427"/>
            <a:ext cx="6742612" cy="1518452"/>
          </a:xfrm>
          <a:prstGeom prst="roundRect">
            <a:avLst/>
          </a:prstGeom>
          <a:solidFill>
            <a:schemeClr val="tx1">
              <a:alpha val="15000"/>
            </a:schemeClr>
          </a:solidFill>
          <a:ln>
            <a:solidFill>
              <a:schemeClr val="tx1"/>
            </a:solid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TextBox 4">
            <a:extLst>
              <a:ext uri="{FF2B5EF4-FFF2-40B4-BE49-F238E27FC236}">
                <a16:creationId xmlns:a16="http://schemas.microsoft.com/office/drawing/2014/main" id="{845C4ECF-CA47-4A42-A619-7E07D182E3D4}"/>
              </a:ext>
            </a:extLst>
          </p:cNvPr>
          <p:cNvSpPr txBox="1"/>
          <p:nvPr/>
        </p:nvSpPr>
        <p:spPr>
          <a:xfrm>
            <a:off x="58965" y="757924"/>
            <a:ext cx="2791767" cy="3170099"/>
          </a:xfrm>
          <a:prstGeom prst="rect">
            <a:avLst/>
          </a:prstGeom>
          <a:noFill/>
        </p:spPr>
        <p:txBody>
          <a:bodyPr wrap="square">
            <a:spAutoFit/>
          </a:bodyPr>
          <a:lstStyle/>
          <a:p>
            <a:r>
              <a:rPr lang="en-US" sz="4000" b="1" i="0" dirty="0">
                <a:solidFill>
                  <a:schemeClr val="bg1"/>
                </a:solidFill>
                <a:effectLst/>
                <a:latin typeface="+mj-lt"/>
              </a:rPr>
              <a:t>Role of Human Resources Department Functions</a:t>
            </a:r>
            <a:endParaRPr lang="en-US" sz="4000" b="1" dirty="0">
              <a:solidFill>
                <a:schemeClr val="bg1"/>
              </a:solidFill>
              <a:latin typeface="+mj-lt"/>
            </a:endParaRPr>
          </a:p>
        </p:txBody>
      </p:sp>
      <p:sp>
        <p:nvSpPr>
          <p:cNvPr id="9" name="TextBox 8">
            <a:extLst>
              <a:ext uri="{FF2B5EF4-FFF2-40B4-BE49-F238E27FC236}">
                <a16:creationId xmlns:a16="http://schemas.microsoft.com/office/drawing/2014/main" id="{BCA85F57-F761-4915-8438-53CE32F9E0DE}"/>
              </a:ext>
            </a:extLst>
          </p:cNvPr>
          <p:cNvSpPr txBox="1"/>
          <p:nvPr/>
        </p:nvSpPr>
        <p:spPr>
          <a:xfrm>
            <a:off x="58965" y="4175076"/>
            <a:ext cx="2985792" cy="1200329"/>
          </a:xfrm>
          <a:prstGeom prst="rect">
            <a:avLst/>
          </a:prstGeom>
          <a:noFill/>
        </p:spPr>
        <p:txBody>
          <a:bodyPr wrap="square">
            <a:spAutoFit/>
          </a:bodyPr>
          <a:lstStyle/>
          <a:p>
            <a:r>
              <a:rPr lang="en-US" b="0" i="0" dirty="0">
                <a:solidFill>
                  <a:schemeClr val="bg1"/>
                </a:solidFill>
                <a:effectLst/>
                <a:latin typeface="__GeistSans_3a0388"/>
              </a:rPr>
              <a:t>The workplace at the Pizza Hut Sri Lanka The roles and information requirements of HR at the Pizza Hut Sri Lanka</a:t>
            </a:r>
            <a:endParaRPr lang="en-US" dirty="0">
              <a:solidFill>
                <a:schemeClr val="bg1"/>
              </a:solidFill>
            </a:endParaRPr>
          </a:p>
        </p:txBody>
      </p:sp>
      <p:sp>
        <p:nvSpPr>
          <p:cNvPr id="13" name="TextBox 12">
            <a:extLst>
              <a:ext uri="{FF2B5EF4-FFF2-40B4-BE49-F238E27FC236}">
                <a16:creationId xmlns:a16="http://schemas.microsoft.com/office/drawing/2014/main" id="{F5875EB6-539D-4F07-B28A-0E605915FBF5}"/>
              </a:ext>
            </a:extLst>
          </p:cNvPr>
          <p:cNvSpPr txBox="1"/>
          <p:nvPr/>
        </p:nvSpPr>
        <p:spPr>
          <a:xfrm>
            <a:off x="3687838" y="594573"/>
            <a:ext cx="5847667" cy="1077218"/>
          </a:xfrm>
          <a:prstGeom prst="rect">
            <a:avLst/>
          </a:prstGeom>
          <a:noFill/>
        </p:spPr>
        <p:txBody>
          <a:bodyPr wrap="square">
            <a:spAutoFit/>
          </a:bodyPr>
          <a:lstStyle/>
          <a:p>
            <a:r>
              <a:rPr lang="en-US" sz="1600" b="0" i="0" dirty="0">
                <a:solidFill>
                  <a:schemeClr val="bg1"/>
                </a:solidFill>
                <a:effectLst/>
                <a:latin typeface="__GeistSans_3a0388"/>
              </a:rPr>
              <a:t>Hiring and training of staff are major activities carried out by the Human Resources Department that would guarantee the organization to have qualified personnel. This is a requirement to ensure efficiency of operations.</a:t>
            </a:r>
            <a:endParaRPr lang="en-US" sz="1600" dirty="0">
              <a:solidFill>
                <a:schemeClr val="bg1"/>
              </a:solidFill>
            </a:endParaRPr>
          </a:p>
        </p:txBody>
      </p:sp>
      <p:sp>
        <p:nvSpPr>
          <p:cNvPr id="17" name="TextBox 16">
            <a:extLst>
              <a:ext uri="{FF2B5EF4-FFF2-40B4-BE49-F238E27FC236}">
                <a16:creationId xmlns:a16="http://schemas.microsoft.com/office/drawing/2014/main" id="{BF0C874E-8344-44A2-A63C-89596B925975}"/>
              </a:ext>
            </a:extLst>
          </p:cNvPr>
          <p:cNvSpPr txBox="1"/>
          <p:nvPr/>
        </p:nvSpPr>
        <p:spPr>
          <a:xfrm>
            <a:off x="3687838" y="272277"/>
            <a:ext cx="6098720" cy="369332"/>
          </a:xfrm>
          <a:prstGeom prst="rect">
            <a:avLst/>
          </a:prstGeom>
          <a:noFill/>
        </p:spPr>
        <p:txBody>
          <a:bodyPr wrap="square">
            <a:spAutoFit/>
          </a:bodyPr>
          <a:lstStyle/>
          <a:p>
            <a:r>
              <a:rPr lang="en-US" b="1" dirty="0">
                <a:solidFill>
                  <a:schemeClr val="bg1"/>
                </a:solidFill>
              </a:rPr>
              <a:t>Main HR Functional Area	</a:t>
            </a:r>
          </a:p>
        </p:txBody>
      </p:sp>
      <p:sp>
        <p:nvSpPr>
          <p:cNvPr id="21" name="TextBox 20">
            <a:extLst>
              <a:ext uri="{FF2B5EF4-FFF2-40B4-BE49-F238E27FC236}">
                <a16:creationId xmlns:a16="http://schemas.microsoft.com/office/drawing/2014/main" id="{F378DA0F-B9EB-4562-848E-B6A8D0F77391}"/>
              </a:ext>
            </a:extLst>
          </p:cNvPr>
          <p:cNvSpPr txBox="1"/>
          <p:nvPr/>
        </p:nvSpPr>
        <p:spPr>
          <a:xfrm>
            <a:off x="4717045" y="1892147"/>
            <a:ext cx="5039798" cy="369332"/>
          </a:xfrm>
          <a:prstGeom prst="rect">
            <a:avLst/>
          </a:prstGeom>
          <a:noFill/>
        </p:spPr>
        <p:txBody>
          <a:bodyPr wrap="square">
            <a:spAutoFit/>
          </a:bodyPr>
          <a:lstStyle/>
          <a:p>
            <a:r>
              <a:rPr lang="en-US" b="1" i="0" dirty="0">
                <a:solidFill>
                  <a:schemeClr val="bg1"/>
                </a:solidFill>
                <a:effectLst/>
                <a:latin typeface="__GeistSans_3a0388"/>
              </a:rPr>
              <a:t>Information Requirements</a:t>
            </a:r>
            <a:endParaRPr lang="en-US" b="1" dirty="0">
              <a:solidFill>
                <a:schemeClr val="bg1"/>
              </a:solidFill>
            </a:endParaRPr>
          </a:p>
        </p:txBody>
      </p:sp>
      <p:sp>
        <p:nvSpPr>
          <p:cNvPr id="25" name="TextBox 24">
            <a:extLst>
              <a:ext uri="{FF2B5EF4-FFF2-40B4-BE49-F238E27FC236}">
                <a16:creationId xmlns:a16="http://schemas.microsoft.com/office/drawing/2014/main" id="{C66B8CB3-0D53-49F7-B08D-46E614D1C670}"/>
              </a:ext>
            </a:extLst>
          </p:cNvPr>
          <p:cNvSpPr txBox="1"/>
          <p:nvPr/>
        </p:nvSpPr>
        <p:spPr>
          <a:xfrm>
            <a:off x="4750298" y="2261858"/>
            <a:ext cx="5593404" cy="1077218"/>
          </a:xfrm>
          <a:prstGeom prst="rect">
            <a:avLst/>
          </a:prstGeom>
          <a:noFill/>
        </p:spPr>
        <p:txBody>
          <a:bodyPr wrap="square">
            <a:spAutoFit/>
          </a:bodyPr>
          <a:lstStyle/>
          <a:p>
            <a:r>
              <a:rPr lang="en-US" sz="1600" b="0" i="0" dirty="0">
                <a:solidFill>
                  <a:schemeClr val="bg1"/>
                </a:solidFill>
                <a:effectLst/>
                <a:latin typeface="__GeistSans_3a0388"/>
              </a:rPr>
              <a:t>In order to ensure efficient management of employees and operations, the HR must have access to staff records and training records. It is this information that is important in monitoring performance and future staffing needs.</a:t>
            </a:r>
            <a:endParaRPr lang="en-US" sz="1600" dirty="0">
              <a:solidFill>
                <a:schemeClr val="bg1"/>
              </a:solidFill>
            </a:endParaRPr>
          </a:p>
        </p:txBody>
      </p:sp>
      <p:sp>
        <p:nvSpPr>
          <p:cNvPr id="29" name="TextBox 28">
            <a:extLst>
              <a:ext uri="{FF2B5EF4-FFF2-40B4-BE49-F238E27FC236}">
                <a16:creationId xmlns:a16="http://schemas.microsoft.com/office/drawing/2014/main" id="{5912C303-8AD2-4B19-969F-F9E6DA0D4FA8}"/>
              </a:ext>
            </a:extLst>
          </p:cNvPr>
          <p:cNvSpPr txBox="1"/>
          <p:nvPr/>
        </p:nvSpPr>
        <p:spPr>
          <a:xfrm>
            <a:off x="5492163" y="3574411"/>
            <a:ext cx="6098720" cy="646331"/>
          </a:xfrm>
          <a:prstGeom prst="rect">
            <a:avLst/>
          </a:prstGeom>
          <a:noFill/>
        </p:spPr>
        <p:txBody>
          <a:bodyPr wrap="square">
            <a:spAutoFit/>
          </a:bodyPr>
          <a:lstStyle/>
          <a:p>
            <a:r>
              <a:rPr lang="en-US" b="1" dirty="0">
                <a:solidFill>
                  <a:schemeClr val="bg1"/>
                </a:solidFill>
              </a:rPr>
              <a:t>Contribution on staff development</a:t>
            </a:r>
          </a:p>
          <a:p>
            <a:endParaRPr lang="en-US" b="1" dirty="0">
              <a:solidFill>
                <a:schemeClr val="bg1"/>
              </a:solidFill>
            </a:endParaRPr>
          </a:p>
        </p:txBody>
      </p:sp>
      <p:sp>
        <p:nvSpPr>
          <p:cNvPr id="33" name="TextBox 32">
            <a:extLst>
              <a:ext uri="{FF2B5EF4-FFF2-40B4-BE49-F238E27FC236}">
                <a16:creationId xmlns:a16="http://schemas.microsoft.com/office/drawing/2014/main" id="{A21E5000-56CC-4145-BDB2-8B168C86597F}"/>
              </a:ext>
            </a:extLst>
          </p:cNvPr>
          <p:cNvSpPr txBox="1"/>
          <p:nvPr/>
        </p:nvSpPr>
        <p:spPr>
          <a:xfrm>
            <a:off x="5492163" y="3953959"/>
            <a:ext cx="5719063" cy="830997"/>
          </a:xfrm>
          <a:prstGeom prst="rect">
            <a:avLst/>
          </a:prstGeom>
          <a:noFill/>
        </p:spPr>
        <p:txBody>
          <a:bodyPr wrap="square">
            <a:spAutoFit/>
          </a:bodyPr>
          <a:lstStyle/>
          <a:p>
            <a:r>
              <a:rPr lang="en-US" sz="1600" b="0" i="0" dirty="0">
                <a:solidFill>
                  <a:schemeClr val="bg1"/>
                </a:solidFill>
                <a:effectLst/>
                <a:latin typeface="__GeistSans_3a0388"/>
              </a:rPr>
              <a:t>The HR department, besides recruiting, also makes central contributions to the training and learning of the employees so that they have the proper skills to work their jobs well.</a:t>
            </a:r>
            <a:endParaRPr lang="en-US" sz="1600" dirty="0">
              <a:solidFill>
                <a:schemeClr val="bg1"/>
              </a:solidFill>
            </a:endParaRPr>
          </a:p>
        </p:txBody>
      </p:sp>
      <p:sp>
        <p:nvSpPr>
          <p:cNvPr id="37" name="TextBox 36">
            <a:extLst>
              <a:ext uri="{FF2B5EF4-FFF2-40B4-BE49-F238E27FC236}">
                <a16:creationId xmlns:a16="http://schemas.microsoft.com/office/drawing/2014/main" id="{C474D39A-4BCA-41F4-9C4D-8BB9C0881495}"/>
              </a:ext>
            </a:extLst>
          </p:cNvPr>
          <p:cNvSpPr txBox="1"/>
          <p:nvPr/>
        </p:nvSpPr>
        <p:spPr>
          <a:xfrm>
            <a:off x="6336168" y="5140303"/>
            <a:ext cx="6098720" cy="369332"/>
          </a:xfrm>
          <a:prstGeom prst="rect">
            <a:avLst/>
          </a:prstGeom>
          <a:noFill/>
        </p:spPr>
        <p:txBody>
          <a:bodyPr wrap="square">
            <a:spAutoFit/>
          </a:bodyPr>
          <a:lstStyle/>
          <a:p>
            <a:r>
              <a:rPr lang="en-US" b="1" dirty="0">
                <a:solidFill>
                  <a:schemeClr val="bg1"/>
                </a:solidFill>
              </a:rPr>
              <a:t>Effect on Business Functions</a:t>
            </a:r>
          </a:p>
        </p:txBody>
      </p:sp>
      <p:sp>
        <p:nvSpPr>
          <p:cNvPr id="41" name="TextBox 40">
            <a:extLst>
              <a:ext uri="{FF2B5EF4-FFF2-40B4-BE49-F238E27FC236}">
                <a16:creationId xmlns:a16="http://schemas.microsoft.com/office/drawing/2014/main" id="{B327FA19-7691-44CE-ACC3-EED1444159B5}"/>
              </a:ext>
            </a:extLst>
          </p:cNvPr>
          <p:cNvSpPr txBox="1"/>
          <p:nvPr/>
        </p:nvSpPr>
        <p:spPr>
          <a:xfrm>
            <a:off x="6349095" y="5407458"/>
            <a:ext cx="5626552" cy="1077218"/>
          </a:xfrm>
          <a:prstGeom prst="rect">
            <a:avLst/>
          </a:prstGeom>
          <a:noFill/>
        </p:spPr>
        <p:txBody>
          <a:bodyPr wrap="square">
            <a:spAutoFit/>
          </a:bodyPr>
          <a:lstStyle/>
          <a:p>
            <a:r>
              <a:rPr lang="en-US" sz="1600" b="0" i="0" dirty="0">
                <a:solidFill>
                  <a:schemeClr val="bg1"/>
                </a:solidFill>
                <a:effectLst/>
                <a:latin typeface="__GeistSans_3a0388"/>
              </a:rPr>
              <a:t>Smooth organizational of hiring and training by the HR department has a direct influence on </a:t>
            </a:r>
            <a:r>
              <a:rPr lang="en-US" sz="1600" b="0" i="0" dirty="0" err="1">
                <a:solidFill>
                  <a:schemeClr val="bg1"/>
                </a:solidFill>
                <a:effectLst/>
                <a:latin typeface="__GeistSans_3a0388"/>
              </a:rPr>
              <a:t>efficientness</a:t>
            </a:r>
            <a:r>
              <a:rPr lang="en-US" sz="1600" b="0" i="0" dirty="0">
                <a:solidFill>
                  <a:schemeClr val="bg1"/>
                </a:solidFill>
                <a:effectLst/>
                <a:latin typeface="__GeistSans_3a0388"/>
              </a:rPr>
              <a:t> and success of the overall work of Pizza Hut Sri Lanka that results in the improvement of service delivery.</a:t>
            </a:r>
            <a:endParaRPr lang="en-US" sz="1600" dirty="0">
              <a:solidFill>
                <a:schemeClr val="bg1"/>
              </a:solidFill>
            </a:endParaRPr>
          </a:p>
        </p:txBody>
      </p:sp>
    </p:spTree>
    <p:extLst>
      <p:ext uri="{BB962C8B-B14F-4D97-AF65-F5344CB8AC3E}">
        <p14:creationId xmlns:p14="http://schemas.microsoft.com/office/powerpoint/2010/main" val="1694621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 and white photo">
            <a:extLst>
              <a:ext uri="{FF2B5EF4-FFF2-40B4-BE49-F238E27FC236}">
                <a16:creationId xmlns:a16="http://schemas.microsoft.com/office/drawing/2014/main" id="{3919486B-FCD7-A8BD-D51F-E4E1BD2A9E2B}"/>
              </a:ext>
            </a:extLst>
          </p:cNvPr>
          <p:cNvPicPr/>
          <p:nvPr/>
        </p:nvPicPr>
        <p:blipFill>
          <a:blip r:embed="rId2">
            <a:biLevel thresh="75000"/>
            <a:extLst>
              <a:ext uri="{BEBA8EAE-BF5A-486C-A8C5-ECC9F3942E4B}">
                <a14:imgProps xmlns:a14="http://schemas.microsoft.com/office/drawing/2010/main">
                  <a14:imgLayer r:embed="rId3">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sp>
        <p:nvSpPr>
          <p:cNvPr id="6" name="Rectangle: Rounded Corners 5">
            <a:extLst>
              <a:ext uri="{FF2B5EF4-FFF2-40B4-BE49-F238E27FC236}">
                <a16:creationId xmlns:a16="http://schemas.microsoft.com/office/drawing/2014/main" id="{06B96165-BAA2-0791-016C-E24C61D64D23}"/>
              </a:ext>
            </a:extLst>
          </p:cNvPr>
          <p:cNvSpPr/>
          <p:nvPr/>
        </p:nvSpPr>
        <p:spPr>
          <a:xfrm>
            <a:off x="397251" y="3938234"/>
            <a:ext cx="3564579" cy="2282245"/>
          </a:xfrm>
          <a:prstGeom prst="roundRect">
            <a:avLst/>
          </a:prstGeom>
          <a:solidFill>
            <a:schemeClr val="tx1">
              <a:alpha val="18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Rectangle: Rounded Corners 3">
            <a:extLst>
              <a:ext uri="{FF2B5EF4-FFF2-40B4-BE49-F238E27FC236}">
                <a16:creationId xmlns:a16="http://schemas.microsoft.com/office/drawing/2014/main" id="{4BF0D8C6-5A89-E18C-BDDB-7C7FE8A5AD0F}"/>
              </a:ext>
            </a:extLst>
          </p:cNvPr>
          <p:cNvSpPr/>
          <p:nvPr/>
        </p:nvSpPr>
        <p:spPr>
          <a:xfrm>
            <a:off x="397251" y="1125323"/>
            <a:ext cx="3564579" cy="2282245"/>
          </a:xfrm>
          <a:prstGeom prst="roundRect">
            <a:avLst/>
          </a:prstGeom>
          <a:solidFill>
            <a:schemeClr val="tx1">
              <a:alpha val="18000"/>
            </a:schemeClr>
          </a:solidFill>
          <a:ln>
            <a:solidFill>
              <a:schemeClr val="tx1"/>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Rectangle: Rounded Corners 2">
            <a:extLst>
              <a:ext uri="{FF2B5EF4-FFF2-40B4-BE49-F238E27FC236}">
                <a16:creationId xmlns:a16="http://schemas.microsoft.com/office/drawing/2014/main" id="{3E286865-4266-8FD8-FBA4-9E8823FBA081}"/>
              </a:ext>
            </a:extLst>
          </p:cNvPr>
          <p:cNvSpPr/>
          <p:nvPr/>
        </p:nvSpPr>
        <p:spPr>
          <a:xfrm>
            <a:off x="4491010" y="1125323"/>
            <a:ext cx="3564579" cy="2282245"/>
          </a:xfrm>
          <a:prstGeom prst="roundRect">
            <a:avLst/>
          </a:prstGeom>
          <a:solidFill>
            <a:schemeClr val="tx1">
              <a:alpha val="18000"/>
            </a:schemeClr>
          </a:solidFill>
          <a:ln>
            <a:solidFill>
              <a:schemeClr val="tx1"/>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 name="Rectangle: Rounded Corners 6">
            <a:extLst>
              <a:ext uri="{FF2B5EF4-FFF2-40B4-BE49-F238E27FC236}">
                <a16:creationId xmlns:a16="http://schemas.microsoft.com/office/drawing/2014/main" id="{120F870E-ECA1-2107-B6C2-F1FA9E143C1F}"/>
              </a:ext>
            </a:extLst>
          </p:cNvPr>
          <p:cNvSpPr/>
          <p:nvPr/>
        </p:nvSpPr>
        <p:spPr>
          <a:xfrm>
            <a:off x="4605040" y="3938234"/>
            <a:ext cx="3564579" cy="2282245"/>
          </a:xfrm>
          <a:prstGeom prst="roundRect">
            <a:avLst/>
          </a:prstGeom>
          <a:solidFill>
            <a:schemeClr val="tx1">
              <a:alpha val="18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TextBox 4">
            <a:extLst>
              <a:ext uri="{FF2B5EF4-FFF2-40B4-BE49-F238E27FC236}">
                <a16:creationId xmlns:a16="http://schemas.microsoft.com/office/drawing/2014/main" id="{41F0A42F-4B5D-4C10-852B-BEFEA422FEAC}"/>
              </a:ext>
            </a:extLst>
          </p:cNvPr>
          <p:cNvSpPr txBox="1"/>
          <p:nvPr/>
        </p:nvSpPr>
        <p:spPr>
          <a:xfrm>
            <a:off x="8348794" y="1253344"/>
            <a:ext cx="3052081" cy="2554545"/>
          </a:xfrm>
          <a:prstGeom prst="rect">
            <a:avLst/>
          </a:prstGeom>
          <a:noFill/>
        </p:spPr>
        <p:txBody>
          <a:bodyPr wrap="square">
            <a:spAutoFit/>
          </a:bodyPr>
          <a:lstStyle/>
          <a:p>
            <a:r>
              <a:rPr lang="en-US" sz="4000" b="1" i="0" dirty="0">
                <a:solidFill>
                  <a:schemeClr val="bg1"/>
                </a:solidFill>
                <a:effectLst/>
                <a:latin typeface="+mj-lt"/>
              </a:rPr>
              <a:t>Description of the Role of Finance Department</a:t>
            </a:r>
            <a:endParaRPr lang="en-US" sz="4000" b="1" dirty="0">
              <a:solidFill>
                <a:schemeClr val="bg1"/>
              </a:solidFill>
              <a:latin typeface="+mj-lt"/>
            </a:endParaRPr>
          </a:p>
        </p:txBody>
      </p:sp>
      <p:sp>
        <p:nvSpPr>
          <p:cNvPr id="9" name="TextBox 8">
            <a:extLst>
              <a:ext uri="{FF2B5EF4-FFF2-40B4-BE49-F238E27FC236}">
                <a16:creationId xmlns:a16="http://schemas.microsoft.com/office/drawing/2014/main" id="{F5EE726A-FC63-47D3-A5F8-08C0B07D20E2}"/>
              </a:ext>
            </a:extLst>
          </p:cNvPr>
          <p:cNvSpPr txBox="1"/>
          <p:nvPr/>
        </p:nvSpPr>
        <p:spPr>
          <a:xfrm>
            <a:off x="8348793" y="3879027"/>
            <a:ext cx="3052082" cy="1200329"/>
          </a:xfrm>
          <a:prstGeom prst="rect">
            <a:avLst/>
          </a:prstGeom>
          <a:noFill/>
        </p:spPr>
        <p:txBody>
          <a:bodyPr wrap="square">
            <a:spAutoFit/>
          </a:bodyPr>
          <a:lstStyle/>
          <a:p>
            <a:r>
              <a:rPr lang="en-US" b="0" i="0" dirty="0">
                <a:solidFill>
                  <a:schemeClr val="bg1"/>
                </a:solidFill>
                <a:effectLst/>
                <a:latin typeface="__GeistSans_3a0388"/>
              </a:rPr>
              <a:t>Knowledge development of financial monitoring and information requirements of good management</a:t>
            </a:r>
            <a:endParaRPr lang="en-US" dirty="0">
              <a:solidFill>
                <a:schemeClr val="bg1"/>
              </a:solidFill>
            </a:endParaRPr>
          </a:p>
        </p:txBody>
      </p:sp>
      <p:sp>
        <p:nvSpPr>
          <p:cNvPr id="13" name="TextBox 12">
            <a:extLst>
              <a:ext uri="{FF2B5EF4-FFF2-40B4-BE49-F238E27FC236}">
                <a16:creationId xmlns:a16="http://schemas.microsoft.com/office/drawing/2014/main" id="{B3AE1E73-C1BD-46E1-A47A-35CFBE3A2D0A}"/>
              </a:ext>
            </a:extLst>
          </p:cNvPr>
          <p:cNvSpPr txBox="1"/>
          <p:nvPr/>
        </p:nvSpPr>
        <p:spPr>
          <a:xfrm>
            <a:off x="502952" y="2267355"/>
            <a:ext cx="3410327" cy="369332"/>
          </a:xfrm>
          <a:prstGeom prst="rect">
            <a:avLst/>
          </a:prstGeom>
          <a:noFill/>
        </p:spPr>
        <p:txBody>
          <a:bodyPr wrap="square">
            <a:spAutoFit/>
          </a:bodyPr>
          <a:lstStyle/>
          <a:p>
            <a:r>
              <a:rPr lang="en-US" b="1" i="0" dirty="0">
                <a:solidFill>
                  <a:schemeClr val="bg1"/>
                </a:solidFill>
                <a:effectLst/>
                <a:latin typeface="__GeistSans_3a0388"/>
              </a:rPr>
              <a:t>Financial inflows Management</a:t>
            </a:r>
            <a:endParaRPr lang="en-US" b="1" dirty="0">
              <a:solidFill>
                <a:schemeClr val="bg1"/>
              </a:solidFill>
            </a:endParaRPr>
          </a:p>
        </p:txBody>
      </p:sp>
      <p:sp>
        <p:nvSpPr>
          <p:cNvPr id="17" name="TextBox 16">
            <a:extLst>
              <a:ext uri="{FF2B5EF4-FFF2-40B4-BE49-F238E27FC236}">
                <a16:creationId xmlns:a16="http://schemas.microsoft.com/office/drawing/2014/main" id="{C211BAE7-003C-49A6-94EF-4419DD80CAFE}"/>
              </a:ext>
            </a:extLst>
          </p:cNvPr>
          <p:cNvSpPr txBox="1"/>
          <p:nvPr/>
        </p:nvSpPr>
        <p:spPr>
          <a:xfrm>
            <a:off x="4491010" y="2249092"/>
            <a:ext cx="3203569" cy="369332"/>
          </a:xfrm>
          <a:prstGeom prst="rect">
            <a:avLst/>
          </a:prstGeom>
          <a:noFill/>
        </p:spPr>
        <p:txBody>
          <a:bodyPr wrap="square">
            <a:spAutoFit/>
          </a:bodyPr>
          <a:lstStyle/>
          <a:p>
            <a:r>
              <a:rPr lang="en-US" b="1" i="0" dirty="0">
                <a:solidFill>
                  <a:schemeClr val="bg1"/>
                </a:solidFill>
                <a:effectLst/>
                <a:latin typeface="__GeistSans_3a0388"/>
              </a:rPr>
              <a:t>Financial Outflows Tracking</a:t>
            </a:r>
            <a:endParaRPr lang="en-US" b="1" dirty="0">
              <a:solidFill>
                <a:schemeClr val="bg1"/>
              </a:solidFill>
            </a:endParaRPr>
          </a:p>
        </p:txBody>
      </p:sp>
      <p:sp>
        <p:nvSpPr>
          <p:cNvPr id="21" name="TextBox 20">
            <a:extLst>
              <a:ext uri="{FF2B5EF4-FFF2-40B4-BE49-F238E27FC236}">
                <a16:creationId xmlns:a16="http://schemas.microsoft.com/office/drawing/2014/main" id="{F74D9DF3-6A58-495A-9509-C60C23006852}"/>
              </a:ext>
            </a:extLst>
          </p:cNvPr>
          <p:cNvSpPr txBox="1"/>
          <p:nvPr/>
        </p:nvSpPr>
        <p:spPr>
          <a:xfrm>
            <a:off x="587181" y="4813664"/>
            <a:ext cx="3564579" cy="646331"/>
          </a:xfrm>
          <a:prstGeom prst="rect">
            <a:avLst/>
          </a:prstGeom>
          <a:noFill/>
        </p:spPr>
        <p:txBody>
          <a:bodyPr wrap="square">
            <a:spAutoFit/>
          </a:bodyPr>
          <a:lstStyle/>
          <a:p>
            <a:r>
              <a:rPr lang="en-US" b="1" i="0" dirty="0">
                <a:solidFill>
                  <a:schemeClr val="bg1"/>
                </a:solidFill>
                <a:effectLst/>
                <a:latin typeface="__GeistSans_3a0388"/>
              </a:rPr>
              <a:t>Transaction Information requirements</a:t>
            </a:r>
            <a:endParaRPr lang="en-US" b="1" dirty="0">
              <a:solidFill>
                <a:schemeClr val="bg1"/>
              </a:solidFill>
            </a:endParaRPr>
          </a:p>
        </p:txBody>
      </p:sp>
      <p:sp>
        <p:nvSpPr>
          <p:cNvPr id="25" name="TextBox 24">
            <a:extLst>
              <a:ext uri="{FF2B5EF4-FFF2-40B4-BE49-F238E27FC236}">
                <a16:creationId xmlns:a16="http://schemas.microsoft.com/office/drawing/2014/main" id="{FC70C42C-78AE-499A-9A76-EC5F32F465D8}"/>
              </a:ext>
            </a:extLst>
          </p:cNvPr>
          <p:cNvSpPr txBox="1"/>
          <p:nvPr/>
        </p:nvSpPr>
        <p:spPr>
          <a:xfrm>
            <a:off x="4605040" y="4848502"/>
            <a:ext cx="3284170" cy="646331"/>
          </a:xfrm>
          <a:prstGeom prst="rect">
            <a:avLst/>
          </a:prstGeom>
          <a:noFill/>
        </p:spPr>
        <p:txBody>
          <a:bodyPr wrap="square">
            <a:spAutoFit/>
          </a:bodyPr>
          <a:lstStyle/>
          <a:p>
            <a:r>
              <a:rPr lang="en-US" b="1" i="0" dirty="0">
                <a:solidFill>
                  <a:schemeClr val="bg1"/>
                </a:solidFill>
                <a:effectLst/>
                <a:latin typeface="__GeistSans_3a0388"/>
              </a:rPr>
              <a:t>Requirements of Budget Information</a:t>
            </a:r>
            <a:endParaRPr lang="en-US" b="1" dirty="0">
              <a:solidFill>
                <a:schemeClr val="bg1"/>
              </a:solidFill>
            </a:endParaRPr>
          </a:p>
        </p:txBody>
      </p:sp>
      <p:sp>
        <p:nvSpPr>
          <p:cNvPr id="29" name="TextBox 28">
            <a:extLst>
              <a:ext uri="{FF2B5EF4-FFF2-40B4-BE49-F238E27FC236}">
                <a16:creationId xmlns:a16="http://schemas.microsoft.com/office/drawing/2014/main" id="{593BFAEE-E5E8-4C8E-B45A-A456CE5B69A5}"/>
              </a:ext>
            </a:extLst>
          </p:cNvPr>
          <p:cNvSpPr txBox="1"/>
          <p:nvPr/>
        </p:nvSpPr>
        <p:spPr>
          <a:xfrm>
            <a:off x="502952" y="2658570"/>
            <a:ext cx="3410328" cy="646331"/>
          </a:xfrm>
          <a:prstGeom prst="rect">
            <a:avLst/>
          </a:prstGeom>
          <a:noFill/>
        </p:spPr>
        <p:txBody>
          <a:bodyPr wrap="square">
            <a:spAutoFit/>
          </a:bodyPr>
          <a:lstStyle/>
          <a:p>
            <a:r>
              <a:rPr lang="en-US" b="0" i="0" dirty="0">
                <a:solidFill>
                  <a:schemeClr val="bg1"/>
                </a:solidFill>
                <a:effectLst/>
                <a:latin typeface="__GeistSans_3a0388"/>
              </a:rPr>
              <a:t>Monitors and follows every incoming money</a:t>
            </a:r>
            <a:r>
              <a:rPr lang="en-US" dirty="0">
                <a:solidFill>
                  <a:schemeClr val="bg1"/>
                </a:solidFill>
              </a:rPr>
              <a:t>.</a:t>
            </a:r>
          </a:p>
        </p:txBody>
      </p:sp>
      <p:sp>
        <p:nvSpPr>
          <p:cNvPr id="33" name="TextBox 32">
            <a:extLst>
              <a:ext uri="{FF2B5EF4-FFF2-40B4-BE49-F238E27FC236}">
                <a16:creationId xmlns:a16="http://schemas.microsoft.com/office/drawing/2014/main" id="{30FF9BD7-2DA3-4282-B60D-17180C2F6B81}"/>
              </a:ext>
            </a:extLst>
          </p:cNvPr>
          <p:cNvSpPr txBox="1"/>
          <p:nvPr/>
        </p:nvSpPr>
        <p:spPr>
          <a:xfrm>
            <a:off x="4546177" y="2629084"/>
            <a:ext cx="3452015" cy="646331"/>
          </a:xfrm>
          <a:prstGeom prst="rect">
            <a:avLst/>
          </a:prstGeom>
          <a:noFill/>
        </p:spPr>
        <p:txBody>
          <a:bodyPr wrap="square">
            <a:spAutoFit/>
          </a:bodyPr>
          <a:lstStyle/>
          <a:p>
            <a:r>
              <a:rPr lang="en-US" b="0" i="0" dirty="0">
                <a:solidFill>
                  <a:schemeClr val="bg1"/>
                </a:solidFill>
                <a:effectLst/>
                <a:latin typeface="__GeistSans_3a0388"/>
              </a:rPr>
              <a:t>Monitors and checks all expenditure made out.</a:t>
            </a:r>
            <a:endParaRPr lang="en-US" dirty="0">
              <a:solidFill>
                <a:schemeClr val="bg1"/>
              </a:solidFill>
            </a:endParaRPr>
          </a:p>
        </p:txBody>
      </p:sp>
      <p:sp>
        <p:nvSpPr>
          <p:cNvPr id="37" name="TextBox 36">
            <a:extLst>
              <a:ext uri="{FF2B5EF4-FFF2-40B4-BE49-F238E27FC236}">
                <a16:creationId xmlns:a16="http://schemas.microsoft.com/office/drawing/2014/main" id="{22282901-2ACB-4C77-A883-5C3D18E58047}"/>
              </a:ext>
            </a:extLst>
          </p:cNvPr>
          <p:cNvSpPr txBox="1"/>
          <p:nvPr/>
        </p:nvSpPr>
        <p:spPr>
          <a:xfrm>
            <a:off x="502952" y="5471302"/>
            <a:ext cx="3735161" cy="646331"/>
          </a:xfrm>
          <a:prstGeom prst="rect">
            <a:avLst/>
          </a:prstGeom>
          <a:noFill/>
        </p:spPr>
        <p:txBody>
          <a:bodyPr wrap="square">
            <a:spAutoFit/>
          </a:bodyPr>
          <a:lstStyle/>
          <a:p>
            <a:r>
              <a:rPr lang="en-US" b="0" i="0" dirty="0">
                <a:solidFill>
                  <a:schemeClr val="bg1"/>
                </a:solidFill>
                <a:effectLst/>
                <a:latin typeface="__GeistSans_3a0388"/>
              </a:rPr>
              <a:t>It needs elaborate transactional records to be analyzed.</a:t>
            </a:r>
            <a:endParaRPr lang="en-US" dirty="0">
              <a:solidFill>
                <a:schemeClr val="bg1"/>
              </a:solidFill>
            </a:endParaRPr>
          </a:p>
        </p:txBody>
      </p:sp>
      <p:sp>
        <p:nvSpPr>
          <p:cNvPr id="41" name="TextBox 40">
            <a:extLst>
              <a:ext uri="{FF2B5EF4-FFF2-40B4-BE49-F238E27FC236}">
                <a16:creationId xmlns:a16="http://schemas.microsoft.com/office/drawing/2014/main" id="{E2BC4D46-948D-49B7-836E-8D3CA42FAFD6}"/>
              </a:ext>
            </a:extLst>
          </p:cNvPr>
          <p:cNvSpPr txBox="1"/>
          <p:nvPr/>
        </p:nvSpPr>
        <p:spPr>
          <a:xfrm>
            <a:off x="4726058" y="5483526"/>
            <a:ext cx="3360298" cy="646331"/>
          </a:xfrm>
          <a:prstGeom prst="rect">
            <a:avLst/>
          </a:prstGeom>
          <a:noFill/>
        </p:spPr>
        <p:txBody>
          <a:bodyPr wrap="square">
            <a:spAutoFit/>
          </a:bodyPr>
          <a:lstStyle/>
          <a:p>
            <a:r>
              <a:rPr lang="en-US" b="0" i="0" dirty="0">
                <a:solidFill>
                  <a:schemeClr val="bg1"/>
                </a:solidFill>
                <a:effectLst/>
                <a:latin typeface="__GeistSans_3a0388"/>
              </a:rPr>
              <a:t>Basing on budget data to prepare financial plans.</a:t>
            </a:r>
            <a:endParaRPr lang="en-US" dirty="0">
              <a:solidFill>
                <a:schemeClr val="bg1"/>
              </a:solidFill>
            </a:endParaRPr>
          </a:p>
        </p:txBody>
      </p:sp>
    </p:spTree>
    <p:extLst>
      <p:ext uri="{BB962C8B-B14F-4D97-AF65-F5344CB8AC3E}">
        <p14:creationId xmlns:p14="http://schemas.microsoft.com/office/powerpoint/2010/main" val="342785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 and white photo">
            <a:extLst>
              <a:ext uri="{FF2B5EF4-FFF2-40B4-BE49-F238E27FC236}">
                <a16:creationId xmlns:a16="http://schemas.microsoft.com/office/drawing/2014/main" id="{F57B08D7-BEA9-FC75-C442-0176A6823C67}"/>
              </a:ext>
            </a:extLst>
          </p:cNvPr>
          <p:cNvPicPr/>
          <p:nvPr/>
        </p:nvPicPr>
        <p:blipFill>
          <a:blip r:embed="rId2">
            <a:biLevel thresh="75000"/>
            <a:extLst>
              <a:ext uri="{BEBA8EAE-BF5A-486C-A8C5-ECC9F3942E4B}">
                <a14:imgProps xmlns:a14="http://schemas.microsoft.com/office/drawing/2010/main">
                  <a14:imgLayer r:embed="rId3">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sp>
        <p:nvSpPr>
          <p:cNvPr id="5" name="TextBox 4">
            <a:extLst>
              <a:ext uri="{FF2B5EF4-FFF2-40B4-BE49-F238E27FC236}">
                <a16:creationId xmlns:a16="http://schemas.microsoft.com/office/drawing/2014/main" id="{FEFCDB12-6F55-47F2-AD36-40509E0CA574}"/>
              </a:ext>
            </a:extLst>
          </p:cNvPr>
          <p:cNvSpPr txBox="1"/>
          <p:nvPr/>
        </p:nvSpPr>
        <p:spPr>
          <a:xfrm>
            <a:off x="502709" y="45335"/>
            <a:ext cx="10746028" cy="707886"/>
          </a:xfrm>
          <a:prstGeom prst="rect">
            <a:avLst/>
          </a:prstGeom>
          <a:noFill/>
        </p:spPr>
        <p:txBody>
          <a:bodyPr wrap="square">
            <a:spAutoFit/>
          </a:bodyPr>
          <a:lstStyle/>
          <a:p>
            <a:r>
              <a:rPr lang="en-US" sz="4000" b="1" i="0" dirty="0">
                <a:solidFill>
                  <a:schemeClr val="bg1"/>
                </a:solidFill>
                <a:effectLst/>
                <a:latin typeface="__GeistSans_3a0388"/>
              </a:rPr>
              <a:t>Pizza Hut marketing strategies</a:t>
            </a:r>
            <a:endParaRPr lang="en-US" sz="4000" b="1" dirty="0">
              <a:solidFill>
                <a:schemeClr val="bg1"/>
              </a:solidFill>
            </a:endParaRPr>
          </a:p>
        </p:txBody>
      </p:sp>
      <p:sp>
        <p:nvSpPr>
          <p:cNvPr id="7" name="TextBox 6">
            <a:extLst>
              <a:ext uri="{FF2B5EF4-FFF2-40B4-BE49-F238E27FC236}">
                <a16:creationId xmlns:a16="http://schemas.microsoft.com/office/drawing/2014/main" id="{5EF23746-AE96-41F6-B345-D7E5C3DB6829}"/>
              </a:ext>
            </a:extLst>
          </p:cNvPr>
          <p:cNvSpPr txBox="1"/>
          <p:nvPr/>
        </p:nvSpPr>
        <p:spPr>
          <a:xfrm>
            <a:off x="502709" y="662258"/>
            <a:ext cx="8315325" cy="369332"/>
          </a:xfrm>
          <a:prstGeom prst="rect">
            <a:avLst/>
          </a:prstGeom>
          <a:noFill/>
        </p:spPr>
        <p:txBody>
          <a:bodyPr wrap="square">
            <a:spAutoFit/>
          </a:bodyPr>
          <a:lstStyle/>
          <a:p>
            <a:r>
              <a:rPr lang="en-US" b="0" i="0" dirty="0">
                <a:solidFill>
                  <a:schemeClr val="bg1"/>
                </a:solidFill>
                <a:effectLst/>
                <a:latin typeface="__GeistSans_3a0388"/>
              </a:rPr>
              <a:t>The brief about the role of the marketing department and information needs</a:t>
            </a:r>
            <a:endParaRPr lang="en-US" dirty="0">
              <a:solidFill>
                <a:schemeClr val="bg1"/>
              </a:solidFill>
            </a:endParaRPr>
          </a:p>
        </p:txBody>
      </p:sp>
      <p:sp>
        <p:nvSpPr>
          <p:cNvPr id="11" name="TextBox 10">
            <a:extLst>
              <a:ext uri="{FF2B5EF4-FFF2-40B4-BE49-F238E27FC236}">
                <a16:creationId xmlns:a16="http://schemas.microsoft.com/office/drawing/2014/main" id="{EB1B9808-DACB-4CF1-9A14-2449E417B758}"/>
              </a:ext>
            </a:extLst>
          </p:cNvPr>
          <p:cNvSpPr txBox="1"/>
          <p:nvPr/>
        </p:nvSpPr>
        <p:spPr>
          <a:xfrm>
            <a:off x="755195" y="1144824"/>
            <a:ext cx="6098720" cy="369332"/>
          </a:xfrm>
          <a:prstGeom prst="rect">
            <a:avLst/>
          </a:prstGeom>
          <a:noFill/>
        </p:spPr>
        <p:txBody>
          <a:bodyPr wrap="square">
            <a:spAutoFit/>
          </a:bodyPr>
          <a:lstStyle/>
          <a:p>
            <a:r>
              <a:rPr lang="en-US" b="1" dirty="0">
                <a:solidFill>
                  <a:schemeClr val="bg1"/>
                </a:solidFill>
              </a:rPr>
              <a:t>Strategies for Promotion</a:t>
            </a:r>
          </a:p>
        </p:txBody>
      </p:sp>
      <p:sp>
        <p:nvSpPr>
          <p:cNvPr id="13" name="TextBox 12">
            <a:extLst>
              <a:ext uri="{FF2B5EF4-FFF2-40B4-BE49-F238E27FC236}">
                <a16:creationId xmlns:a16="http://schemas.microsoft.com/office/drawing/2014/main" id="{18896CB4-20A8-4E1C-B727-C4433D89B6C8}"/>
              </a:ext>
            </a:extLst>
          </p:cNvPr>
          <p:cNvSpPr txBox="1"/>
          <p:nvPr/>
        </p:nvSpPr>
        <p:spPr>
          <a:xfrm>
            <a:off x="755195" y="1555235"/>
            <a:ext cx="11234056" cy="646331"/>
          </a:xfrm>
          <a:prstGeom prst="rect">
            <a:avLst/>
          </a:prstGeom>
          <a:noFill/>
        </p:spPr>
        <p:txBody>
          <a:bodyPr wrap="square">
            <a:spAutoFit/>
          </a:bodyPr>
          <a:lstStyle/>
          <a:p>
            <a:pPr algn="l"/>
            <a:r>
              <a:rPr lang="en-US" b="0" i="0" dirty="0">
                <a:solidFill>
                  <a:schemeClr val="bg1"/>
                </a:solidFill>
                <a:effectLst/>
                <a:latin typeface="__GeistSans_3a0388"/>
              </a:rPr>
              <a:t>The Marketing Department concentrates on the effectiveness of the promotion of the Pizza Hut menu so that all promotion materials could correspond to the customer preferences and tendencies.</a:t>
            </a:r>
            <a:endParaRPr lang="en-US" b="0" i="0" dirty="0">
              <a:solidFill>
                <a:schemeClr val="bg1"/>
              </a:solidFill>
              <a:effectLst/>
              <a:latin typeface="Inter"/>
            </a:endParaRPr>
          </a:p>
        </p:txBody>
      </p:sp>
      <p:sp>
        <p:nvSpPr>
          <p:cNvPr id="17" name="TextBox 16">
            <a:extLst>
              <a:ext uri="{FF2B5EF4-FFF2-40B4-BE49-F238E27FC236}">
                <a16:creationId xmlns:a16="http://schemas.microsoft.com/office/drawing/2014/main" id="{A85DAB4F-6C30-45BF-877C-3A37037E2AF3}"/>
              </a:ext>
            </a:extLst>
          </p:cNvPr>
          <p:cNvSpPr txBox="1"/>
          <p:nvPr/>
        </p:nvSpPr>
        <p:spPr>
          <a:xfrm>
            <a:off x="771521" y="2236821"/>
            <a:ext cx="6098720" cy="369332"/>
          </a:xfrm>
          <a:prstGeom prst="rect">
            <a:avLst/>
          </a:prstGeom>
          <a:noFill/>
        </p:spPr>
        <p:txBody>
          <a:bodyPr wrap="square">
            <a:spAutoFit/>
          </a:bodyPr>
          <a:lstStyle/>
          <a:p>
            <a:r>
              <a:rPr lang="en-US" b="1" dirty="0">
                <a:solidFill>
                  <a:schemeClr val="bg1"/>
                </a:solidFill>
              </a:rPr>
              <a:t>Customer Feedback</a:t>
            </a:r>
          </a:p>
        </p:txBody>
      </p:sp>
      <p:sp>
        <p:nvSpPr>
          <p:cNvPr id="19" name="TextBox 18">
            <a:extLst>
              <a:ext uri="{FF2B5EF4-FFF2-40B4-BE49-F238E27FC236}">
                <a16:creationId xmlns:a16="http://schemas.microsoft.com/office/drawing/2014/main" id="{2826AC76-5E49-4D7E-8135-450383244687}"/>
              </a:ext>
            </a:extLst>
          </p:cNvPr>
          <p:cNvSpPr txBox="1"/>
          <p:nvPr/>
        </p:nvSpPr>
        <p:spPr>
          <a:xfrm>
            <a:off x="771521" y="2591731"/>
            <a:ext cx="11234056" cy="646331"/>
          </a:xfrm>
          <a:prstGeom prst="rect">
            <a:avLst/>
          </a:prstGeom>
          <a:noFill/>
        </p:spPr>
        <p:txBody>
          <a:bodyPr wrap="square">
            <a:spAutoFit/>
          </a:bodyPr>
          <a:lstStyle/>
          <a:p>
            <a:pPr algn="l"/>
            <a:r>
              <a:rPr lang="en-US" b="0" i="0" dirty="0">
                <a:solidFill>
                  <a:schemeClr val="bg1"/>
                </a:solidFill>
                <a:effectLst/>
                <a:latin typeface="__GeistSans_3a0388"/>
              </a:rPr>
              <a:t>The department focuses on the significance of the customer feedback in order to customize marketing campaigns. The information is useful in modifying approaches that favor customer expectations and perceptions</a:t>
            </a:r>
            <a:r>
              <a:rPr lang="en-US" b="0" i="0" dirty="0">
                <a:solidFill>
                  <a:schemeClr val="bg1"/>
                </a:solidFill>
                <a:effectLst/>
                <a:latin typeface="Inter"/>
              </a:rPr>
              <a:t>.</a:t>
            </a:r>
          </a:p>
        </p:txBody>
      </p:sp>
      <p:sp>
        <p:nvSpPr>
          <p:cNvPr id="23" name="TextBox 22">
            <a:extLst>
              <a:ext uri="{FF2B5EF4-FFF2-40B4-BE49-F238E27FC236}">
                <a16:creationId xmlns:a16="http://schemas.microsoft.com/office/drawing/2014/main" id="{453584DE-247F-40FF-9085-0FA3539C3A64}"/>
              </a:ext>
            </a:extLst>
          </p:cNvPr>
          <p:cNvSpPr txBox="1"/>
          <p:nvPr/>
        </p:nvSpPr>
        <p:spPr>
          <a:xfrm>
            <a:off x="771521" y="3273974"/>
            <a:ext cx="6098720" cy="369332"/>
          </a:xfrm>
          <a:prstGeom prst="rect">
            <a:avLst/>
          </a:prstGeom>
          <a:noFill/>
        </p:spPr>
        <p:txBody>
          <a:bodyPr wrap="square">
            <a:spAutoFit/>
          </a:bodyPr>
          <a:lstStyle/>
          <a:p>
            <a:r>
              <a:rPr lang="en-US" b="1" dirty="0">
                <a:solidFill>
                  <a:schemeClr val="bg1"/>
                </a:solidFill>
              </a:rPr>
              <a:t>Trends in the Market</a:t>
            </a:r>
          </a:p>
        </p:txBody>
      </p:sp>
      <p:sp>
        <p:nvSpPr>
          <p:cNvPr id="27" name="TextBox 26">
            <a:extLst>
              <a:ext uri="{FF2B5EF4-FFF2-40B4-BE49-F238E27FC236}">
                <a16:creationId xmlns:a16="http://schemas.microsoft.com/office/drawing/2014/main" id="{C66D3A0B-4A1D-43A6-AD6E-C175A66C4020}"/>
              </a:ext>
            </a:extLst>
          </p:cNvPr>
          <p:cNvSpPr txBox="1"/>
          <p:nvPr/>
        </p:nvSpPr>
        <p:spPr>
          <a:xfrm>
            <a:off x="755195" y="3618189"/>
            <a:ext cx="11234056" cy="646331"/>
          </a:xfrm>
          <a:prstGeom prst="rect">
            <a:avLst/>
          </a:prstGeom>
          <a:noFill/>
        </p:spPr>
        <p:txBody>
          <a:bodyPr wrap="square">
            <a:spAutoFit/>
          </a:bodyPr>
          <a:lstStyle/>
          <a:p>
            <a:r>
              <a:rPr lang="en-US" b="0" i="0" dirty="0">
                <a:solidFill>
                  <a:schemeClr val="bg1"/>
                </a:solidFill>
                <a:effectLst/>
                <a:latin typeface="__GeistSans_3a0388"/>
              </a:rPr>
              <a:t>Market trends are very essential to develop the relevant advertisement strategies. The department produces a constant analysis of data to keep up with the competition in the fast-food market.</a:t>
            </a:r>
            <a:endParaRPr lang="en-US" dirty="0">
              <a:solidFill>
                <a:schemeClr val="bg1"/>
              </a:solidFill>
            </a:endParaRPr>
          </a:p>
        </p:txBody>
      </p:sp>
      <p:sp>
        <p:nvSpPr>
          <p:cNvPr id="31" name="TextBox 30">
            <a:extLst>
              <a:ext uri="{FF2B5EF4-FFF2-40B4-BE49-F238E27FC236}">
                <a16:creationId xmlns:a16="http://schemas.microsoft.com/office/drawing/2014/main" id="{4DC12BC0-C31A-4C0F-8B3E-7A503427EC74}"/>
              </a:ext>
            </a:extLst>
          </p:cNvPr>
          <p:cNvSpPr txBox="1"/>
          <p:nvPr/>
        </p:nvSpPr>
        <p:spPr>
          <a:xfrm>
            <a:off x="755195" y="4361896"/>
            <a:ext cx="6098720" cy="369332"/>
          </a:xfrm>
          <a:prstGeom prst="rect">
            <a:avLst/>
          </a:prstGeom>
          <a:noFill/>
        </p:spPr>
        <p:txBody>
          <a:bodyPr wrap="square">
            <a:spAutoFit/>
          </a:bodyPr>
          <a:lstStyle/>
          <a:p>
            <a:r>
              <a:rPr lang="en-US" b="1" dirty="0">
                <a:solidFill>
                  <a:schemeClr val="bg1"/>
                </a:solidFill>
              </a:rPr>
              <a:t>Successful Campaigns</a:t>
            </a:r>
          </a:p>
        </p:txBody>
      </p:sp>
      <p:sp>
        <p:nvSpPr>
          <p:cNvPr id="33" name="TextBox 32">
            <a:extLst>
              <a:ext uri="{FF2B5EF4-FFF2-40B4-BE49-F238E27FC236}">
                <a16:creationId xmlns:a16="http://schemas.microsoft.com/office/drawing/2014/main" id="{8B8C9F96-F2AB-4E43-8AEC-A8BF2E70314D}"/>
              </a:ext>
            </a:extLst>
          </p:cNvPr>
          <p:cNvSpPr txBox="1"/>
          <p:nvPr/>
        </p:nvSpPr>
        <p:spPr>
          <a:xfrm>
            <a:off x="755195" y="4698664"/>
            <a:ext cx="11234056" cy="646331"/>
          </a:xfrm>
          <a:prstGeom prst="rect">
            <a:avLst/>
          </a:prstGeom>
          <a:noFill/>
        </p:spPr>
        <p:txBody>
          <a:bodyPr wrap="square">
            <a:spAutoFit/>
          </a:bodyPr>
          <a:lstStyle/>
          <a:p>
            <a:pPr algn="l"/>
            <a:r>
              <a:rPr lang="en-US" b="0" i="0" dirty="0">
                <a:solidFill>
                  <a:schemeClr val="bg1"/>
                </a:solidFill>
                <a:effectLst/>
                <a:latin typeface="__GeistSans_3a0388"/>
              </a:rPr>
              <a:t>Based on collected data, the marketing unit designs effective campaigns that are aiming at reaching a wider audience and increasing the number of customers interacting with the brand directly.</a:t>
            </a:r>
            <a:endParaRPr lang="en-US" b="0" i="0" dirty="0">
              <a:solidFill>
                <a:schemeClr val="bg1"/>
              </a:solidFill>
              <a:effectLst/>
              <a:latin typeface="Inter"/>
            </a:endParaRPr>
          </a:p>
        </p:txBody>
      </p:sp>
      <p:sp>
        <p:nvSpPr>
          <p:cNvPr id="37" name="TextBox 36">
            <a:extLst>
              <a:ext uri="{FF2B5EF4-FFF2-40B4-BE49-F238E27FC236}">
                <a16:creationId xmlns:a16="http://schemas.microsoft.com/office/drawing/2014/main" id="{B3EAD4EB-96A9-4582-B0B8-1A9298F805F3}"/>
              </a:ext>
            </a:extLst>
          </p:cNvPr>
          <p:cNvSpPr txBox="1"/>
          <p:nvPr/>
        </p:nvSpPr>
        <p:spPr>
          <a:xfrm>
            <a:off x="755195" y="5410716"/>
            <a:ext cx="6098720" cy="369332"/>
          </a:xfrm>
          <a:prstGeom prst="rect">
            <a:avLst/>
          </a:prstGeom>
          <a:noFill/>
        </p:spPr>
        <p:txBody>
          <a:bodyPr wrap="square">
            <a:spAutoFit/>
          </a:bodyPr>
          <a:lstStyle/>
          <a:p>
            <a:r>
              <a:rPr lang="en-US" b="1" dirty="0">
                <a:solidFill>
                  <a:schemeClr val="bg1"/>
                </a:solidFill>
              </a:rPr>
              <a:t>Growth in Sales</a:t>
            </a:r>
          </a:p>
        </p:txBody>
      </p:sp>
      <p:sp>
        <p:nvSpPr>
          <p:cNvPr id="39" name="TextBox 38">
            <a:extLst>
              <a:ext uri="{FF2B5EF4-FFF2-40B4-BE49-F238E27FC236}">
                <a16:creationId xmlns:a16="http://schemas.microsoft.com/office/drawing/2014/main" id="{C910020C-602B-400D-A204-A313621EB948}"/>
              </a:ext>
            </a:extLst>
          </p:cNvPr>
          <p:cNvSpPr txBox="1"/>
          <p:nvPr/>
        </p:nvSpPr>
        <p:spPr>
          <a:xfrm>
            <a:off x="755195" y="5775197"/>
            <a:ext cx="11234056" cy="646331"/>
          </a:xfrm>
          <a:prstGeom prst="rect">
            <a:avLst/>
          </a:prstGeom>
          <a:noFill/>
        </p:spPr>
        <p:txBody>
          <a:bodyPr wrap="square">
            <a:spAutoFit/>
          </a:bodyPr>
          <a:lstStyle/>
          <a:p>
            <a:pPr algn="l"/>
            <a:r>
              <a:rPr lang="en-US" b="0" i="0" dirty="0">
                <a:solidFill>
                  <a:schemeClr val="bg1"/>
                </a:solidFill>
                <a:effectLst/>
                <a:latin typeface="__GeistSans_3a0388"/>
              </a:rPr>
              <a:t>The mission of the department is, in its turn, to catalyze the growth of sales, using creative marketing methods which will emphasize what is special about the menu items offered by Pizza Hut.</a:t>
            </a:r>
            <a:endParaRPr lang="en-US" b="0" i="0" dirty="0">
              <a:solidFill>
                <a:schemeClr val="bg1"/>
              </a:solidFill>
              <a:effectLst/>
              <a:latin typeface="Inter"/>
            </a:endParaRPr>
          </a:p>
        </p:txBody>
      </p:sp>
      <p:sp>
        <p:nvSpPr>
          <p:cNvPr id="10" name="Rectangle: Rounded Corners 9">
            <a:extLst>
              <a:ext uri="{FF2B5EF4-FFF2-40B4-BE49-F238E27FC236}">
                <a16:creationId xmlns:a16="http://schemas.microsoft.com/office/drawing/2014/main" id="{46E1B23F-2DD6-A4DE-C66D-617230575A75}"/>
              </a:ext>
            </a:extLst>
          </p:cNvPr>
          <p:cNvSpPr/>
          <p:nvPr/>
        </p:nvSpPr>
        <p:spPr>
          <a:xfrm>
            <a:off x="486383" y="1166728"/>
            <a:ext cx="268812" cy="280912"/>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12" name="Rectangle: Rounded Corners 11">
            <a:extLst>
              <a:ext uri="{FF2B5EF4-FFF2-40B4-BE49-F238E27FC236}">
                <a16:creationId xmlns:a16="http://schemas.microsoft.com/office/drawing/2014/main" id="{D0594A93-1E3C-DAAD-3202-8A2425F6B8AD}"/>
              </a:ext>
            </a:extLst>
          </p:cNvPr>
          <p:cNvSpPr/>
          <p:nvPr/>
        </p:nvSpPr>
        <p:spPr>
          <a:xfrm>
            <a:off x="486383" y="2310819"/>
            <a:ext cx="268812" cy="280912"/>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14" name="Rectangle: Rounded Corners 13">
            <a:extLst>
              <a:ext uri="{FF2B5EF4-FFF2-40B4-BE49-F238E27FC236}">
                <a16:creationId xmlns:a16="http://schemas.microsoft.com/office/drawing/2014/main" id="{0CF3047A-93B2-A3E1-2F3A-AAEB080F3107}"/>
              </a:ext>
            </a:extLst>
          </p:cNvPr>
          <p:cNvSpPr/>
          <p:nvPr/>
        </p:nvSpPr>
        <p:spPr>
          <a:xfrm>
            <a:off x="481472" y="3337277"/>
            <a:ext cx="268812" cy="280912"/>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15" name="Rectangle: Rounded Corners 14">
            <a:extLst>
              <a:ext uri="{FF2B5EF4-FFF2-40B4-BE49-F238E27FC236}">
                <a16:creationId xmlns:a16="http://schemas.microsoft.com/office/drawing/2014/main" id="{AAA99127-1E55-3C0F-93F6-7D8EA2C0415A}"/>
              </a:ext>
            </a:extLst>
          </p:cNvPr>
          <p:cNvSpPr/>
          <p:nvPr/>
        </p:nvSpPr>
        <p:spPr>
          <a:xfrm>
            <a:off x="486383" y="4410261"/>
            <a:ext cx="268812" cy="280912"/>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16" name="Rectangle: Rounded Corners 15">
            <a:extLst>
              <a:ext uri="{FF2B5EF4-FFF2-40B4-BE49-F238E27FC236}">
                <a16:creationId xmlns:a16="http://schemas.microsoft.com/office/drawing/2014/main" id="{6A9960D5-89CF-C89F-8D56-CEAA89C8722E}"/>
              </a:ext>
            </a:extLst>
          </p:cNvPr>
          <p:cNvSpPr/>
          <p:nvPr/>
        </p:nvSpPr>
        <p:spPr>
          <a:xfrm>
            <a:off x="502709" y="5483245"/>
            <a:ext cx="268812" cy="280912"/>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cxnSp>
        <p:nvCxnSpPr>
          <p:cNvPr id="20" name="Straight Connector 19">
            <a:extLst>
              <a:ext uri="{FF2B5EF4-FFF2-40B4-BE49-F238E27FC236}">
                <a16:creationId xmlns:a16="http://schemas.microsoft.com/office/drawing/2014/main" id="{343C4415-559E-9013-6DCE-D43BF41CE1AE}"/>
              </a:ext>
            </a:extLst>
          </p:cNvPr>
          <p:cNvCxnSpPr>
            <a:stCxn id="10" idx="2"/>
            <a:endCxn id="12" idx="0"/>
          </p:cNvCxnSpPr>
          <p:nvPr/>
        </p:nvCxnSpPr>
        <p:spPr>
          <a:xfrm>
            <a:off x="620789" y="1447640"/>
            <a:ext cx="0" cy="863179"/>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C12A08F5-F4B8-115F-9F06-F0BC0041D36D}"/>
              </a:ext>
            </a:extLst>
          </p:cNvPr>
          <p:cNvCxnSpPr>
            <a:stCxn id="12" idx="2"/>
            <a:endCxn id="14" idx="0"/>
          </p:cNvCxnSpPr>
          <p:nvPr/>
        </p:nvCxnSpPr>
        <p:spPr>
          <a:xfrm flipH="1">
            <a:off x="615878" y="2591731"/>
            <a:ext cx="4911" cy="745546"/>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3602E351-21E8-3B8F-BF7A-B6243F8A2818}"/>
              </a:ext>
            </a:extLst>
          </p:cNvPr>
          <p:cNvCxnSpPr>
            <a:stCxn id="14" idx="2"/>
            <a:endCxn id="15" idx="0"/>
          </p:cNvCxnSpPr>
          <p:nvPr/>
        </p:nvCxnSpPr>
        <p:spPr>
          <a:xfrm>
            <a:off x="615878" y="3618189"/>
            <a:ext cx="4911" cy="792072"/>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2161B26E-8ABB-53F7-963A-88ED1B2FBCAC}"/>
              </a:ext>
            </a:extLst>
          </p:cNvPr>
          <p:cNvCxnSpPr>
            <a:stCxn id="15" idx="2"/>
            <a:endCxn id="16" idx="0"/>
          </p:cNvCxnSpPr>
          <p:nvPr/>
        </p:nvCxnSpPr>
        <p:spPr>
          <a:xfrm>
            <a:off x="620789" y="4691173"/>
            <a:ext cx="16326" cy="792072"/>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6104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and white photo">
            <a:extLst>
              <a:ext uri="{FF2B5EF4-FFF2-40B4-BE49-F238E27FC236}">
                <a16:creationId xmlns:a16="http://schemas.microsoft.com/office/drawing/2014/main" id="{C9E064E8-73AC-977C-7AC1-B164DAE05A3F}"/>
              </a:ext>
            </a:extLst>
          </p:cNvPr>
          <p:cNvPicPr/>
          <p:nvPr/>
        </p:nvPicPr>
        <p:blipFill>
          <a:blip r:embed="rId2">
            <a:biLevel thresh="75000"/>
            <a:extLst>
              <a:ext uri="{BEBA8EAE-BF5A-486C-A8C5-ECC9F3942E4B}">
                <a14:imgProps xmlns:a14="http://schemas.microsoft.com/office/drawing/2010/main">
                  <a14:imgLayer r:embed="rId3">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sp>
        <p:nvSpPr>
          <p:cNvPr id="5" name="TextBox 4">
            <a:extLst>
              <a:ext uri="{FF2B5EF4-FFF2-40B4-BE49-F238E27FC236}">
                <a16:creationId xmlns:a16="http://schemas.microsoft.com/office/drawing/2014/main" id="{FC715056-2432-4D7D-B473-9BC36C21C874}"/>
              </a:ext>
            </a:extLst>
          </p:cNvPr>
          <p:cNvSpPr txBox="1"/>
          <p:nvPr/>
        </p:nvSpPr>
        <p:spPr>
          <a:xfrm>
            <a:off x="282102" y="1048"/>
            <a:ext cx="12976698" cy="707886"/>
          </a:xfrm>
          <a:prstGeom prst="rect">
            <a:avLst/>
          </a:prstGeom>
          <a:noFill/>
        </p:spPr>
        <p:txBody>
          <a:bodyPr wrap="square">
            <a:spAutoFit/>
          </a:bodyPr>
          <a:lstStyle/>
          <a:p>
            <a:r>
              <a:rPr lang="en-US" sz="4000" b="1" i="0" dirty="0">
                <a:solidFill>
                  <a:schemeClr val="bg1"/>
                </a:solidFill>
                <a:effectLst/>
                <a:latin typeface="+mj-lt"/>
              </a:rPr>
              <a:t>Profile of Pizza Hut Sri Lanka IT Department operations</a:t>
            </a:r>
            <a:endParaRPr lang="en-US" sz="4000" b="1" dirty="0">
              <a:solidFill>
                <a:schemeClr val="bg1"/>
              </a:solidFill>
              <a:latin typeface="+mj-lt"/>
            </a:endParaRPr>
          </a:p>
        </p:txBody>
      </p:sp>
      <p:sp>
        <p:nvSpPr>
          <p:cNvPr id="9" name="TextBox 8">
            <a:extLst>
              <a:ext uri="{FF2B5EF4-FFF2-40B4-BE49-F238E27FC236}">
                <a16:creationId xmlns:a16="http://schemas.microsoft.com/office/drawing/2014/main" id="{B038705D-E967-4563-9B62-9EFF6FB1AE26}"/>
              </a:ext>
            </a:extLst>
          </p:cNvPr>
          <p:cNvSpPr txBox="1"/>
          <p:nvPr/>
        </p:nvSpPr>
        <p:spPr>
          <a:xfrm>
            <a:off x="282102" y="632175"/>
            <a:ext cx="10450286" cy="369332"/>
          </a:xfrm>
          <a:prstGeom prst="rect">
            <a:avLst/>
          </a:prstGeom>
          <a:noFill/>
        </p:spPr>
        <p:txBody>
          <a:bodyPr wrap="square">
            <a:spAutoFit/>
          </a:bodyPr>
          <a:lstStyle/>
          <a:p>
            <a:r>
              <a:rPr lang="en-US" b="0" i="0" dirty="0">
                <a:solidFill>
                  <a:schemeClr val="bg1"/>
                </a:solidFill>
                <a:effectLst/>
                <a:latin typeface="__GeistSans_3a0388"/>
              </a:rPr>
              <a:t>Among operational efficiency needs are the knowledge of functional areas and the information requirements.</a:t>
            </a:r>
            <a:endParaRPr lang="en-US" dirty="0">
              <a:solidFill>
                <a:schemeClr val="bg1"/>
              </a:solidFill>
            </a:endParaRPr>
          </a:p>
        </p:txBody>
      </p:sp>
      <p:sp>
        <p:nvSpPr>
          <p:cNvPr id="13" name="TextBox 12">
            <a:extLst>
              <a:ext uri="{FF2B5EF4-FFF2-40B4-BE49-F238E27FC236}">
                <a16:creationId xmlns:a16="http://schemas.microsoft.com/office/drawing/2014/main" id="{C17C4535-835A-4DBE-A5FA-76242939116A}"/>
              </a:ext>
            </a:extLst>
          </p:cNvPr>
          <p:cNvSpPr txBox="1"/>
          <p:nvPr/>
        </p:nvSpPr>
        <p:spPr>
          <a:xfrm>
            <a:off x="682987" y="1295051"/>
            <a:ext cx="6123214" cy="369332"/>
          </a:xfrm>
          <a:prstGeom prst="rect">
            <a:avLst/>
          </a:prstGeom>
          <a:noFill/>
        </p:spPr>
        <p:txBody>
          <a:bodyPr wrap="square">
            <a:spAutoFit/>
          </a:bodyPr>
          <a:lstStyle/>
          <a:p>
            <a:r>
              <a:rPr lang="en-US" b="1" i="0" dirty="0">
                <a:solidFill>
                  <a:schemeClr val="bg1"/>
                </a:solidFill>
                <a:effectLst/>
                <a:latin typeface="__GeistSans_3a0388"/>
              </a:rPr>
              <a:t>Communication systems management</a:t>
            </a:r>
            <a:endParaRPr lang="en-US" b="1" dirty="0">
              <a:solidFill>
                <a:schemeClr val="bg1"/>
              </a:solidFill>
            </a:endParaRPr>
          </a:p>
        </p:txBody>
      </p:sp>
      <p:sp>
        <p:nvSpPr>
          <p:cNvPr id="17" name="TextBox 16">
            <a:extLst>
              <a:ext uri="{FF2B5EF4-FFF2-40B4-BE49-F238E27FC236}">
                <a16:creationId xmlns:a16="http://schemas.microsoft.com/office/drawing/2014/main" id="{FAE4ECD1-0623-4172-BB60-0FD32B326317}"/>
              </a:ext>
            </a:extLst>
          </p:cNvPr>
          <p:cNvSpPr txBox="1"/>
          <p:nvPr/>
        </p:nvSpPr>
        <p:spPr>
          <a:xfrm>
            <a:off x="657494" y="1556508"/>
            <a:ext cx="11207305" cy="1200329"/>
          </a:xfrm>
          <a:prstGeom prst="rect">
            <a:avLst/>
          </a:prstGeom>
          <a:noFill/>
        </p:spPr>
        <p:txBody>
          <a:bodyPr wrap="square">
            <a:spAutoFit/>
          </a:bodyPr>
          <a:lstStyle/>
          <a:p>
            <a:pPr algn="l"/>
            <a:r>
              <a:rPr lang="en-US" b="0" i="0" dirty="0">
                <a:solidFill>
                  <a:schemeClr val="bg1"/>
                </a:solidFill>
                <a:effectLst/>
                <a:latin typeface="__GeistSans_3a0388"/>
              </a:rPr>
              <a:t>The IT department involves the management of order and communication systems so that all activities are efficiently and effectively carried out so as to improve on service delivery. </a:t>
            </a:r>
          </a:p>
          <a:p>
            <a:br>
              <a:rPr lang="en-US" dirty="0">
                <a:solidFill>
                  <a:schemeClr val="bg1"/>
                </a:solidFill>
              </a:rPr>
            </a:br>
            <a:endParaRPr lang="en-US" dirty="0">
              <a:solidFill>
                <a:schemeClr val="bg1"/>
              </a:solidFill>
            </a:endParaRPr>
          </a:p>
        </p:txBody>
      </p:sp>
      <p:sp>
        <p:nvSpPr>
          <p:cNvPr id="21" name="TextBox 20">
            <a:extLst>
              <a:ext uri="{FF2B5EF4-FFF2-40B4-BE49-F238E27FC236}">
                <a16:creationId xmlns:a16="http://schemas.microsoft.com/office/drawing/2014/main" id="{7CE7CAC0-6AC4-4FB1-A899-D216431B8436}"/>
              </a:ext>
            </a:extLst>
          </p:cNvPr>
          <p:cNvSpPr txBox="1"/>
          <p:nvPr/>
        </p:nvSpPr>
        <p:spPr>
          <a:xfrm>
            <a:off x="657494" y="2264766"/>
            <a:ext cx="6123214" cy="369332"/>
          </a:xfrm>
          <a:prstGeom prst="rect">
            <a:avLst/>
          </a:prstGeom>
          <a:noFill/>
        </p:spPr>
        <p:txBody>
          <a:bodyPr wrap="square">
            <a:spAutoFit/>
          </a:bodyPr>
          <a:lstStyle/>
          <a:p>
            <a:r>
              <a:rPr lang="en-US" b="1" i="0" dirty="0">
                <a:solidFill>
                  <a:schemeClr val="bg1"/>
                </a:solidFill>
                <a:effectLst/>
                <a:latin typeface="__GeistSans_3a0388"/>
              </a:rPr>
              <a:t>Concentrate on efficiency of operations</a:t>
            </a:r>
            <a:endParaRPr lang="en-US" b="1" dirty="0">
              <a:solidFill>
                <a:schemeClr val="bg1"/>
              </a:solidFill>
            </a:endParaRPr>
          </a:p>
        </p:txBody>
      </p:sp>
      <p:sp>
        <p:nvSpPr>
          <p:cNvPr id="25" name="TextBox 24">
            <a:extLst>
              <a:ext uri="{FF2B5EF4-FFF2-40B4-BE49-F238E27FC236}">
                <a16:creationId xmlns:a16="http://schemas.microsoft.com/office/drawing/2014/main" id="{60C3373F-7060-406F-B720-951B5EBD393F}"/>
              </a:ext>
            </a:extLst>
          </p:cNvPr>
          <p:cNvSpPr txBox="1"/>
          <p:nvPr/>
        </p:nvSpPr>
        <p:spPr>
          <a:xfrm>
            <a:off x="647237" y="2604537"/>
            <a:ext cx="11207305" cy="646331"/>
          </a:xfrm>
          <a:prstGeom prst="rect">
            <a:avLst/>
          </a:prstGeom>
          <a:noFill/>
        </p:spPr>
        <p:txBody>
          <a:bodyPr wrap="square">
            <a:spAutoFit/>
          </a:bodyPr>
          <a:lstStyle/>
          <a:p>
            <a:r>
              <a:rPr lang="en-US" b="0" i="0" dirty="0">
                <a:solidFill>
                  <a:schemeClr val="bg1"/>
                </a:solidFill>
                <a:effectLst/>
                <a:latin typeface="__GeistSans_3a0388"/>
              </a:rPr>
              <a:t>With the efficiency of the processes, IT department would play a key role in safeguarding the operational efficiency which is critical in the dynamic environment of Pizza Hut.</a:t>
            </a:r>
            <a:endParaRPr lang="en-US" dirty="0">
              <a:solidFill>
                <a:schemeClr val="bg1"/>
              </a:solidFill>
            </a:endParaRPr>
          </a:p>
        </p:txBody>
      </p:sp>
      <p:sp>
        <p:nvSpPr>
          <p:cNvPr id="29" name="TextBox 28">
            <a:extLst>
              <a:ext uri="{FF2B5EF4-FFF2-40B4-BE49-F238E27FC236}">
                <a16:creationId xmlns:a16="http://schemas.microsoft.com/office/drawing/2014/main" id="{4B4C226E-BF40-4C2D-9FAB-2634806AC51A}"/>
              </a:ext>
            </a:extLst>
          </p:cNvPr>
          <p:cNvSpPr txBox="1"/>
          <p:nvPr/>
        </p:nvSpPr>
        <p:spPr>
          <a:xfrm>
            <a:off x="647237" y="3335085"/>
            <a:ext cx="6123214" cy="369332"/>
          </a:xfrm>
          <a:prstGeom prst="rect">
            <a:avLst/>
          </a:prstGeom>
          <a:noFill/>
        </p:spPr>
        <p:txBody>
          <a:bodyPr wrap="square">
            <a:spAutoFit/>
          </a:bodyPr>
          <a:lstStyle/>
          <a:p>
            <a:r>
              <a:rPr lang="en-US" b="1" i="0" dirty="0">
                <a:solidFill>
                  <a:schemeClr val="bg1"/>
                </a:solidFill>
                <a:effectLst/>
                <a:latin typeface="__GeistSans_3a0388"/>
              </a:rPr>
              <a:t>Critical information requirements</a:t>
            </a:r>
            <a:endParaRPr lang="en-US" b="1" dirty="0">
              <a:solidFill>
                <a:schemeClr val="bg1"/>
              </a:solidFill>
            </a:endParaRPr>
          </a:p>
        </p:txBody>
      </p:sp>
      <p:sp>
        <p:nvSpPr>
          <p:cNvPr id="33" name="TextBox 32">
            <a:extLst>
              <a:ext uri="{FF2B5EF4-FFF2-40B4-BE49-F238E27FC236}">
                <a16:creationId xmlns:a16="http://schemas.microsoft.com/office/drawing/2014/main" id="{A5A60ED9-A141-40A1-A336-C2F8EE1BFE36}"/>
              </a:ext>
            </a:extLst>
          </p:cNvPr>
          <p:cNvSpPr txBox="1"/>
          <p:nvPr/>
        </p:nvSpPr>
        <p:spPr>
          <a:xfrm>
            <a:off x="647238" y="3720455"/>
            <a:ext cx="11376150" cy="646331"/>
          </a:xfrm>
          <a:prstGeom prst="rect">
            <a:avLst/>
          </a:prstGeom>
          <a:noFill/>
        </p:spPr>
        <p:txBody>
          <a:bodyPr wrap="square">
            <a:spAutoFit/>
          </a:bodyPr>
          <a:lstStyle/>
          <a:p>
            <a:r>
              <a:rPr lang="en-US" b="0" i="0" dirty="0">
                <a:solidFill>
                  <a:schemeClr val="bg1"/>
                </a:solidFill>
                <a:effectLst/>
                <a:latin typeface="__GeistSans_3a0388"/>
              </a:rPr>
              <a:t>The department needs information system performance and security data to maintain high performance in its operations since such information is needed in monitoring and enhancing operational integrity.</a:t>
            </a:r>
            <a:endParaRPr lang="en-US" dirty="0">
              <a:solidFill>
                <a:schemeClr val="bg1"/>
              </a:solidFill>
            </a:endParaRPr>
          </a:p>
        </p:txBody>
      </p:sp>
      <p:sp>
        <p:nvSpPr>
          <p:cNvPr id="37" name="TextBox 36">
            <a:extLst>
              <a:ext uri="{FF2B5EF4-FFF2-40B4-BE49-F238E27FC236}">
                <a16:creationId xmlns:a16="http://schemas.microsoft.com/office/drawing/2014/main" id="{C72AD001-EE89-4E59-9A6E-DC5D46723009}"/>
              </a:ext>
            </a:extLst>
          </p:cNvPr>
          <p:cNvSpPr txBox="1"/>
          <p:nvPr/>
        </p:nvSpPr>
        <p:spPr>
          <a:xfrm>
            <a:off x="647237" y="4447435"/>
            <a:ext cx="6123214" cy="369332"/>
          </a:xfrm>
          <a:prstGeom prst="rect">
            <a:avLst/>
          </a:prstGeom>
          <a:noFill/>
        </p:spPr>
        <p:txBody>
          <a:bodyPr wrap="square">
            <a:spAutoFit/>
          </a:bodyPr>
          <a:lstStyle/>
          <a:p>
            <a:r>
              <a:rPr lang="en-US" b="1" i="0" dirty="0">
                <a:solidFill>
                  <a:schemeClr val="bg1"/>
                </a:solidFill>
                <a:effectLst/>
                <a:latin typeface="__GeistSans_3a0388"/>
              </a:rPr>
              <a:t>Keeping the system performance in check</a:t>
            </a:r>
            <a:endParaRPr lang="en-US" b="1" dirty="0">
              <a:solidFill>
                <a:schemeClr val="bg1"/>
              </a:solidFill>
            </a:endParaRPr>
          </a:p>
        </p:txBody>
      </p:sp>
      <p:sp>
        <p:nvSpPr>
          <p:cNvPr id="41" name="TextBox 40">
            <a:extLst>
              <a:ext uri="{FF2B5EF4-FFF2-40B4-BE49-F238E27FC236}">
                <a16:creationId xmlns:a16="http://schemas.microsoft.com/office/drawing/2014/main" id="{0A33FD5A-E56B-4DF9-B6C6-036FC6D0B10F}"/>
              </a:ext>
            </a:extLst>
          </p:cNvPr>
          <p:cNvSpPr txBox="1"/>
          <p:nvPr/>
        </p:nvSpPr>
        <p:spPr>
          <a:xfrm>
            <a:off x="647237" y="4873028"/>
            <a:ext cx="11456317" cy="646331"/>
          </a:xfrm>
          <a:prstGeom prst="rect">
            <a:avLst/>
          </a:prstGeom>
          <a:noFill/>
        </p:spPr>
        <p:txBody>
          <a:bodyPr wrap="square">
            <a:spAutoFit/>
          </a:bodyPr>
          <a:lstStyle/>
          <a:p>
            <a:r>
              <a:rPr lang="en-US" b="0" i="0" dirty="0">
                <a:solidFill>
                  <a:schemeClr val="bg1"/>
                </a:solidFill>
                <a:effectLst/>
                <a:latin typeface="__GeistSans_3a0388"/>
              </a:rPr>
              <a:t>The ability to monitor the performance of systems can help the IT department spot the problem early and rectify it, hence reducing downtimes and improving user experience.</a:t>
            </a:r>
            <a:endParaRPr lang="en-US" dirty="0">
              <a:solidFill>
                <a:schemeClr val="bg1"/>
              </a:solidFill>
            </a:endParaRPr>
          </a:p>
        </p:txBody>
      </p:sp>
      <p:sp>
        <p:nvSpPr>
          <p:cNvPr id="45" name="TextBox 44">
            <a:extLst>
              <a:ext uri="{FF2B5EF4-FFF2-40B4-BE49-F238E27FC236}">
                <a16:creationId xmlns:a16="http://schemas.microsoft.com/office/drawing/2014/main" id="{FF7831FB-6519-4A57-A3A2-66A54DA021FE}"/>
              </a:ext>
            </a:extLst>
          </p:cNvPr>
          <p:cNvSpPr txBox="1"/>
          <p:nvPr/>
        </p:nvSpPr>
        <p:spPr>
          <a:xfrm>
            <a:off x="696686" y="5616535"/>
            <a:ext cx="6123214" cy="369332"/>
          </a:xfrm>
          <a:prstGeom prst="rect">
            <a:avLst/>
          </a:prstGeom>
          <a:noFill/>
        </p:spPr>
        <p:txBody>
          <a:bodyPr wrap="square">
            <a:spAutoFit/>
          </a:bodyPr>
          <a:lstStyle/>
          <a:p>
            <a:r>
              <a:rPr lang="en-US" b="1" dirty="0">
                <a:solidFill>
                  <a:schemeClr val="bg1"/>
                </a:solidFill>
              </a:rPr>
              <a:t>Upholding security procedures</a:t>
            </a:r>
          </a:p>
        </p:txBody>
      </p:sp>
      <p:sp>
        <p:nvSpPr>
          <p:cNvPr id="49" name="TextBox 48">
            <a:extLst>
              <a:ext uri="{FF2B5EF4-FFF2-40B4-BE49-F238E27FC236}">
                <a16:creationId xmlns:a16="http://schemas.microsoft.com/office/drawing/2014/main" id="{E096588A-B622-4F1A-A531-97FF14B86510}"/>
              </a:ext>
            </a:extLst>
          </p:cNvPr>
          <p:cNvSpPr txBox="1"/>
          <p:nvPr/>
        </p:nvSpPr>
        <p:spPr>
          <a:xfrm>
            <a:off x="647237" y="6043207"/>
            <a:ext cx="11286616" cy="646331"/>
          </a:xfrm>
          <a:prstGeom prst="rect">
            <a:avLst/>
          </a:prstGeom>
          <a:noFill/>
        </p:spPr>
        <p:txBody>
          <a:bodyPr wrap="square">
            <a:spAutoFit/>
          </a:bodyPr>
          <a:lstStyle/>
          <a:p>
            <a:r>
              <a:rPr lang="en-US" b="0" i="0" dirty="0">
                <a:solidFill>
                  <a:schemeClr val="bg1"/>
                </a:solidFill>
                <a:effectLst/>
                <a:latin typeface="__GeistSans_3a0388"/>
              </a:rPr>
              <a:t>The IT section gives priority on data on security so that the systems are not at risk of threats hence providing security to sensitive data at Pizza Hut.</a:t>
            </a:r>
            <a:endParaRPr lang="en-US" dirty="0">
              <a:solidFill>
                <a:schemeClr val="bg1"/>
              </a:solidFill>
            </a:endParaRPr>
          </a:p>
        </p:txBody>
      </p:sp>
      <p:sp>
        <p:nvSpPr>
          <p:cNvPr id="2" name="Rectangle: Rounded Corners 1">
            <a:extLst>
              <a:ext uri="{FF2B5EF4-FFF2-40B4-BE49-F238E27FC236}">
                <a16:creationId xmlns:a16="http://schemas.microsoft.com/office/drawing/2014/main" id="{9B904B61-C85F-4DF4-FD0E-267830CFACB0}"/>
              </a:ext>
            </a:extLst>
          </p:cNvPr>
          <p:cNvSpPr/>
          <p:nvPr/>
        </p:nvSpPr>
        <p:spPr>
          <a:xfrm>
            <a:off x="344464" y="2354362"/>
            <a:ext cx="304800" cy="305998"/>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4" name="Rectangle: Rounded Corners 3">
            <a:extLst>
              <a:ext uri="{FF2B5EF4-FFF2-40B4-BE49-F238E27FC236}">
                <a16:creationId xmlns:a16="http://schemas.microsoft.com/office/drawing/2014/main" id="{517164F6-EC5C-5C6C-0479-19D81CDF7234}"/>
              </a:ext>
            </a:extLst>
          </p:cNvPr>
          <p:cNvSpPr/>
          <p:nvPr/>
        </p:nvSpPr>
        <p:spPr>
          <a:xfrm>
            <a:off x="342437" y="3305749"/>
            <a:ext cx="304800" cy="305998"/>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6" name="Rectangle: Rounded Corners 5">
            <a:extLst>
              <a:ext uri="{FF2B5EF4-FFF2-40B4-BE49-F238E27FC236}">
                <a16:creationId xmlns:a16="http://schemas.microsoft.com/office/drawing/2014/main" id="{85077633-F123-11EB-D9B4-2A4DE7616EBE}"/>
              </a:ext>
            </a:extLst>
          </p:cNvPr>
          <p:cNvSpPr/>
          <p:nvPr/>
        </p:nvSpPr>
        <p:spPr>
          <a:xfrm>
            <a:off x="342437" y="4472618"/>
            <a:ext cx="304800" cy="305998"/>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7" name="Rectangle: Rounded Corners 6">
            <a:extLst>
              <a:ext uri="{FF2B5EF4-FFF2-40B4-BE49-F238E27FC236}">
                <a16:creationId xmlns:a16="http://schemas.microsoft.com/office/drawing/2014/main" id="{25D42342-39A1-4232-EDDD-462E06C564D3}"/>
              </a:ext>
            </a:extLst>
          </p:cNvPr>
          <p:cNvSpPr/>
          <p:nvPr/>
        </p:nvSpPr>
        <p:spPr>
          <a:xfrm>
            <a:off x="352694" y="5639186"/>
            <a:ext cx="304800" cy="305998"/>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8" name="Rectangle: Rounded Corners 7">
            <a:extLst>
              <a:ext uri="{FF2B5EF4-FFF2-40B4-BE49-F238E27FC236}">
                <a16:creationId xmlns:a16="http://schemas.microsoft.com/office/drawing/2014/main" id="{79B0B81F-8EF3-8317-39A1-E7B02C8789DB}"/>
              </a:ext>
            </a:extLst>
          </p:cNvPr>
          <p:cNvSpPr/>
          <p:nvPr/>
        </p:nvSpPr>
        <p:spPr>
          <a:xfrm>
            <a:off x="352694" y="1317647"/>
            <a:ext cx="304800" cy="305998"/>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cxnSp>
        <p:nvCxnSpPr>
          <p:cNvPr id="11" name="Straight Connector 10">
            <a:extLst>
              <a:ext uri="{FF2B5EF4-FFF2-40B4-BE49-F238E27FC236}">
                <a16:creationId xmlns:a16="http://schemas.microsoft.com/office/drawing/2014/main" id="{9A07D28E-A386-BC6A-1424-971A231A2689}"/>
              </a:ext>
            </a:extLst>
          </p:cNvPr>
          <p:cNvCxnSpPr>
            <a:stCxn id="8" idx="2"/>
            <a:endCxn id="2" idx="0"/>
          </p:cNvCxnSpPr>
          <p:nvPr/>
        </p:nvCxnSpPr>
        <p:spPr>
          <a:xfrm flipH="1">
            <a:off x="496864" y="1623645"/>
            <a:ext cx="8230" cy="730717"/>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8E737C13-4457-3216-030C-2669E247CA08}"/>
              </a:ext>
            </a:extLst>
          </p:cNvPr>
          <p:cNvCxnSpPr>
            <a:stCxn id="2" idx="2"/>
            <a:endCxn id="4" idx="0"/>
          </p:cNvCxnSpPr>
          <p:nvPr/>
        </p:nvCxnSpPr>
        <p:spPr>
          <a:xfrm flipH="1">
            <a:off x="494837" y="2660360"/>
            <a:ext cx="2027" cy="645389"/>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626F2DA6-B352-A723-9626-505F1F645EB0}"/>
              </a:ext>
            </a:extLst>
          </p:cNvPr>
          <p:cNvCxnSpPr>
            <a:cxnSpLocks/>
            <a:stCxn id="4" idx="2"/>
            <a:endCxn id="6" idx="0"/>
          </p:cNvCxnSpPr>
          <p:nvPr/>
        </p:nvCxnSpPr>
        <p:spPr>
          <a:xfrm>
            <a:off x="494837" y="3611747"/>
            <a:ext cx="0" cy="860871"/>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B27DBAB2-1742-1A17-06D4-1E367167BB66}"/>
              </a:ext>
            </a:extLst>
          </p:cNvPr>
          <p:cNvCxnSpPr>
            <a:cxnSpLocks/>
            <a:stCxn id="7" idx="0"/>
            <a:endCxn id="6" idx="2"/>
          </p:cNvCxnSpPr>
          <p:nvPr/>
        </p:nvCxnSpPr>
        <p:spPr>
          <a:xfrm flipH="1" flipV="1">
            <a:off x="494837" y="4778616"/>
            <a:ext cx="10257" cy="860570"/>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36" name="Straight Connector 35">
            <a:extLst>
              <a:ext uri="{FF2B5EF4-FFF2-40B4-BE49-F238E27FC236}">
                <a16:creationId xmlns:a16="http://schemas.microsoft.com/office/drawing/2014/main" id="{2E0F359A-A090-7CC7-2F03-05B5BAC3DFA0}"/>
              </a:ext>
            </a:extLst>
          </p:cNvPr>
          <p:cNvCxnSpPr>
            <a:cxnSpLocks/>
            <a:stCxn id="8" idx="0"/>
          </p:cNvCxnSpPr>
          <p:nvPr/>
        </p:nvCxnSpPr>
        <p:spPr>
          <a:xfrm flipV="1">
            <a:off x="505094" y="972459"/>
            <a:ext cx="0" cy="345188"/>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74564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and white photo">
            <a:extLst>
              <a:ext uri="{FF2B5EF4-FFF2-40B4-BE49-F238E27FC236}">
                <a16:creationId xmlns:a16="http://schemas.microsoft.com/office/drawing/2014/main" id="{204D45EB-DBE7-B89D-6C36-670B4E5A5BD6}"/>
              </a:ext>
            </a:extLst>
          </p:cNvPr>
          <p:cNvPicPr/>
          <p:nvPr/>
        </p:nvPicPr>
        <p:blipFill>
          <a:blip r:embed="rId2">
            <a:biLevel thresh="75000"/>
            <a:extLst>
              <a:ext uri="{BEBA8EAE-BF5A-486C-A8C5-ECC9F3942E4B}">
                <a14:imgProps xmlns:a14="http://schemas.microsoft.com/office/drawing/2010/main">
                  <a14:imgLayer r:embed="rId3">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sp>
        <p:nvSpPr>
          <p:cNvPr id="2" name="Rectangle: Rounded Corners 1">
            <a:extLst>
              <a:ext uri="{FF2B5EF4-FFF2-40B4-BE49-F238E27FC236}">
                <a16:creationId xmlns:a16="http://schemas.microsoft.com/office/drawing/2014/main" id="{A5F507F3-73A5-D4D6-261F-AF8799005F8F}"/>
              </a:ext>
            </a:extLst>
          </p:cNvPr>
          <p:cNvSpPr/>
          <p:nvPr/>
        </p:nvSpPr>
        <p:spPr>
          <a:xfrm>
            <a:off x="240846" y="177281"/>
            <a:ext cx="5855153" cy="6503437"/>
          </a:xfrm>
          <a:prstGeom prst="roundRect">
            <a:avLst/>
          </a:prstGeom>
          <a:solidFill>
            <a:schemeClr val="tx1">
              <a:alpha val="18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TextBox 4">
            <a:extLst>
              <a:ext uri="{FF2B5EF4-FFF2-40B4-BE49-F238E27FC236}">
                <a16:creationId xmlns:a16="http://schemas.microsoft.com/office/drawing/2014/main" id="{68515FD9-FC46-4503-B25D-F3D6E9E5089B}"/>
              </a:ext>
            </a:extLst>
          </p:cNvPr>
          <p:cNvSpPr txBox="1"/>
          <p:nvPr/>
        </p:nvSpPr>
        <p:spPr>
          <a:xfrm>
            <a:off x="7564353" y="1133789"/>
            <a:ext cx="4856875" cy="2800767"/>
          </a:xfrm>
          <a:prstGeom prst="rect">
            <a:avLst/>
          </a:prstGeom>
          <a:noFill/>
        </p:spPr>
        <p:txBody>
          <a:bodyPr wrap="square">
            <a:spAutoFit/>
          </a:bodyPr>
          <a:lstStyle/>
          <a:p>
            <a:r>
              <a:rPr lang="en-US" sz="4400" b="1" i="0" dirty="0">
                <a:solidFill>
                  <a:schemeClr val="bg1"/>
                </a:solidFill>
                <a:effectLst/>
                <a:latin typeface="+mj-lt"/>
              </a:rPr>
              <a:t>Operation Excellence- Administration Department</a:t>
            </a:r>
            <a:endParaRPr lang="en-US" sz="4400" b="1" dirty="0">
              <a:solidFill>
                <a:schemeClr val="bg1"/>
              </a:solidFill>
              <a:latin typeface="+mj-lt"/>
            </a:endParaRPr>
          </a:p>
        </p:txBody>
      </p:sp>
      <p:sp>
        <p:nvSpPr>
          <p:cNvPr id="9" name="TextBox 8">
            <a:extLst>
              <a:ext uri="{FF2B5EF4-FFF2-40B4-BE49-F238E27FC236}">
                <a16:creationId xmlns:a16="http://schemas.microsoft.com/office/drawing/2014/main" id="{199C3D22-40D6-40C6-93D1-743C5E0769A7}"/>
              </a:ext>
            </a:extLst>
          </p:cNvPr>
          <p:cNvSpPr txBox="1"/>
          <p:nvPr/>
        </p:nvSpPr>
        <p:spPr>
          <a:xfrm>
            <a:off x="7564353" y="4357697"/>
            <a:ext cx="4785635" cy="646331"/>
          </a:xfrm>
          <a:prstGeom prst="rect">
            <a:avLst/>
          </a:prstGeom>
          <a:noFill/>
        </p:spPr>
        <p:txBody>
          <a:bodyPr wrap="square">
            <a:spAutoFit/>
          </a:bodyPr>
          <a:lstStyle/>
          <a:p>
            <a:r>
              <a:rPr lang="en-US" b="0" i="0" dirty="0">
                <a:solidFill>
                  <a:schemeClr val="bg1"/>
                </a:solidFill>
                <a:effectLst/>
                <a:latin typeface="__GeistSans_3a0388"/>
              </a:rPr>
              <a:t>Ensuring smooth processes and good coordination of outlets</a:t>
            </a:r>
            <a:endParaRPr lang="en-US" dirty="0">
              <a:solidFill>
                <a:schemeClr val="bg1"/>
              </a:solidFill>
            </a:endParaRPr>
          </a:p>
        </p:txBody>
      </p:sp>
      <p:sp>
        <p:nvSpPr>
          <p:cNvPr id="13" name="TextBox 12">
            <a:extLst>
              <a:ext uri="{FF2B5EF4-FFF2-40B4-BE49-F238E27FC236}">
                <a16:creationId xmlns:a16="http://schemas.microsoft.com/office/drawing/2014/main" id="{DB8FEFE4-115F-40BF-B0BC-D968992BF5D6}"/>
              </a:ext>
            </a:extLst>
          </p:cNvPr>
          <p:cNvSpPr txBox="1"/>
          <p:nvPr/>
        </p:nvSpPr>
        <p:spPr>
          <a:xfrm>
            <a:off x="604741" y="1646814"/>
            <a:ext cx="6098720" cy="369332"/>
          </a:xfrm>
          <a:prstGeom prst="rect">
            <a:avLst/>
          </a:prstGeom>
          <a:noFill/>
        </p:spPr>
        <p:txBody>
          <a:bodyPr wrap="square">
            <a:spAutoFit/>
          </a:bodyPr>
          <a:lstStyle/>
          <a:p>
            <a:r>
              <a:rPr lang="en-US" b="1" i="0" dirty="0">
                <a:solidFill>
                  <a:schemeClr val="bg1"/>
                </a:solidFill>
                <a:effectLst/>
                <a:latin typeface="__GeistSans_3a0388"/>
              </a:rPr>
              <a:t>Easy functioning processes</a:t>
            </a:r>
            <a:endParaRPr lang="en-US" b="1" dirty="0">
              <a:solidFill>
                <a:schemeClr val="bg1"/>
              </a:solidFill>
            </a:endParaRPr>
          </a:p>
        </p:txBody>
      </p:sp>
      <p:sp>
        <p:nvSpPr>
          <p:cNvPr id="17" name="TextBox 16">
            <a:extLst>
              <a:ext uri="{FF2B5EF4-FFF2-40B4-BE49-F238E27FC236}">
                <a16:creationId xmlns:a16="http://schemas.microsoft.com/office/drawing/2014/main" id="{DB170760-5EEC-4FCB-80D9-A23972D0315E}"/>
              </a:ext>
            </a:extLst>
          </p:cNvPr>
          <p:cNvSpPr txBox="1"/>
          <p:nvPr/>
        </p:nvSpPr>
        <p:spPr>
          <a:xfrm>
            <a:off x="604741" y="1974589"/>
            <a:ext cx="6098720" cy="369332"/>
          </a:xfrm>
          <a:prstGeom prst="rect">
            <a:avLst/>
          </a:prstGeom>
          <a:noFill/>
        </p:spPr>
        <p:txBody>
          <a:bodyPr wrap="square">
            <a:spAutoFit/>
          </a:bodyPr>
          <a:lstStyle/>
          <a:p>
            <a:r>
              <a:rPr lang="en-US" b="0" i="0" dirty="0">
                <a:solidFill>
                  <a:schemeClr val="bg1"/>
                </a:solidFill>
                <a:effectLst/>
                <a:latin typeface="__GeistSans_3a0388"/>
              </a:rPr>
              <a:t>This eliminates ineffectiveness in outlets</a:t>
            </a:r>
            <a:r>
              <a:rPr lang="en-US" dirty="0">
                <a:solidFill>
                  <a:schemeClr val="bg1"/>
                </a:solidFill>
              </a:rPr>
              <a:t>.</a:t>
            </a:r>
          </a:p>
        </p:txBody>
      </p:sp>
      <p:sp>
        <p:nvSpPr>
          <p:cNvPr id="21" name="TextBox 20">
            <a:extLst>
              <a:ext uri="{FF2B5EF4-FFF2-40B4-BE49-F238E27FC236}">
                <a16:creationId xmlns:a16="http://schemas.microsoft.com/office/drawing/2014/main" id="{E003B5DC-50BD-476D-8FF9-610CCDA2145C}"/>
              </a:ext>
            </a:extLst>
          </p:cNvPr>
          <p:cNvSpPr txBox="1"/>
          <p:nvPr/>
        </p:nvSpPr>
        <p:spPr>
          <a:xfrm>
            <a:off x="604741" y="2349507"/>
            <a:ext cx="6098720" cy="369332"/>
          </a:xfrm>
          <a:prstGeom prst="rect">
            <a:avLst/>
          </a:prstGeom>
          <a:noFill/>
        </p:spPr>
        <p:txBody>
          <a:bodyPr wrap="square">
            <a:spAutoFit/>
          </a:bodyPr>
          <a:lstStyle/>
          <a:p>
            <a:r>
              <a:rPr lang="en-US" b="1" i="0" dirty="0">
                <a:solidFill>
                  <a:schemeClr val="bg1"/>
                </a:solidFill>
                <a:effectLst/>
                <a:latin typeface="__GeistSans_3a0388"/>
              </a:rPr>
              <a:t>Requirement in terms of outlet reports</a:t>
            </a:r>
            <a:endParaRPr lang="en-US" b="1" dirty="0">
              <a:solidFill>
                <a:schemeClr val="bg1"/>
              </a:solidFill>
            </a:endParaRPr>
          </a:p>
        </p:txBody>
      </p:sp>
      <p:sp>
        <p:nvSpPr>
          <p:cNvPr id="25" name="TextBox 24">
            <a:extLst>
              <a:ext uri="{FF2B5EF4-FFF2-40B4-BE49-F238E27FC236}">
                <a16:creationId xmlns:a16="http://schemas.microsoft.com/office/drawing/2014/main" id="{F38229D9-622F-44ED-9F30-5AC58EA32732}"/>
              </a:ext>
            </a:extLst>
          </p:cNvPr>
          <p:cNvSpPr txBox="1"/>
          <p:nvPr/>
        </p:nvSpPr>
        <p:spPr>
          <a:xfrm>
            <a:off x="604741" y="2682868"/>
            <a:ext cx="6098720" cy="369332"/>
          </a:xfrm>
          <a:prstGeom prst="rect">
            <a:avLst/>
          </a:prstGeom>
          <a:noFill/>
        </p:spPr>
        <p:txBody>
          <a:bodyPr wrap="square">
            <a:spAutoFit/>
          </a:bodyPr>
          <a:lstStyle/>
          <a:p>
            <a:r>
              <a:rPr lang="en-US" b="0" i="0" dirty="0">
                <a:solidFill>
                  <a:schemeClr val="bg1"/>
                </a:solidFill>
                <a:effectLst/>
                <a:latin typeface="__GeistSans_3a0388"/>
              </a:rPr>
              <a:t>Required to make informed decision</a:t>
            </a:r>
            <a:r>
              <a:rPr lang="en-US" dirty="0">
                <a:solidFill>
                  <a:schemeClr val="bg1"/>
                </a:solidFill>
              </a:rPr>
              <a:t>.</a:t>
            </a:r>
          </a:p>
        </p:txBody>
      </p:sp>
      <p:sp>
        <p:nvSpPr>
          <p:cNvPr id="29" name="TextBox 28">
            <a:extLst>
              <a:ext uri="{FF2B5EF4-FFF2-40B4-BE49-F238E27FC236}">
                <a16:creationId xmlns:a16="http://schemas.microsoft.com/office/drawing/2014/main" id="{ABA43ACF-AAC3-4E83-83C0-D31B1AAD708B}"/>
              </a:ext>
            </a:extLst>
          </p:cNvPr>
          <p:cNvSpPr txBox="1"/>
          <p:nvPr/>
        </p:nvSpPr>
        <p:spPr>
          <a:xfrm>
            <a:off x="604741" y="3082077"/>
            <a:ext cx="6098720" cy="369332"/>
          </a:xfrm>
          <a:prstGeom prst="rect">
            <a:avLst/>
          </a:prstGeom>
          <a:noFill/>
        </p:spPr>
        <p:txBody>
          <a:bodyPr wrap="square">
            <a:spAutoFit/>
          </a:bodyPr>
          <a:lstStyle/>
          <a:p>
            <a:r>
              <a:rPr lang="en-US" b="1" i="0" dirty="0">
                <a:solidFill>
                  <a:schemeClr val="bg1"/>
                </a:solidFill>
                <a:effectLst/>
                <a:latin typeface="__GeistSans_3a0388"/>
              </a:rPr>
              <a:t>Successful management of schedules</a:t>
            </a:r>
            <a:endParaRPr lang="en-US" b="1" dirty="0">
              <a:solidFill>
                <a:schemeClr val="bg1"/>
              </a:solidFill>
            </a:endParaRPr>
          </a:p>
        </p:txBody>
      </p:sp>
      <p:sp>
        <p:nvSpPr>
          <p:cNvPr id="33" name="TextBox 32">
            <a:extLst>
              <a:ext uri="{FF2B5EF4-FFF2-40B4-BE49-F238E27FC236}">
                <a16:creationId xmlns:a16="http://schemas.microsoft.com/office/drawing/2014/main" id="{90F1E04D-D9FA-4AE4-BE8B-9E72D61BF6DB}"/>
              </a:ext>
            </a:extLst>
          </p:cNvPr>
          <p:cNvSpPr txBox="1"/>
          <p:nvPr/>
        </p:nvSpPr>
        <p:spPr>
          <a:xfrm>
            <a:off x="604741" y="3509151"/>
            <a:ext cx="6098720" cy="369332"/>
          </a:xfrm>
          <a:prstGeom prst="rect">
            <a:avLst/>
          </a:prstGeom>
          <a:noFill/>
        </p:spPr>
        <p:txBody>
          <a:bodyPr wrap="square">
            <a:spAutoFit/>
          </a:bodyPr>
          <a:lstStyle/>
          <a:p>
            <a:r>
              <a:rPr lang="en-US" dirty="0">
                <a:solidFill>
                  <a:schemeClr val="bg1"/>
                </a:solidFill>
              </a:rPr>
              <a:t>Makes timely coordination easier.</a:t>
            </a:r>
          </a:p>
        </p:txBody>
      </p:sp>
      <p:sp>
        <p:nvSpPr>
          <p:cNvPr id="37" name="TextBox 36">
            <a:extLst>
              <a:ext uri="{FF2B5EF4-FFF2-40B4-BE49-F238E27FC236}">
                <a16:creationId xmlns:a16="http://schemas.microsoft.com/office/drawing/2014/main" id="{331AFDE2-AB23-4C67-A6E3-BE5463715BAF}"/>
              </a:ext>
            </a:extLst>
          </p:cNvPr>
          <p:cNvSpPr txBox="1"/>
          <p:nvPr/>
        </p:nvSpPr>
        <p:spPr>
          <a:xfrm>
            <a:off x="604741" y="3889656"/>
            <a:ext cx="6098720" cy="646331"/>
          </a:xfrm>
          <a:prstGeom prst="rect">
            <a:avLst/>
          </a:prstGeom>
          <a:noFill/>
        </p:spPr>
        <p:txBody>
          <a:bodyPr wrap="square">
            <a:spAutoFit/>
          </a:bodyPr>
          <a:lstStyle/>
          <a:p>
            <a:r>
              <a:rPr lang="en-US" b="1" dirty="0">
                <a:solidFill>
                  <a:schemeClr val="bg1"/>
                </a:solidFill>
              </a:rPr>
              <a:t>coordination between various outlets</a:t>
            </a:r>
          </a:p>
          <a:p>
            <a:endParaRPr lang="en-US" b="1" dirty="0">
              <a:solidFill>
                <a:schemeClr val="bg1"/>
              </a:solidFill>
            </a:endParaRPr>
          </a:p>
        </p:txBody>
      </p:sp>
      <p:sp>
        <p:nvSpPr>
          <p:cNvPr id="41" name="TextBox 40">
            <a:extLst>
              <a:ext uri="{FF2B5EF4-FFF2-40B4-BE49-F238E27FC236}">
                <a16:creationId xmlns:a16="http://schemas.microsoft.com/office/drawing/2014/main" id="{C8B7E1D6-3E3E-443D-BEE4-7AAB494F670C}"/>
              </a:ext>
            </a:extLst>
          </p:cNvPr>
          <p:cNvSpPr txBox="1"/>
          <p:nvPr/>
        </p:nvSpPr>
        <p:spPr>
          <a:xfrm>
            <a:off x="604741" y="4340935"/>
            <a:ext cx="6098720" cy="369332"/>
          </a:xfrm>
          <a:prstGeom prst="rect">
            <a:avLst/>
          </a:prstGeom>
          <a:noFill/>
        </p:spPr>
        <p:txBody>
          <a:bodyPr wrap="square">
            <a:spAutoFit/>
          </a:bodyPr>
          <a:lstStyle/>
          <a:p>
            <a:r>
              <a:rPr lang="en-US" b="0" i="0" dirty="0">
                <a:solidFill>
                  <a:schemeClr val="bg1"/>
                </a:solidFill>
                <a:effectLst/>
                <a:latin typeface="__GeistSans_3a0388"/>
              </a:rPr>
              <a:t>Promotes internal communications.</a:t>
            </a:r>
            <a:endParaRPr lang="en-US" dirty="0">
              <a:solidFill>
                <a:schemeClr val="bg1"/>
              </a:solidFill>
            </a:endParaRPr>
          </a:p>
        </p:txBody>
      </p:sp>
      <p:sp>
        <p:nvSpPr>
          <p:cNvPr id="45" name="TextBox 44">
            <a:extLst>
              <a:ext uri="{FF2B5EF4-FFF2-40B4-BE49-F238E27FC236}">
                <a16:creationId xmlns:a16="http://schemas.microsoft.com/office/drawing/2014/main" id="{ABB86B33-3435-4CA9-9AD2-3F6AD5BE186A}"/>
              </a:ext>
            </a:extLst>
          </p:cNvPr>
          <p:cNvSpPr txBox="1"/>
          <p:nvPr/>
        </p:nvSpPr>
        <p:spPr>
          <a:xfrm>
            <a:off x="604741" y="4768009"/>
            <a:ext cx="4377806" cy="369332"/>
          </a:xfrm>
          <a:prstGeom prst="rect">
            <a:avLst/>
          </a:prstGeom>
          <a:noFill/>
        </p:spPr>
        <p:txBody>
          <a:bodyPr wrap="square">
            <a:spAutoFit/>
          </a:bodyPr>
          <a:lstStyle/>
          <a:p>
            <a:r>
              <a:rPr lang="en-US" b="1" dirty="0">
                <a:solidFill>
                  <a:schemeClr val="bg1"/>
                </a:solidFill>
              </a:rPr>
              <a:t>supervision by management</a:t>
            </a:r>
          </a:p>
        </p:txBody>
      </p:sp>
      <p:sp>
        <p:nvSpPr>
          <p:cNvPr id="49" name="TextBox 48">
            <a:extLst>
              <a:ext uri="{FF2B5EF4-FFF2-40B4-BE49-F238E27FC236}">
                <a16:creationId xmlns:a16="http://schemas.microsoft.com/office/drawing/2014/main" id="{E42B402B-E262-451E-82CD-5A33019B5576}"/>
              </a:ext>
            </a:extLst>
          </p:cNvPr>
          <p:cNvSpPr txBox="1"/>
          <p:nvPr/>
        </p:nvSpPr>
        <p:spPr>
          <a:xfrm>
            <a:off x="604741" y="5159305"/>
            <a:ext cx="6098720" cy="369332"/>
          </a:xfrm>
          <a:prstGeom prst="rect">
            <a:avLst/>
          </a:prstGeom>
          <a:noFill/>
        </p:spPr>
        <p:txBody>
          <a:bodyPr wrap="square">
            <a:spAutoFit/>
          </a:bodyPr>
          <a:lstStyle/>
          <a:p>
            <a:r>
              <a:rPr lang="en-US" b="0" i="0" dirty="0">
                <a:solidFill>
                  <a:schemeClr val="bg1"/>
                </a:solidFill>
                <a:effectLst/>
                <a:latin typeface="__GeistSans_3a0388"/>
              </a:rPr>
              <a:t>Facilitates strategic decision making.</a:t>
            </a:r>
            <a:r>
              <a:rPr lang="en-US" dirty="0">
                <a:solidFill>
                  <a:schemeClr val="bg1"/>
                </a:solidFill>
              </a:rPr>
              <a:t>.</a:t>
            </a:r>
          </a:p>
        </p:txBody>
      </p:sp>
      <p:sp>
        <p:nvSpPr>
          <p:cNvPr id="53" name="TextBox 52">
            <a:extLst>
              <a:ext uri="{FF2B5EF4-FFF2-40B4-BE49-F238E27FC236}">
                <a16:creationId xmlns:a16="http://schemas.microsoft.com/office/drawing/2014/main" id="{8C84DAB4-7BB1-4D9A-97BA-22F90315EC58}"/>
              </a:ext>
            </a:extLst>
          </p:cNvPr>
          <p:cNvSpPr txBox="1"/>
          <p:nvPr/>
        </p:nvSpPr>
        <p:spPr>
          <a:xfrm>
            <a:off x="604741" y="5610345"/>
            <a:ext cx="4909651" cy="369332"/>
          </a:xfrm>
          <a:prstGeom prst="rect">
            <a:avLst/>
          </a:prstGeom>
          <a:noFill/>
        </p:spPr>
        <p:txBody>
          <a:bodyPr wrap="square">
            <a:spAutoFit/>
          </a:bodyPr>
          <a:lstStyle/>
          <a:p>
            <a:r>
              <a:rPr lang="en-US" b="1" i="0" dirty="0">
                <a:solidFill>
                  <a:schemeClr val="bg1"/>
                </a:solidFill>
                <a:effectLst/>
                <a:latin typeface="__GeistSans_3a0388"/>
              </a:rPr>
              <a:t>Data operated operations</a:t>
            </a:r>
            <a:endParaRPr lang="en-US" b="1" dirty="0">
              <a:solidFill>
                <a:schemeClr val="bg1"/>
              </a:solidFill>
            </a:endParaRPr>
          </a:p>
        </p:txBody>
      </p:sp>
      <p:sp>
        <p:nvSpPr>
          <p:cNvPr id="57" name="TextBox 56">
            <a:extLst>
              <a:ext uri="{FF2B5EF4-FFF2-40B4-BE49-F238E27FC236}">
                <a16:creationId xmlns:a16="http://schemas.microsoft.com/office/drawing/2014/main" id="{41BC0C88-4D07-4AAE-A3C1-6CD928A6FFFE}"/>
              </a:ext>
            </a:extLst>
          </p:cNvPr>
          <p:cNvSpPr txBox="1"/>
          <p:nvPr/>
        </p:nvSpPr>
        <p:spPr>
          <a:xfrm>
            <a:off x="604741" y="6023605"/>
            <a:ext cx="6098720" cy="369332"/>
          </a:xfrm>
          <a:prstGeom prst="rect">
            <a:avLst/>
          </a:prstGeom>
          <a:noFill/>
        </p:spPr>
        <p:txBody>
          <a:bodyPr wrap="square">
            <a:spAutoFit/>
          </a:bodyPr>
          <a:lstStyle/>
          <a:p>
            <a:r>
              <a:rPr lang="en-US" b="0" i="0" dirty="0">
                <a:solidFill>
                  <a:schemeClr val="bg1"/>
                </a:solidFill>
                <a:effectLst/>
                <a:latin typeface="__GeistSans_3a0388"/>
              </a:rPr>
              <a:t>Makes use of reports in the form of improvements.</a:t>
            </a:r>
            <a:endParaRPr lang="en-US" dirty="0">
              <a:solidFill>
                <a:schemeClr val="bg1"/>
              </a:solidFill>
            </a:endParaRPr>
          </a:p>
        </p:txBody>
      </p:sp>
    </p:spTree>
    <p:extLst>
      <p:ext uri="{BB962C8B-B14F-4D97-AF65-F5344CB8AC3E}">
        <p14:creationId xmlns:p14="http://schemas.microsoft.com/office/powerpoint/2010/main" val="2593002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and white photo">
            <a:extLst>
              <a:ext uri="{FF2B5EF4-FFF2-40B4-BE49-F238E27FC236}">
                <a16:creationId xmlns:a16="http://schemas.microsoft.com/office/drawing/2014/main" id="{8E2B01E2-86A8-4BA4-A72E-DC7D1C14353B}"/>
              </a:ext>
            </a:extLst>
          </p:cNvPr>
          <p:cNvPicPr/>
          <p:nvPr/>
        </p:nvPicPr>
        <p:blipFill>
          <a:blip r:embed="rId2">
            <a:biLevel thresh="75000"/>
            <a:extLst>
              <a:ext uri="{BEBA8EAE-BF5A-486C-A8C5-ECC9F3942E4B}">
                <a14:imgProps xmlns:a14="http://schemas.microsoft.com/office/drawing/2010/main">
                  <a14:imgLayer r:embed="rId3">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sp>
        <p:nvSpPr>
          <p:cNvPr id="2" name="Rectangle: Rounded Corners 1">
            <a:extLst>
              <a:ext uri="{FF2B5EF4-FFF2-40B4-BE49-F238E27FC236}">
                <a16:creationId xmlns:a16="http://schemas.microsoft.com/office/drawing/2014/main" id="{7DEB3BFF-B3A7-59C7-5D4B-62250A5E0903}"/>
              </a:ext>
            </a:extLst>
          </p:cNvPr>
          <p:cNvSpPr/>
          <p:nvPr/>
        </p:nvSpPr>
        <p:spPr>
          <a:xfrm>
            <a:off x="689014" y="1792389"/>
            <a:ext cx="6166951" cy="859574"/>
          </a:xfrm>
          <a:prstGeom prst="roundRect">
            <a:avLst/>
          </a:prstGeom>
          <a:solidFill>
            <a:schemeClr val="tx1">
              <a:alpha val="19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bg1"/>
              </a:solidFill>
            </a:endParaRPr>
          </a:p>
        </p:txBody>
      </p:sp>
      <p:sp>
        <p:nvSpPr>
          <p:cNvPr id="3" name="Rectangle: Rounded Corners 2">
            <a:extLst>
              <a:ext uri="{FF2B5EF4-FFF2-40B4-BE49-F238E27FC236}">
                <a16:creationId xmlns:a16="http://schemas.microsoft.com/office/drawing/2014/main" id="{E6EB1F52-4264-80C8-729F-4B05747729CD}"/>
              </a:ext>
            </a:extLst>
          </p:cNvPr>
          <p:cNvSpPr/>
          <p:nvPr/>
        </p:nvSpPr>
        <p:spPr>
          <a:xfrm>
            <a:off x="689015" y="3192351"/>
            <a:ext cx="6166950" cy="893505"/>
          </a:xfrm>
          <a:prstGeom prst="roundRect">
            <a:avLst/>
          </a:prstGeom>
          <a:solidFill>
            <a:schemeClr val="tx1">
              <a:alpha val="19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bg1"/>
              </a:solidFill>
            </a:endParaRPr>
          </a:p>
        </p:txBody>
      </p:sp>
      <p:sp>
        <p:nvSpPr>
          <p:cNvPr id="4" name="Rectangle: Rounded Corners 3">
            <a:extLst>
              <a:ext uri="{FF2B5EF4-FFF2-40B4-BE49-F238E27FC236}">
                <a16:creationId xmlns:a16="http://schemas.microsoft.com/office/drawing/2014/main" id="{36A5A280-950E-620D-CFBC-DCFA7858656C}"/>
              </a:ext>
            </a:extLst>
          </p:cNvPr>
          <p:cNvSpPr/>
          <p:nvPr/>
        </p:nvSpPr>
        <p:spPr>
          <a:xfrm>
            <a:off x="689014" y="4625644"/>
            <a:ext cx="6288442" cy="1113675"/>
          </a:xfrm>
          <a:prstGeom prst="roundRect">
            <a:avLst/>
          </a:prstGeom>
          <a:solidFill>
            <a:schemeClr val="tx1">
              <a:alpha val="19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bg1"/>
              </a:solidFill>
            </a:endParaRPr>
          </a:p>
        </p:txBody>
      </p:sp>
      <p:sp>
        <p:nvSpPr>
          <p:cNvPr id="7" name="TextBox 6">
            <a:extLst>
              <a:ext uri="{FF2B5EF4-FFF2-40B4-BE49-F238E27FC236}">
                <a16:creationId xmlns:a16="http://schemas.microsoft.com/office/drawing/2014/main" id="{F685018B-483E-44A0-ACDA-8FA60930DBDF}"/>
              </a:ext>
            </a:extLst>
          </p:cNvPr>
          <p:cNvSpPr txBox="1"/>
          <p:nvPr/>
        </p:nvSpPr>
        <p:spPr>
          <a:xfrm>
            <a:off x="7931060" y="1527924"/>
            <a:ext cx="3627278" cy="2800767"/>
          </a:xfrm>
          <a:prstGeom prst="rect">
            <a:avLst/>
          </a:prstGeom>
          <a:noFill/>
        </p:spPr>
        <p:txBody>
          <a:bodyPr wrap="square">
            <a:spAutoFit/>
          </a:bodyPr>
          <a:lstStyle/>
          <a:p>
            <a:r>
              <a:rPr lang="en-US" sz="4400" b="1" dirty="0">
                <a:solidFill>
                  <a:schemeClr val="bg1"/>
                </a:solidFill>
                <a:latin typeface="+mj-lt"/>
              </a:rPr>
              <a:t>Types of Information System in Pizza Hut</a:t>
            </a:r>
          </a:p>
        </p:txBody>
      </p:sp>
      <p:sp>
        <p:nvSpPr>
          <p:cNvPr id="11" name="TextBox 10">
            <a:extLst>
              <a:ext uri="{FF2B5EF4-FFF2-40B4-BE49-F238E27FC236}">
                <a16:creationId xmlns:a16="http://schemas.microsoft.com/office/drawing/2014/main" id="{DEC7E403-A60A-4A73-9ED6-3AE2A69C2F2E}"/>
              </a:ext>
            </a:extLst>
          </p:cNvPr>
          <p:cNvSpPr txBox="1"/>
          <p:nvPr/>
        </p:nvSpPr>
        <p:spPr>
          <a:xfrm>
            <a:off x="7986413" y="4653464"/>
            <a:ext cx="3516573" cy="923330"/>
          </a:xfrm>
          <a:prstGeom prst="rect">
            <a:avLst/>
          </a:prstGeom>
          <a:noFill/>
        </p:spPr>
        <p:txBody>
          <a:bodyPr wrap="square">
            <a:spAutoFit/>
          </a:bodyPr>
          <a:lstStyle/>
          <a:p>
            <a:r>
              <a:rPr lang="en-US" b="0" i="0" dirty="0">
                <a:solidFill>
                  <a:schemeClr val="bg1"/>
                </a:solidFill>
                <a:effectLst/>
                <a:latin typeface="__GeistSans_3a0388"/>
              </a:rPr>
              <a:t>Investigating the most important systems that can benefit the work and interaction with customers</a:t>
            </a:r>
            <a:endParaRPr lang="en-US" dirty="0">
              <a:solidFill>
                <a:schemeClr val="bg1"/>
              </a:solidFill>
            </a:endParaRPr>
          </a:p>
        </p:txBody>
      </p:sp>
      <p:sp>
        <p:nvSpPr>
          <p:cNvPr id="15" name="TextBox 14">
            <a:extLst>
              <a:ext uri="{FF2B5EF4-FFF2-40B4-BE49-F238E27FC236}">
                <a16:creationId xmlns:a16="http://schemas.microsoft.com/office/drawing/2014/main" id="{2CD2C372-6937-4289-9750-3D86910E9AF7}"/>
              </a:ext>
            </a:extLst>
          </p:cNvPr>
          <p:cNvSpPr txBox="1"/>
          <p:nvPr/>
        </p:nvSpPr>
        <p:spPr>
          <a:xfrm>
            <a:off x="2921713" y="1826358"/>
            <a:ext cx="3741418" cy="369332"/>
          </a:xfrm>
          <a:prstGeom prst="rect">
            <a:avLst/>
          </a:prstGeom>
          <a:noFill/>
        </p:spPr>
        <p:txBody>
          <a:bodyPr wrap="square">
            <a:spAutoFit/>
          </a:bodyPr>
          <a:lstStyle/>
          <a:p>
            <a:r>
              <a:rPr lang="en-US" b="1" dirty="0">
                <a:solidFill>
                  <a:schemeClr val="bg1"/>
                </a:solidFill>
              </a:rPr>
              <a:t>Transaction Processing System (TPS)</a:t>
            </a:r>
          </a:p>
        </p:txBody>
      </p:sp>
      <p:sp>
        <p:nvSpPr>
          <p:cNvPr id="19" name="TextBox 18">
            <a:extLst>
              <a:ext uri="{FF2B5EF4-FFF2-40B4-BE49-F238E27FC236}">
                <a16:creationId xmlns:a16="http://schemas.microsoft.com/office/drawing/2014/main" id="{F005115B-0484-4DA7-8212-CD9CB8C4AA68}"/>
              </a:ext>
            </a:extLst>
          </p:cNvPr>
          <p:cNvSpPr txBox="1"/>
          <p:nvPr/>
        </p:nvSpPr>
        <p:spPr>
          <a:xfrm>
            <a:off x="2921713" y="2229659"/>
            <a:ext cx="3371925" cy="369332"/>
          </a:xfrm>
          <a:prstGeom prst="rect">
            <a:avLst/>
          </a:prstGeom>
          <a:noFill/>
        </p:spPr>
        <p:txBody>
          <a:bodyPr wrap="square">
            <a:spAutoFit/>
          </a:bodyPr>
          <a:lstStyle/>
          <a:p>
            <a:r>
              <a:rPr lang="en-US" b="0" i="0" dirty="0">
                <a:solidFill>
                  <a:schemeClr val="bg1"/>
                </a:solidFill>
                <a:effectLst/>
                <a:latin typeface="__GeistSans_3a0388"/>
              </a:rPr>
              <a:t>manages day to day transactions.</a:t>
            </a:r>
            <a:endParaRPr lang="en-US" dirty="0">
              <a:solidFill>
                <a:schemeClr val="bg1"/>
              </a:solidFill>
            </a:endParaRPr>
          </a:p>
        </p:txBody>
      </p:sp>
      <p:sp>
        <p:nvSpPr>
          <p:cNvPr id="23" name="TextBox 22">
            <a:extLst>
              <a:ext uri="{FF2B5EF4-FFF2-40B4-BE49-F238E27FC236}">
                <a16:creationId xmlns:a16="http://schemas.microsoft.com/office/drawing/2014/main" id="{9F325E55-686D-4313-B300-E4F2D6EC40AD}"/>
              </a:ext>
            </a:extLst>
          </p:cNvPr>
          <p:cNvSpPr txBox="1"/>
          <p:nvPr/>
        </p:nvSpPr>
        <p:spPr>
          <a:xfrm>
            <a:off x="2944108" y="3196637"/>
            <a:ext cx="4033348" cy="369332"/>
          </a:xfrm>
          <a:prstGeom prst="rect">
            <a:avLst/>
          </a:prstGeom>
          <a:noFill/>
        </p:spPr>
        <p:txBody>
          <a:bodyPr wrap="square">
            <a:spAutoFit/>
          </a:bodyPr>
          <a:lstStyle/>
          <a:p>
            <a:r>
              <a:rPr lang="en-US" b="1" dirty="0">
                <a:solidFill>
                  <a:schemeClr val="bg1"/>
                </a:solidFill>
              </a:rPr>
              <a:t>Management Information System (MIS)</a:t>
            </a:r>
          </a:p>
        </p:txBody>
      </p:sp>
      <p:sp>
        <p:nvSpPr>
          <p:cNvPr id="27" name="TextBox 26">
            <a:extLst>
              <a:ext uri="{FF2B5EF4-FFF2-40B4-BE49-F238E27FC236}">
                <a16:creationId xmlns:a16="http://schemas.microsoft.com/office/drawing/2014/main" id="{1EFE07A9-3C83-4336-B008-09ADC03C7421}"/>
              </a:ext>
            </a:extLst>
          </p:cNvPr>
          <p:cNvSpPr txBox="1"/>
          <p:nvPr/>
        </p:nvSpPr>
        <p:spPr>
          <a:xfrm>
            <a:off x="3059313" y="3632804"/>
            <a:ext cx="3466217" cy="369332"/>
          </a:xfrm>
          <a:prstGeom prst="rect">
            <a:avLst/>
          </a:prstGeom>
          <a:noFill/>
        </p:spPr>
        <p:txBody>
          <a:bodyPr wrap="square">
            <a:spAutoFit/>
          </a:bodyPr>
          <a:lstStyle/>
          <a:p>
            <a:r>
              <a:rPr lang="en-US" b="0" i="0" dirty="0">
                <a:solidFill>
                  <a:schemeClr val="bg1"/>
                </a:solidFill>
                <a:effectLst/>
                <a:latin typeface="__GeistSans_3a0388"/>
              </a:rPr>
              <a:t>Gives decision making summaries</a:t>
            </a:r>
            <a:r>
              <a:rPr lang="en-US" dirty="0">
                <a:solidFill>
                  <a:schemeClr val="bg1"/>
                </a:solidFill>
              </a:rPr>
              <a:t>.</a:t>
            </a:r>
          </a:p>
        </p:txBody>
      </p:sp>
      <p:sp>
        <p:nvSpPr>
          <p:cNvPr id="31" name="TextBox 30">
            <a:extLst>
              <a:ext uri="{FF2B5EF4-FFF2-40B4-BE49-F238E27FC236}">
                <a16:creationId xmlns:a16="http://schemas.microsoft.com/office/drawing/2014/main" id="{7E2F7EF9-2233-43DE-938C-E7BCB8CDE065}"/>
              </a:ext>
            </a:extLst>
          </p:cNvPr>
          <p:cNvSpPr txBox="1"/>
          <p:nvPr/>
        </p:nvSpPr>
        <p:spPr>
          <a:xfrm>
            <a:off x="2237896" y="4653464"/>
            <a:ext cx="6098720" cy="369332"/>
          </a:xfrm>
          <a:prstGeom prst="rect">
            <a:avLst/>
          </a:prstGeom>
          <a:noFill/>
        </p:spPr>
        <p:txBody>
          <a:bodyPr wrap="square">
            <a:spAutoFit/>
          </a:bodyPr>
          <a:lstStyle/>
          <a:p>
            <a:r>
              <a:rPr lang="en-US" b="1" dirty="0">
                <a:solidFill>
                  <a:schemeClr val="bg1"/>
                </a:solidFill>
              </a:rPr>
              <a:t>Customer Relationship Management (CRM)</a:t>
            </a:r>
          </a:p>
        </p:txBody>
      </p:sp>
      <p:sp>
        <p:nvSpPr>
          <p:cNvPr id="35" name="TextBox 34">
            <a:extLst>
              <a:ext uri="{FF2B5EF4-FFF2-40B4-BE49-F238E27FC236}">
                <a16:creationId xmlns:a16="http://schemas.microsoft.com/office/drawing/2014/main" id="{83D62114-DDCF-4399-915C-39C4CDC75218}"/>
              </a:ext>
            </a:extLst>
          </p:cNvPr>
          <p:cNvSpPr txBox="1"/>
          <p:nvPr/>
        </p:nvSpPr>
        <p:spPr>
          <a:xfrm>
            <a:off x="2237897" y="5035846"/>
            <a:ext cx="4618068" cy="923330"/>
          </a:xfrm>
          <a:prstGeom prst="rect">
            <a:avLst/>
          </a:prstGeom>
          <a:noFill/>
        </p:spPr>
        <p:txBody>
          <a:bodyPr wrap="square">
            <a:spAutoFit/>
          </a:bodyPr>
          <a:lstStyle/>
          <a:p>
            <a:r>
              <a:rPr lang="en-US" dirty="0">
                <a:solidFill>
                  <a:schemeClr val="bg1"/>
                </a:solidFill>
              </a:rPr>
              <a:t>It handles customer data as a form of customer loyalty and service advancement.</a:t>
            </a:r>
          </a:p>
          <a:p>
            <a:endParaRPr lang="en-US" dirty="0">
              <a:solidFill>
                <a:schemeClr val="bg1"/>
              </a:solidFill>
            </a:endParaRPr>
          </a:p>
        </p:txBody>
      </p:sp>
    </p:spTree>
    <p:extLst>
      <p:ext uri="{BB962C8B-B14F-4D97-AF65-F5344CB8AC3E}">
        <p14:creationId xmlns:p14="http://schemas.microsoft.com/office/powerpoint/2010/main" val="1872831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and white photo">
            <a:extLst>
              <a:ext uri="{FF2B5EF4-FFF2-40B4-BE49-F238E27FC236}">
                <a16:creationId xmlns:a16="http://schemas.microsoft.com/office/drawing/2014/main" id="{44248B09-C896-D983-E04A-F23C4C923EA8}"/>
              </a:ext>
            </a:extLst>
          </p:cNvPr>
          <p:cNvPicPr/>
          <p:nvPr/>
        </p:nvPicPr>
        <p:blipFill>
          <a:blip r:embed="rId2">
            <a:biLevel thresh="75000"/>
            <a:extLst>
              <a:ext uri="{BEBA8EAE-BF5A-486C-A8C5-ECC9F3942E4B}">
                <a14:imgProps xmlns:a14="http://schemas.microsoft.com/office/drawing/2010/main">
                  <a14:imgLayer r:embed="rId3">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sp>
        <p:nvSpPr>
          <p:cNvPr id="2" name="Flowchart: Alternate Process 1">
            <a:extLst>
              <a:ext uri="{FF2B5EF4-FFF2-40B4-BE49-F238E27FC236}">
                <a16:creationId xmlns:a16="http://schemas.microsoft.com/office/drawing/2014/main" id="{5592C46C-E679-4325-A27F-29D4E8A57545}"/>
              </a:ext>
            </a:extLst>
          </p:cNvPr>
          <p:cNvSpPr/>
          <p:nvPr/>
        </p:nvSpPr>
        <p:spPr>
          <a:xfrm>
            <a:off x="680316" y="357491"/>
            <a:ext cx="6536465" cy="6143017"/>
          </a:xfrm>
          <a:prstGeom prst="flowChartAlternateProcess">
            <a:avLst/>
          </a:prstGeom>
          <a:solidFill>
            <a:schemeClr val="tx1">
              <a:alpha val="18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616F863-F8FE-4352-A28C-67E4B4041382}"/>
              </a:ext>
            </a:extLst>
          </p:cNvPr>
          <p:cNvSpPr txBox="1"/>
          <p:nvPr/>
        </p:nvSpPr>
        <p:spPr>
          <a:xfrm>
            <a:off x="7844873" y="1024815"/>
            <a:ext cx="3986950" cy="2554545"/>
          </a:xfrm>
          <a:prstGeom prst="rect">
            <a:avLst/>
          </a:prstGeom>
          <a:noFill/>
        </p:spPr>
        <p:txBody>
          <a:bodyPr wrap="square">
            <a:spAutoFit/>
          </a:bodyPr>
          <a:lstStyle/>
          <a:p>
            <a:r>
              <a:rPr lang="en-US" sz="4000" b="1" i="0" dirty="0">
                <a:solidFill>
                  <a:schemeClr val="bg1"/>
                </a:solidFill>
                <a:effectLst/>
                <a:latin typeface="+mj-lt"/>
              </a:rPr>
              <a:t>Knowledge of Decision Support System and ERP Solutions</a:t>
            </a:r>
            <a:endParaRPr lang="en-US" sz="4000" b="1" dirty="0">
              <a:solidFill>
                <a:schemeClr val="bg1"/>
              </a:solidFill>
              <a:latin typeface="+mj-lt"/>
            </a:endParaRPr>
          </a:p>
        </p:txBody>
      </p:sp>
      <p:sp>
        <p:nvSpPr>
          <p:cNvPr id="9" name="TextBox 8">
            <a:extLst>
              <a:ext uri="{FF2B5EF4-FFF2-40B4-BE49-F238E27FC236}">
                <a16:creationId xmlns:a16="http://schemas.microsoft.com/office/drawing/2014/main" id="{54A85D89-CE67-44A5-B2C3-3CF8B4937829}"/>
              </a:ext>
            </a:extLst>
          </p:cNvPr>
          <p:cNvSpPr txBox="1"/>
          <p:nvPr/>
        </p:nvSpPr>
        <p:spPr>
          <a:xfrm>
            <a:off x="7941894" y="3833916"/>
            <a:ext cx="3656718" cy="1200329"/>
          </a:xfrm>
          <a:prstGeom prst="rect">
            <a:avLst/>
          </a:prstGeom>
          <a:noFill/>
        </p:spPr>
        <p:txBody>
          <a:bodyPr wrap="square">
            <a:spAutoFit/>
          </a:bodyPr>
          <a:lstStyle/>
          <a:p>
            <a:r>
              <a:rPr lang="en-US" b="0" i="0" dirty="0">
                <a:solidFill>
                  <a:schemeClr val="bg1"/>
                </a:solidFill>
                <a:effectLst/>
                <a:latin typeface="__GeistSans_3a0388"/>
              </a:rPr>
              <a:t>Learning the key aspects of how DSS and ERP helps in improving the business operations and the decision making process</a:t>
            </a:r>
            <a:endParaRPr lang="en-US" dirty="0">
              <a:solidFill>
                <a:schemeClr val="bg1"/>
              </a:solidFill>
            </a:endParaRPr>
          </a:p>
        </p:txBody>
      </p:sp>
      <p:grpSp>
        <p:nvGrpSpPr>
          <p:cNvPr id="3" name="Group 2">
            <a:extLst>
              <a:ext uri="{FF2B5EF4-FFF2-40B4-BE49-F238E27FC236}">
                <a16:creationId xmlns:a16="http://schemas.microsoft.com/office/drawing/2014/main" id="{0483D5DD-CFF9-43A3-BF2A-FBBD80B4D61F}"/>
              </a:ext>
            </a:extLst>
          </p:cNvPr>
          <p:cNvGrpSpPr/>
          <p:nvPr/>
        </p:nvGrpSpPr>
        <p:grpSpPr>
          <a:xfrm>
            <a:off x="899188" y="717695"/>
            <a:ext cx="6098720" cy="5422608"/>
            <a:chOff x="632732" y="778719"/>
            <a:chExt cx="6098720" cy="5422608"/>
          </a:xfrm>
        </p:grpSpPr>
        <p:sp>
          <p:nvSpPr>
            <p:cNvPr id="13" name="TextBox 12">
              <a:extLst>
                <a:ext uri="{FF2B5EF4-FFF2-40B4-BE49-F238E27FC236}">
                  <a16:creationId xmlns:a16="http://schemas.microsoft.com/office/drawing/2014/main" id="{41A16CC9-D2DD-47A8-802A-D179B39B4828}"/>
                </a:ext>
              </a:extLst>
            </p:cNvPr>
            <p:cNvSpPr txBox="1"/>
            <p:nvPr/>
          </p:nvSpPr>
          <p:spPr>
            <a:xfrm>
              <a:off x="632732" y="778719"/>
              <a:ext cx="6098720" cy="369332"/>
            </a:xfrm>
            <a:prstGeom prst="rect">
              <a:avLst/>
            </a:prstGeom>
            <a:noFill/>
          </p:spPr>
          <p:txBody>
            <a:bodyPr wrap="square">
              <a:spAutoFit/>
            </a:bodyPr>
            <a:lstStyle/>
            <a:p>
              <a:r>
                <a:rPr lang="en-US" b="1" dirty="0">
                  <a:solidFill>
                    <a:schemeClr val="bg1"/>
                  </a:solidFill>
                </a:rPr>
                <a:t>Decision Support System (DSS)</a:t>
              </a:r>
            </a:p>
          </p:txBody>
        </p:sp>
        <p:sp>
          <p:nvSpPr>
            <p:cNvPr id="17" name="TextBox 16">
              <a:extLst>
                <a:ext uri="{FF2B5EF4-FFF2-40B4-BE49-F238E27FC236}">
                  <a16:creationId xmlns:a16="http://schemas.microsoft.com/office/drawing/2014/main" id="{AFA9EDCF-4275-4EE7-A676-4BC378415C6E}"/>
                </a:ext>
              </a:extLst>
            </p:cNvPr>
            <p:cNvSpPr txBox="1"/>
            <p:nvPr/>
          </p:nvSpPr>
          <p:spPr>
            <a:xfrm>
              <a:off x="632732" y="1136948"/>
              <a:ext cx="6098720" cy="584775"/>
            </a:xfrm>
            <a:prstGeom prst="rect">
              <a:avLst/>
            </a:prstGeom>
            <a:noFill/>
          </p:spPr>
          <p:txBody>
            <a:bodyPr wrap="square">
              <a:spAutoFit/>
            </a:bodyPr>
            <a:lstStyle/>
            <a:p>
              <a:r>
                <a:rPr lang="en-US" sz="1600" b="0" i="0" dirty="0">
                  <a:solidFill>
                    <a:schemeClr val="bg1"/>
                  </a:solidFill>
                  <a:effectLst/>
                </a:rPr>
                <a:t>A regime that helps one make intricate decisions based on the examination of information efficiently.</a:t>
              </a:r>
              <a:endParaRPr lang="en-US" sz="1600" dirty="0">
                <a:solidFill>
                  <a:schemeClr val="bg1"/>
                </a:solidFill>
              </a:endParaRPr>
            </a:p>
          </p:txBody>
        </p:sp>
        <p:sp>
          <p:nvSpPr>
            <p:cNvPr id="21" name="TextBox 20">
              <a:extLst>
                <a:ext uri="{FF2B5EF4-FFF2-40B4-BE49-F238E27FC236}">
                  <a16:creationId xmlns:a16="http://schemas.microsoft.com/office/drawing/2014/main" id="{F819AEDB-5B85-4AA5-9691-51844F146F48}"/>
                </a:ext>
              </a:extLst>
            </p:cNvPr>
            <p:cNvSpPr txBox="1"/>
            <p:nvPr/>
          </p:nvSpPr>
          <p:spPr>
            <a:xfrm>
              <a:off x="632732" y="1871746"/>
              <a:ext cx="6098720" cy="369332"/>
            </a:xfrm>
            <a:prstGeom prst="rect">
              <a:avLst/>
            </a:prstGeom>
            <a:noFill/>
          </p:spPr>
          <p:txBody>
            <a:bodyPr wrap="square">
              <a:spAutoFit/>
            </a:bodyPr>
            <a:lstStyle/>
            <a:p>
              <a:r>
                <a:rPr lang="en-US" b="1" dirty="0">
                  <a:solidFill>
                    <a:schemeClr val="bg1"/>
                  </a:solidFill>
                </a:rPr>
                <a:t>Purpose of DSS</a:t>
              </a:r>
            </a:p>
          </p:txBody>
        </p:sp>
        <p:sp>
          <p:nvSpPr>
            <p:cNvPr id="25" name="TextBox 24">
              <a:extLst>
                <a:ext uri="{FF2B5EF4-FFF2-40B4-BE49-F238E27FC236}">
                  <a16:creationId xmlns:a16="http://schemas.microsoft.com/office/drawing/2014/main" id="{2D45B7AA-D930-4345-B525-E13282999299}"/>
                </a:ext>
              </a:extLst>
            </p:cNvPr>
            <p:cNvSpPr txBox="1"/>
            <p:nvPr/>
          </p:nvSpPr>
          <p:spPr>
            <a:xfrm>
              <a:off x="632732" y="2224266"/>
              <a:ext cx="6098720" cy="584775"/>
            </a:xfrm>
            <a:prstGeom prst="rect">
              <a:avLst/>
            </a:prstGeom>
            <a:noFill/>
          </p:spPr>
          <p:txBody>
            <a:bodyPr wrap="square">
              <a:spAutoFit/>
            </a:bodyPr>
            <a:lstStyle/>
            <a:p>
              <a:r>
                <a:rPr lang="en-US" sz="1600" b="0" i="0" dirty="0">
                  <a:solidFill>
                    <a:schemeClr val="bg1"/>
                  </a:solidFill>
                  <a:effectLst/>
                </a:rPr>
                <a:t>Helps in decision-making due to the analyzing of data which overall makes decision making more effective.</a:t>
              </a:r>
              <a:endParaRPr lang="en-US" sz="1600" dirty="0">
                <a:solidFill>
                  <a:schemeClr val="bg1"/>
                </a:solidFill>
              </a:endParaRPr>
            </a:p>
          </p:txBody>
        </p:sp>
        <p:sp>
          <p:nvSpPr>
            <p:cNvPr id="29" name="TextBox 28">
              <a:extLst>
                <a:ext uri="{FF2B5EF4-FFF2-40B4-BE49-F238E27FC236}">
                  <a16:creationId xmlns:a16="http://schemas.microsoft.com/office/drawing/2014/main" id="{B45F7C76-AA3C-4675-8B22-D4A5ED48E5CC}"/>
                </a:ext>
              </a:extLst>
            </p:cNvPr>
            <p:cNvSpPr txBox="1"/>
            <p:nvPr/>
          </p:nvSpPr>
          <p:spPr>
            <a:xfrm>
              <a:off x="632732" y="3005042"/>
              <a:ext cx="6098720" cy="369332"/>
            </a:xfrm>
            <a:prstGeom prst="rect">
              <a:avLst/>
            </a:prstGeom>
            <a:noFill/>
          </p:spPr>
          <p:txBody>
            <a:bodyPr wrap="square">
              <a:spAutoFit/>
            </a:bodyPr>
            <a:lstStyle/>
            <a:p>
              <a:r>
                <a:rPr lang="en-US" b="1" dirty="0">
                  <a:solidFill>
                    <a:schemeClr val="bg1"/>
                  </a:solidFill>
                </a:rPr>
                <a:t>Enterprise Resource Planning (ERP)</a:t>
              </a:r>
            </a:p>
          </p:txBody>
        </p:sp>
        <p:sp>
          <p:nvSpPr>
            <p:cNvPr id="33" name="TextBox 32">
              <a:extLst>
                <a:ext uri="{FF2B5EF4-FFF2-40B4-BE49-F238E27FC236}">
                  <a16:creationId xmlns:a16="http://schemas.microsoft.com/office/drawing/2014/main" id="{5E8F73B7-06BF-41D3-849B-1F9818CF5B28}"/>
                </a:ext>
              </a:extLst>
            </p:cNvPr>
            <p:cNvSpPr txBox="1"/>
            <p:nvPr/>
          </p:nvSpPr>
          <p:spPr>
            <a:xfrm>
              <a:off x="632732" y="3368644"/>
              <a:ext cx="6098720" cy="861774"/>
            </a:xfrm>
            <a:prstGeom prst="rect">
              <a:avLst/>
            </a:prstGeom>
            <a:noFill/>
          </p:spPr>
          <p:txBody>
            <a:bodyPr wrap="square">
              <a:spAutoFit/>
            </a:bodyPr>
            <a:lstStyle/>
            <a:p>
              <a:r>
                <a:rPr lang="en-US" sz="1600" dirty="0">
                  <a:solidFill>
                    <a:schemeClr val="bg1"/>
                  </a:solidFill>
                </a:rPr>
                <a:t>combines multiple business functions into different system in order to manage them better.</a:t>
              </a:r>
            </a:p>
            <a:p>
              <a:endParaRPr lang="en-US" dirty="0">
                <a:solidFill>
                  <a:schemeClr val="bg1"/>
                </a:solidFill>
              </a:endParaRPr>
            </a:p>
          </p:txBody>
        </p:sp>
        <p:sp>
          <p:nvSpPr>
            <p:cNvPr id="37" name="TextBox 36">
              <a:extLst>
                <a:ext uri="{FF2B5EF4-FFF2-40B4-BE49-F238E27FC236}">
                  <a16:creationId xmlns:a16="http://schemas.microsoft.com/office/drawing/2014/main" id="{A5947712-2D1C-487F-AEC2-DBF896A4C1D0}"/>
                </a:ext>
              </a:extLst>
            </p:cNvPr>
            <p:cNvSpPr txBox="1"/>
            <p:nvPr/>
          </p:nvSpPr>
          <p:spPr>
            <a:xfrm>
              <a:off x="632732" y="4115751"/>
              <a:ext cx="6098720" cy="369332"/>
            </a:xfrm>
            <a:prstGeom prst="rect">
              <a:avLst/>
            </a:prstGeom>
            <a:noFill/>
          </p:spPr>
          <p:txBody>
            <a:bodyPr wrap="square">
              <a:spAutoFit/>
            </a:bodyPr>
            <a:lstStyle/>
            <a:p>
              <a:r>
                <a:rPr lang="en-US" b="1" dirty="0">
                  <a:solidFill>
                    <a:schemeClr val="bg1"/>
                  </a:solidFill>
                </a:rPr>
                <a:t>Benefits of ERP</a:t>
              </a:r>
            </a:p>
          </p:txBody>
        </p:sp>
        <p:sp>
          <p:nvSpPr>
            <p:cNvPr id="41" name="TextBox 40">
              <a:extLst>
                <a:ext uri="{FF2B5EF4-FFF2-40B4-BE49-F238E27FC236}">
                  <a16:creationId xmlns:a16="http://schemas.microsoft.com/office/drawing/2014/main" id="{EB7F5CA0-6351-4873-B49C-E8CF75CFBE2E}"/>
                </a:ext>
              </a:extLst>
            </p:cNvPr>
            <p:cNvSpPr txBox="1"/>
            <p:nvPr/>
          </p:nvSpPr>
          <p:spPr>
            <a:xfrm>
              <a:off x="632732" y="4485083"/>
              <a:ext cx="6098720" cy="584775"/>
            </a:xfrm>
            <a:prstGeom prst="rect">
              <a:avLst/>
            </a:prstGeom>
            <a:noFill/>
          </p:spPr>
          <p:txBody>
            <a:bodyPr wrap="square">
              <a:spAutoFit/>
            </a:bodyPr>
            <a:lstStyle/>
            <a:p>
              <a:r>
                <a:rPr lang="en-US" sz="1600" b="0" i="0" dirty="0">
                  <a:solidFill>
                    <a:schemeClr val="bg1"/>
                  </a:solidFill>
                  <a:effectLst/>
                </a:rPr>
                <a:t>Provides smooth operations because it networked various business processes and Data</a:t>
              </a:r>
              <a:r>
                <a:rPr lang="en-US" sz="1600" dirty="0">
                  <a:solidFill>
                    <a:schemeClr val="bg1"/>
                  </a:solidFill>
                </a:rPr>
                <a:t>.</a:t>
              </a:r>
            </a:p>
          </p:txBody>
        </p:sp>
        <p:sp>
          <p:nvSpPr>
            <p:cNvPr id="47" name="TextBox 46">
              <a:extLst>
                <a:ext uri="{FF2B5EF4-FFF2-40B4-BE49-F238E27FC236}">
                  <a16:creationId xmlns:a16="http://schemas.microsoft.com/office/drawing/2014/main" id="{F8A9E2CE-595B-4246-8187-C9AD376A5564}"/>
                </a:ext>
              </a:extLst>
            </p:cNvPr>
            <p:cNvSpPr txBox="1"/>
            <p:nvPr/>
          </p:nvSpPr>
          <p:spPr>
            <a:xfrm>
              <a:off x="632732" y="5208978"/>
              <a:ext cx="6098720" cy="369332"/>
            </a:xfrm>
            <a:prstGeom prst="rect">
              <a:avLst/>
            </a:prstGeom>
            <a:noFill/>
          </p:spPr>
          <p:txBody>
            <a:bodyPr wrap="square">
              <a:spAutoFit/>
            </a:bodyPr>
            <a:lstStyle/>
            <a:p>
              <a:r>
                <a:rPr lang="en-US" b="1" dirty="0">
                  <a:solidFill>
                    <a:schemeClr val="bg1"/>
                  </a:solidFill>
                </a:rPr>
                <a:t>DSS and ERP Collaboration</a:t>
              </a:r>
            </a:p>
          </p:txBody>
        </p:sp>
        <p:sp>
          <p:nvSpPr>
            <p:cNvPr id="51" name="TextBox 50">
              <a:extLst>
                <a:ext uri="{FF2B5EF4-FFF2-40B4-BE49-F238E27FC236}">
                  <a16:creationId xmlns:a16="http://schemas.microsoft.com/office/drawing/2014/main" id="{886AB4A3-6652-4FC5-A37F-E0E023F17907}"/>
                </a:ext>
              </a:extLst>
            </p:cNvPr>
            <p:cNvSpPr txBox="1"/>
            <p:nvPr/>
          </p:nvSpPr>
          <p:spPr>
            <a:xfrm>
              <a:off x="632732" y="5585774"/>
              <a:ext cx="6098720" cy="615553"/>
            </a:xfrm>
            <a:prstGeom prst="rect">
              <a:avLst/>
            </a:prstGeom>
            <a:noFill/>
          </p:spPr>
          <p:txBody>
            <a:bodyPr wrap="square">
              <a:spAutoFit/>
            </a:bodyPr>
            <a:lstStyle/>
            <a:p>
              <a:r>
                <a:rPr lang="en-US" sz="1600" b="0" i="0" dirty="0">
                  <a:solidFill>
                    <a:schemeClr val="bg1"/>
                  </a:solidFill>
                  <a:effectLst/>
                </a:rPr>
                <a:t>Blending DSS and ERP enables the development of superior decision making-capacity throughout the departments</a:t>
              </a:r>
              <a:r>
                <a:rPr lang="en-US" dirty="0">
                  <a:solidFill>
                    <a:schemeClr val="bg1"/>
                  </a:solidFill>
                </a:rPr>
                <a:t>.</a:t>
              </a:r>
            </a:p>
          </p:txBody>
        </p:sp>
      </p:grpSp>
    </p:spTree>
    <p:extLst>
      <p:ext uri="{BB962C8B-B14F-4D97-AF65-F5344CB8AC3E}">
        <p14:creationId xmlns:p14="http://schemas.microsoft.com/office/powerpoint/2010/main" val="2689022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and white photo">
            <a:extLst>
              <a:ext uri="{FF2B5EF4-FFF2-40B4-BE49-F238E27FC236}">
                <a16:creationId xmlns:a16="http://schemas.microsoft.com/office/drawing/2014/main" id="{B614BCCD-3ECB-53B4-4F79-5FB5E5599C2A}"/>
              </a:ext>
            </a:extLst>
          </p:cNvPr>
          <p:cNvPicPr/>
          <p:nvPr/>
        </p:nvPicPr>
        <p:blipFill>
          <a:blip r:embed="rId3">
            <a:biLevel thresh="75000"/>
            <a:extLst>
              <a:ext uri="{BEBA8EAE-BF5A-486C-A8C5-ECC9F3942E4B}">
                <a14:imgProps xmlns:a14="http://schemas.microsoft.com/office/drawing/2010/main">
                  <a14:imgLayer r:embed="rId4">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sp>
        <p:nvSpPr>
          <p:cNvPr id="9" name="Flowchart: Alternate Process 8">
            <a:extLst>
              <a:ext uri="{FF2B5EF4-FFF2-40B4-BE49-F238E27FC236}">
                <a16:creationId xmlns:a16="http://schemas.microsoft.com/office/drawing/2014/main" id="{228EEB05-AFCF-4061-AF08-A02B99A6E968}"/>
              </a:ext>
            </a:extLst>
          </p:cNvPr>
          <p:cNvSpPr/>
          <p:nvPr/>
        </p:nvSpPr>
        <p:spPr>
          <a:xfrm>
            <a:off x="6280558" y="1547015"/>
            <a:ext cx="5233481" cy="4834488"/>
          </a:xfrm>
          <a:prstGeom prst="flowChartAlternateProcess">
            <a:avLst/>
          </a:prstGeom>
          <a:solidFill>
            <a:schemeClr val="tx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Flowchart: Alternate Process 1">
            <a:extLst>
              <a:ext uri="{FF2B5EF4-FFF2-40B4-BE49-F238E27FC236}">
                <a16:creationId xmlns:a16="http://schemas.microsoft.com/office/drawing/2014/main" id="{64E0D9B4-EECC-4075-BA6A-145B2B5E55D4}"/>
              </a:ext>
            </a:extLst>
          </p:cNvPr>
          <p:cNvSpPr/>
          <p:nvPr/>
        </p:nvSpPr>
        <p:spPr>
          <a:xfrm>
            <a:off x="428017" y="1547015"/>
            <a:ext cx="5233481" cy="4834488"/>
          </a:xfrm>
          <a:prstGeom prst="flowChartAlternateProcess">
            <a:avLst/>
          </a:prstGeom>
          <a:solidFill>
            <a:schemeClr val="tx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D526520-FA1E-4BCB-9C60-3F24D9D6A2D3}"/>
              </a:ext>
            </a:extLst>
          </p:cNvPr>
          <p:cNvSpPr txBox="1"/>
          <p:nvPr/>
        </p:nvSpPr>
        <p:spPr>
          <a:xfrm>
            <a:off x="927691" y="-5941"/>
            <a:ext cx="7500026" cy="1077218"/>
          </a:xfrm>
          <a:prstGeom prst="rect">
            <a:avLst/>
          </a:prstGeom>
          <a:noFill/>
        </p:spPr>
        <p:txBody>
          <a:bodyPr wrap="square">
            <a:spAutoFit/>
          </a:bodyPr>
          <a:lstStyle/>
          <a:p>
            <a:r>
              <a:rPr lang="en-US" sz="3200" b="1" i="0" dirty="0">
                <a:solidFill>
                  <a:schemeClr val="bg1"/>
                </a:solidFill>
                <a:effectLst/>
                <a:latin typeface="+mj-lt"/>
              </a:rPr>
              <a:t>Fast Food Competitive Landscape: </a:t>
            </a:r>
            <a:br>
              <a:rPr lang="en-US" sz="3200" b="1" i="0" dirty="0">
                <a:solidFill>
                  <a:schemeClr val="bg1"/>
                </a:solidFill>
                <a:effectLst/>
                <a:latin typeface="+mj-lt"/>
              </a:rPr>
            </a:br>
            <a:r>
              <a:rPr lang="en-US" sz="3200" b="1" i="0" dirty="0">
                <a:solidFill>
                  <a:schemeClr val="bg1"/>
                </a:solidFill>
                <a:effectLst/>
                <a:latin typeface="+mj-lt"/>
              </a:rPr>
              <a:t>A comparison of Information systems</a:t>
            </a:r>
            <a:endParaRPr lang="en-US" sz="3200" b="1" dirty="0">
              <a:solidFill>
                <a:schemeClr val="bg1"/>
              </a:solidFill>
              <a:latin typeface="+mj-lt"/>
            </a:endParaRPr>
          </a:p>
        </p:txBody>
      </p:sp>
      <p:sp>
        <p:nvSpPr>
          <p:cNvPr id="11" name="TextBox 10">
            <a:extLst>
              <a:ext uri="{FF2B5EF4-FFF2-40B4-BE49-F238E27FC236}">
                <a16:creationId xmlns:a16="http://schemas.microsoft.com/office/drawing/2014/main" id="{05CBB43A-0108-4FC5-AAB9-3E620AC7DC8E}"/>
              </a:ext>
            </a:extLst>
          </p:cNvPr>
          <p:cNvSpPr txBox="1"/>
          <p:nvPr/>
        </p:nvSpPr>
        <p:spPr>
          <a:xfrm>
            <a:off x="915153" y="1033021"/>
            <a:ext cx="9686925" cy="369332"/>
          </a:xfrm>
          <a:prstGeom prst="rect">
            <a:avLst/>
          </a:prstGeom>
          <a:noFill/>
        </p:spPr>
        <p:txBody>
          <a:bodyPr wrap="square">
            <a:spAutoFit/>
          </a:bodyPr>
          <a:lstStyle/>
          <a:p>
            <a:r>
              <a:rPr lang="en-US" b="0" i="0" dirty="0">
                <a:solidFill>
                  <a:schemeClr val="bg1"/>
                </a:solidFill>
                <a:effectLst/>
                <a:latin typeface="__GeistSans_3a0388"/>
              </a:rPr>
              <a:t>Analysis of the use of technology in Pizza Hut, Domino and KFC as a source of competitiveness</a:t>
            </a:r>
            <a:endParaRPr lang="en-US" dirty="0">
              <a:solidFill>
                <a:schemeClr val="bg1"/>
              </a:solidFill>
            </a:endParaRPr>
          </a:p>
        </p:txBody>
      </p:sp>
      <p:sp>
        <p:nvSpPr>
          <p:cNvPr id="15" name="TextBox 14">
            <a:extLst>
              <a:ext uri="{FF2B5EF4-FFF2-40B4-BE49-F238E27FC236}">
                <a16:creationId xmlns:a16="http://schemas.microsoft.com/office/drawing/2014/main" id="{C8DCD26F-7028-4AC3-A53C-1C4139B7103A}"/>
              </a:ext>
            </a:extLst>
          </p:cNvPr>
          <p:cNvSpPr txBox="1"/>
          <p:nvPr/>
        </p:nvSpPr>
        <p:spPr>
          <a:xfrm>
            <a:off x="927691" y="2579880"/>
            <a:ext cx="1192940" cy="369332"/>
          </a:xfrm>
          <a:prstGeom prst="rect">
            <a:avLst/>
          </a:prstGeom>
          <a:noFill/>
        </p:spPr>
        <p:txBody>
          <a:bodyPr wrap="square">
            <a:spAutoFit/>
          </a:bodyPr>
          <a:lstStyle/>
          <a:p>
            <a:r>
              <a:rPr lang="en-US" b="1" dirty="0">
                <a:solidFill>
                  <a:schemeClr val="bg1"/>
                </a:solidFill>
              </a:rPr>
              <a:t>Pizza Hut</a:t>
            </a:r>
          </a:p>
        </p:txBody>
      </p:sp>
      <p:sp>
        <p:nvSpPr>
          <p:cNvPr id="19" name="TextBox 18">
            <a:extLst>
              <a:ext uri="{FF2B5EF4-FFF2-40B4-BE49-F238E27FC236}">
                <a16:creationId xmlns:a16="http://schemas.microsoft.com/office/drawing/2014/main" id="{EF525AC7-5EB9-400D-B424-4BEA23256461}"/>
              </a:ext>
            </a:extLst>
          </p:cNvPr>
          <p:cNvSpPr txBox="1"/>
          <p:nvPr/>
        </p:nvSpPr>
        <p:spPr>
          <a:xfrm>
            <a:off x="6452466" y="2566975"/>
            <a:ext cx="2146250" cy="369332"/>
          </a:xfrm>
          <a:prstGeom prst="rect">
            <a:avLst/>
          </a:prstGeom>
          <a:noFill/>
        </p:spPr>
        <p:txBody>
          <a:bodyPr wrap="square">
            <a:spAutoFit/>
          </a:bodyPr>
          <a:lstStyle/>
          <a:p>
            <a:r>
              <a:rPr lang="en-US" dirty="0">
                <a:solidFill>
                  <a:schemeClr val="bg1"/>
                </a:solidFill>
              </a:rPr>
              <a:t>Domino's and KFC</a:t>
            </a:r>
          </a:p>
        </p:txBody>
      </p:sp>
      <p:sp>
        <p:nvSpPr>
          <p:cNvPr id="23" name="TextBox 22">
            <a:extLst>
              <a:ext uri="{FF2B5EF4-FFF2-40B4-BE49-F238E27FC236}">
                <a16:creationId xmlns:a16="http://schemas.microsoft.com/office/drawing/2014/main" id="{669D798E-3B57-421A-925C-A1B37A13D0AA}"/>
              </a:ext>
            </a:extLst>
          </p:cNvPr>
          <p:cNvSpPr txBox="1"/>
          <p:nvPr/>
        </p:nvSpPr>
        <p:spPr>
          <a:xfrm>
            <a:off x="755782" y="3559185"/>
            <a:ext cx="4577950" cy="2308324"/>
          </a:xfrm>
          <a:prstGeom prst="rect">
            <a:avLst/>
          </a:prstGeom>
          <a:noFill/>
        </p:spPr>
        <p:txBody>
          <a:bodyPr wrap="square">
            <a:spAutoFit/>
          </a:bodyPr>
          <a:lstStyle/>
          <a:p>
            <a:pPr algn="l"/>
            <a:r>
              <a:rPr lang="en-US" b="0" i="0" dirty="0">
                <a:solidFill>
                  <a:schemeClr val="bg1"/>
                </a:solidFill>
                <a:effectLst/>
                <a:latin typeface="__GeistSans_3a0388"/>
              </a:rPr>
              <a:t>It uses powerful information systems.</a:t>
            </a:r>
          </a:p>
          <a:p>
            <a:pPr algn="l"/>
            <a:endParaRPr lang="en-US" b="0" i="0" dirty="0">
              <a:solidFill>
                <a:schemeClr val="bg1"/>
              </a:solidFill>
              <a:effectLst/>
              <a:latin typeface="__GeistSans_3a0388"/>
            </a:endParaRPr>
          </a:p>
          <a:p>
            <a:pPr algn="l"/>
            <a:r>
              <a:rPr lang="en-US" b="0" i="0" dirty="0">
                <a:solidFill>
                  <a:schemeClr val="bg1"/>
                </a:solidFill>
                <a:effectLst/>
                <a:latin typeface="__GeistSans_3a0388"/>
              </a:rPr>
              <a:t>Provides order online service.</a:t>
            </a:r>
          </a:p>
          <a:p>
            <a:pPr algn="l"/>
            <a:endParaRPr lang="en-US" b="0" i="0" dirty="0">
              <a:solidFill>
                <a:schemeClr val="bg1"/>
              </a:solidFill>
              <a:effectLst/>
              <a:latin typeface="__GeistSans_3a0388"/>
            </a:endParaRPr>
          </a:p>
          <a:p>
            <a:pPr algn="l"/>
            <a:r>
              <a:rPr lang="en-US" b="0" i="0" dirty="0">
                <a:solidFill>
                  <a:schemeClr val="bg1"/>
                </a:solidFill>
                <a:effectLst/>
                <a:latin typeface="__GeistSans_3a0388"/>
              </a:rPr>
              <a:t>Offers mobility in terms of loyalty programs to clients. </a:t>
            </a:r>
          </a:p>
          <a:p>
            <a:br>
              <a:rPr lang="en-US" dirty="0">
                <a:solidFill>
                  <a:schemeClr val="bg1"/>
                </a:solidFill>
              </a:rPr>
            </a:br>
            <a:endParaRPr lang="en-US" dirty="0">
              <a:solidFill>
                <a:schemeClr val="bg1"/>
              </a:solidFill>
            </a:endParaRPr>
          </a:p>
        </p:txBody>
      </p:sp>
      <p:sp>
        <p:nvSpPr>
          <p:cNvPr id="29" name="TextBox 28">
            <a:extLst>
              <a:ext uri="{FF2B5EF4-FFF2-40B4-BE49-F238E27FC236}">
                <a16:creationId xmlns:a16="http://schemas.microsoft.com/office/drawing/2014/main" id="{77C8FF8D-2959-4380-B1B8-F01B3CA32E46}"/>
              </a:ext>
            </a:extLst>
          </p:cNvPr>
          <p:cNvSpPr txBox="1"/>
          <p:nvPr/>
        </p:nvSpPr>
        <p:spPr>
          <a:xfrm>
            <a:off x="6465116" y="3539571"/>
            <a:ext cx="4928126" cy="2031325"/>
          </a:xfrm>
          <a:prstGeom prst="rect">
            <a:avLst/>
          </a:prstGeom>
          <a:noFill/>
        </p:spPr>
        <p:txBody>
          <a:bodyPr wrap="square">
            <a:spAutoFit/>
          </a:bodyPr>
          <a:lstStyle/>
          <a:p>
            <a:r>
              <a:rPr lang="en-US" b="0" i="0" dirty="0">
                <a:solidFill>
                  <a:schemeClr val="bg1"/>
                </a:solidFill>
                <a:effectLst/>
                <a:latin typeface="__GeistSans_3a0388"/>
              </a:rPr>
              <a:t>Use information systems of higher level to increase service.</a:t>
            </a:r>
          </a:p>
          <a:p>
            <a:endParaRPr lang="en-US" b="0" i="0" dirty="0">
              <a:solidFill>
                <a:schemeClr val="bg1"/>
              </a:solidFill>
              <a:effectLst/>
              <a:latin typeface="__GeistSans_3a0388"/>
            </a:endParaRPr>
          </a:p>
          <a:p>
            <a:r>
              <a:rPr lang="en-US" b="0" i="0" dirty="0">
                <a:solidFill>
                  <a:schemeClr val="bg1"/>
                </a:solidFill>
                <a:effectLst/>
                <a:latin typeface="__GeistSans_3a0388"/>
              </a:rPr>
              <a:t> Has an online order tracking system and GPS.</a:t>
            </a:r>
          </a:p>
          <a:p>
            <a:endParaRPr lang="en-US" b="0" i="0" dirty="0">
              <a:solidFill>
                <a:schemeClr val="bg1"/>
              </a:solidFill>
              <a:effectLst/>
              <a:latin typeface="__GeistSans_3a0388"/>
            </a:endParaRPr>
          </a:p>
          <a:p>
            <a:r>
              <a:rPr lang="en-US" b="0" i="0" dirty="0">
                <a:solidFill>
                  <a:schemeClr val="bg1"/>
                </a:solidFill>
                <a:effectLst/>
                <a:latin typeface="__GeistSans_3a0388"/>
              </a:rPr>
              <a:t> Use mobile customer loyalty programs Regarding customer engagement</a:t>
            </a:r>
            <a:r>
              <a:rPr lang="en-US" dirty="0">
                <a:solidFill>
                  <a:schemeClr val="bg1"/>
                </a:solidFill>
              </a:rPr>
              <a:t>.</a:t>
            </a:r>
          </a:p>
        </p:txBody>
      </p:sp>
      <p:pic>
        <p:nvPicPr>
          <p:cNvPr id="4" name="Picture 3">
            <a:extLst>
              <a:ext uri="{FF2B5EF4-FFF2-40B4-BE49-F238E27FC236}">
                <a16:creationId xmlns:a16="http://schemas.microsoft.com/office/drawing/2014/main" id="{C821A400-465A-4B0A-98F1-EDFECD2FA9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39691" y="2021472"/>
            <a:ext cx="1548327" cy="1453879"/>
          </a:xfrm>
          <a:prstGeom prst="rect">
            <a:avLst/>
          </a:prstGeom>
        </p:spPr>
      </p:pic>
      <p:pic>
        <p:nvPicPr>
          <p:cNvPr id="1028" name="Picture 4">
            <a:extLst>
              <a:ext uri="{FF2B5EF4-FFF2-40B4-BE49-F238E27FC236}">
                <a16:creationId xmlns:a16="http://schemas.microsoft.com/office/drawing/2014/main" id="{34F26EEB-CF8A-49A2-B61C-FBCBA18E72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45406" y="1743802"/>
            <a:ext cx="2996118" cy="199741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C3C53F89-8183-483B-892C-FB11CD55B6B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45132" y="1878247"/>
            <a:ext cx="2542385" cy="1694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4268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and white photo">
            <a:extLst>
              <a:ext uri="{FF2B5EF4-FFF2-40B4-BE49-F238E27FC236}">
                <a16:creationId xmlns:a16="http://schemas.microsoft.com/office/drawing/2014/main" id="{D17F8AF0-B629-6BED-675B-AD8ED39262CD}"/>
              </a:ext>
            </a:extLst>
          </p:cNvPr>
          <p:cNvPicPr/>
          <p:nvPr/>
        </p:nvPicPr>
        <p:blipFill>
          <a:blip r:embed="rId2">
            <a:biLevel thresh="75000"/>
            <a:extLst>
              <a:ext uri="{BEBA8EAE-BF5A-486C-A8C5-ECC9F3942E4B}">
                <a14:imgProps xmlns:a14="http://schemas.microsoft.com/office/drawing/2010/main">
                  <a14:imgLayer r:embed="rId3">
                    <a14:imgEffect>
                      <a14:colorTemperature colorTemp="11000"/>
                    </a14:imgEffect>
                  </a14:imgLayer>
                </a14:imgProps>
              </a:ext>
              <a:ext uri="{28A0092B-C50C-407E-A947-70E740481C1C}">
                <a14:useLocalDpi xmlns:a14="http://schemas.microsoft.com/office/drawing/2010/main" val="0"/>
              </a:ext>
            </a:extLst>
          </a:blip>
          <a:stretch>
            <a:fillRect/>
          </a:stretch>
        </p:blipFill>
        <p:spPr>
          <a:xfrm rot="16200000">
            <a:off x="6197599" y="863601"/>
            <a:ext cx="6858002" cy="5130800"/>
          </a:xfrm>
          <a:prstGeom prst="rect">
            <a:avLst/>
          </a:prstGeom>
        </p:spPr>
      </p:pic>
      <p:sp>
        <p:nvSpPr>
          <p:cNvPr id="13" name="Flowchart: Alternate Process 12">
            <a:extLst>
              <a:ext uri="{FF2B5EF4-FFF2-40B4-BE49-F238E27FC236}">
                <a16:creationId xmlns:a16="http://schemas.microsoft.com/office/drawing/2014/main" id="{7A9B477D-BE37-425F-B75C-DF1A227EA982}"/>
              </a:ext>
            </a:extLst>
          </p:cNvPr>
          <p:cNvSpPr/>
          <p:nvPr/>
        </p:nvSpPr>
        <p:spPr>
          <a:xfrm>
            <a:off x="3283613" y="1521283"/>
            <a:ext cx="2437039" cy="5118395"/>
          </a:xfrm>
          <a:prstGeom prst="flowChartAlternateProcess">
            <a:avLst/>
          </a:prstGeom>
          <a:solidFill>
            <a:schemeClr val="tx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lowchart: Alternate Process 13">
            <a:extLst>
              <a:ext uri="{FF2B5EF4-FFF2-40B4-BE49-F238E27FC236}">
                <a16:creationId xmlns:a16="http://schemas.microsoft.com/office/drawing/2014/main" id="{D500CF19-EDE4-4F3E-A36F-0103D3BCC854}"/>
              </a:ext>
            </a:extLst>
          </p:cNvPr>
          <p:cNvSpPr/>
          <p:nvPr/>
        </p:nvSpPr>
        <p:spPr>
          <a:xfrm>
            <a:off x="6228408" y="1521283"/>
            <a:ext cx="2437039" cy="5161074"/>
          </a:xfrm>
          <a:prstGeom prst="flowChartAlternateProcess">
            <a:avLst/>
          </a:prstGeom>
          <a:solidFill>
            <a:schemeClr val="tx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Alternate Process 15">
            <a:extLst>
              <a:ext uri="{FF2B5EF4-FFF2-40B4-BE49-F238E27FC236}">
                <a16:creationId xmlns:a16="http://schemas.microsoft.com/office/drawing/2014/main" id="{622F6BC3-3024-45C6-861C-1DF478F2C8A6}"/>
              </a:ext>
            </a:extLst>
          </p:cNvPr>
          <p:cNvSpPr/>
          <p:nvPr/>
        </p:nvSpPr>
        <p:spPr>
          <a:xfrm>
            <a:off x="9173202" y="1499943"/>
            <a:ext cx="2437039" cy="5161074"/>
          </a:xfrm>
          <a:prstGeom prst="flowChartAlternateProcess">
            <a:avLst/>
          </a:prstGeom>
          <a:solidFill>
            <a:schemeClr val="tx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Flowchart: Alternate Process 1">
            <a:extLst>
              <a:ext uri="{FF2B5EF4-FFF2-40B4-BE49-F238E27FC236}">
                <a16:creationId xmlns:a16="http://schemas.microsoft.com/office/drawing/2014/main" id="{F68BBFD9-0139-49DE-A4F4-1C10F21A58BA}"/>
              </a:ext>
            </a:extLst>
          </p:cNvPr>
          <p:cNvSpPr/>
          <p:nvPr/>
        </p:nvSpPr>
        <p:spPr>
          <a:xfrm>
            <a:off x="338819" y="1478604"/>
            <a:ext cx="2437039" cy="5161074"/>
          </a:xfrm>
          <a:prstGeom prst="flowChartAlternateProcess">
            <a:avLst/>
          </a:prstGeom>
          <a:solidFill>
            <a:schemeClr val="tx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4284910-DE99-4700-8B87-4AF5BEE19C1C}"/>
              </a:ext>
            </a:extLst>
          </p:cNvPr>
          <p:cNvSpPr txBox="1"/>
          <p:nvPr/>
        </p:nvSpPr>
        <p:spPr>
          <a:xfrm>
            <a:off x="442464" y="208334"/>
            <a:ext cx="9354681" cy="707886"/>
          </a:xfrm>
          <a:prstGeom prst="rect">
            <a:avLst/>
          </a:prstGeom>
          <a:noFill/>
        </p:spPr>
        <p:txBody>
          <a:bodyPr wrap="square">
            <a:spAutoFit/>
          </a:bodyPr>
          <a:lstStyle/>
          <a:p>
            <a:r>
              <a:rPr lang="en-US" sz="4000" b="1" i="0" dirty="0">
                <a:solidFill>
                  <a:schemeClr val="bg1"/>
                </a:solidFill>
                <a:effectLst/>
                <a:latin typeface="+mj-lt"/>
              </a:rPr>
              <a:t>The New Trends in Fast Food Industry</a:t>
            </a:r>
            <a:endParaRPr lang="en-US" sz="4000" b="1" dirty="0">
              <a:solidFill>
                <a:schemeClr val="bg1"/>
              </a:solidFill>
              <a:latin typeface="+mj-lt"/>
            </a:endParaRPr>
          </a:p>
        </p:txBody>
      </p:sp>
      <p:sp>
        <p:nvSpPr>
          <p:cNvPr id="7" name="TextBox 6">
            <a:extLst>
              <a:ext uri="{FF2B5EF4-FFF2-40B4-BE49-F238E27FC236}">
                <a16:creationId xmlns:a16="http://schemas.microsoft.com/office/drawing/2014/main" id="{6A9FC877-F435-4B92-B082-DDB3807FDF6B}"/>
              </a:ext>
            </a:extLst>
          </p:cNvPr>
          <p:cNvSpPr txBox="1"/>
          <p:nvPr/>
        </p:nvSpPr>
        <p:spPr>
          <a:xfrm>
            <a:off x="390641" y="913044"/>
            <a:ext cx="9458326" cy="369332"/>
          </a:xfrm>
          <a:prstGeom prst="rect">
            <a:avLst/>
          </a:prstGeom>
          <a:noFill/>
        </p:spPr>
        <p:txBody>
          <a:bodyPr wrap="square">
            <a:spAutoFit/>
          </a:bodyPr>
          <a:lstStyle/>
          <a:p>
            <a:r>
              <a:rPr lang="en-US" b="0" i="0" dirty="0">
                <a:solidFill>
                  <a:schemeClr val="bg1"/>
                </a:solidFill>
                <a:effectLst/>
                <a:latin typeface="Inter"/>
              </a:rPr>
              <a:t>Discovering the main trends shaping the innovative and sustainable solutions in fast food industry..</a:t>
            </a:r>
            <a:endParaRPr lang="en-US" dirty="0">
              <a:solidFill>
                <a:schemeClr val="bg1"/>
              </a:solidFill>
            </a:endParaRPr>
          </a:p>
        </p:txBody>
      </p:sp>
      <p:sp>
        <p:nvSpPr>
          <p:cNvPr id="11" name="TextBox 10">
            <a:extLst>
              <a:ext uri="{FF2B5EF4-FFF2-40B4-BE49-F238E27FC236}">
                <a16:creationId xmlns:a16="http://schemas.microsoft.com/office/drawing/2014/main" id="{D28AAFFC-8E29-4902-A4AF-B95F5F840D4A}"/>
              </a:ext>
            </a:extLst>
          </p:cNvPr>
          <p:cNvSpPr txBox="1"/>
          <p:nvPr/>
        </p:nvSpPr>
        <p:spPr>
          <a:xfrm>
            <a:off x="538845" y="4119030"/>
            <a:ext cx="1734910" cy="369332"/>
          </a:xfrm>
          <a:prstGeom prst="rect">
            <a:avLst/>
          </a:prstGeom>
          <a:noFill/>
        </p:spPr>
        <p:txBody>
          <a:bodyPr wrap="square">
            <a:spAutoFit/>
          </a:bodyPr>
          <a:lstStyle/>
          <a:p>
            <a:r>
              <a:rPr lang="en-US" b="1" dirty="0">
                <a:solidFill>
                  <a:schemeClr val="bg1"/>
                </a:solidFill>
              </a:rPr>
              <a:t>Digitalization</a:t>
            </a:r>
          </a:p>
        </p:txBody>
      </p:sp>
      <p:sp>
        <p:nvSpPr>
          <p:cNvPr id="15" name="TextBox 14">
            <a:extLst>
              <a:ext uri="{FF2B5EF4-FFF2-40B4-BE49-F238E27FC236}">
                <a16:creationId xmlns:a16="http://schemas.microsoft.com/office/drawing/2014/main" id="{CB7967A3-171B-4797-9DB7-768D33AE89CD}"/>
              </a:ext>
            </a:extLst>
          </p:cNvPr>
          <p:cNvSpPr txBox="1"/>
          <p:nvPr/>
        </p:nvSpPr>
        <p:spPr>
          <a:xfrm>
            <a:off x="338818" y="4594566"/>
            <a:ext cx="2437039" cy="1569660"/>
          </a:xfrm>
          <a:prstGeom prst="rect">
            <a:avLst/>
          </a:prstGeom>
          <a:noFill/>
        </p:spPr>
        <p:txBody>
          <a:bodyPr wrap="square">
            <a:spAutoFit/>
          </a:bodyPr>
          <a:lstStyle/>
          <a:p>
            <a:r>
              <a:rPr lang="en-US" sz="1600" b="0" i="0" dirty="0">
                <a:solidFill>
                  <a:schemeClr val="bg1"/>
                </a:solidFill>
                <a:effectLst/>
                <a:latin typeface="__GeistSans_3a0388"/>
              </a:rPr>
              <a:t>Use of technology to improve customer experience and make operations smoother is vital in the fast-food industry.</a:t>
            </a:r>
            <a:endParaRPr lang="en-US" sz="1600" dirty="0">
              <a:solidFill>
                <a:schemeClr val="bg1"/>
              </a:solidFill>
            </a:endParaRPr>
          </a:p>
        </p:txBody>
      </p:sp>
      <p:sp>
        <p:nvSpPr>
          <p:cNvPr id="19" name="TextBox 18">
            <a:extLst>
              <a:ext uri="{FF2B5EF4-FFF2-40B4-BE49-F238E27FC236}">
                <a16:creationId xmlns:a16="http://schemas.microsoft.com/office/drawing/2014/main" id="{6F2E686C-7444-4252-A366-E29C99F9EE21}"/>
              </a:ext>
            </a:extLst>
          </p:cNvPr>
          <p:cNvSpPr txBox="1"/>
          <p:nvPr/>
        </p:nvSpPr>
        <p:spPr>
          <a:xfrm>
            <a:off x="3385930" y="4059141"/>
            <a:ext cx="2306409" cy="369332"/>
          </a:xfrm>
          <a:prstGeom prst="rect">
            <a:avLst/>
          </a:prstGeom>
          <a:noFill/>
        </p:spPr>
        <p:txBody>
          <a:bodyPr wrap="square">
            <a:spAutoFit/>
          </a:bodyPr>
          <a:lstStyle/>
          <a:p>
            <a:r>
              <a:rPr lang="en-US" b="1" dirty="0">
                <a:solidFill>
                  <a:schemeClr val="bg1"/>
                </a:solidFill>
              </a:rPr>
              <a:t>AI Analytics</a:t>
            </a:r>
          </a:p>
        </p:txBody>
      </p:sp>
      <p:sp>
        <p:nvSpPr>
          <p:cNvPr id="23" name="TextBox 22">
            <a:extLst>
              <a:ext uri="{FF2B5EF4-FFF2-40B4-BE49-F238E27FC236}">
                <a16:creationId xmlns:a16="http://schemas.microsoft.com/office/drawing/2014/main" id="{D929F0C3-B734-4ABC-8ABB-BCD7225F1E0D}"/>
              </a:ext>
            </a:extLst>
          </p:cNvPr>
          <p:cNvSpPr txBox="1"/>
          <p:nvPr/>
        </p:nvSpPr>
        <p:spPr>
          <a:xfrm>
            <a:off x="3348927" y="4652980"/>
            <a:ext cx="2306410" cy="1569660"/>
          </a:xfrm>
          <a:prstGeom prst="rect">
            <a:avLst/>
          </a:prstGeom>
          <a:noFill/>
        </p:spPr>
        <p:txBody>
          <a:bodyPr wrap="square">
            <a:spAutoFit/>
          </a:bodyPr>
          <a:lstStyle/>
          <a:p>
            <a:r>
              <a:rPr lang="en-US" sz="1600" b="0" i="0" dirty="0">
                <a:solidFill>
                  <a:schemeClr val="bg1"/>
                </a:solidFill>
                <a:effectLst/>
                <a:latin typeface="__GeistSans_3a0388"/>
              </a:rPr>
              <a:t>Predictive analytics with the help of AI can help a business learn the preferences of the customers and make the service more efficient.</a:t>
            </a:r>
            <a:endParaRPr lang="en-US" sz="1600" dirty="0">
              <a:solidFill>
                <a:schemeClr val="bg1"/>
              </a:solidFill>
            </a:endParaRPr>
          </a:p>
        </p:txBody>
      </p:sp>
      <p:sp>
        <p:nvSpPr>
          <p:cNvPr id="27" name="TextBox 26">
            <a:extLst>
              <a:ext uri="{FF2B5EF4-FFF2-40B4-BE49-F238E27FC236}">
                <a16:creationId xmlns:a16="http://schemas.microsoft.com/office/drawing/2014/main" id="{6A8281B2-FA06-4650-B78E-4B588DDAA46E}"/>
              </a:ext>
            </a:extLst>
          </p:cNvPr>
          <p:cNvSpPr txBox="1"/>
          <p:nvPr/>
        </p:nvSpPr>
        <p:spPr>
          <a:xfrm>
            <a:off x="6269753" y="4079387"/>
            <a:ext cx="2371725" cy="369332"/>
          </a:xfrm>
          <a:prstGeom prst="rect">
            <a:avLst/>
          </a:prstGeom>
          <a:noFill/>
        </p:spPr>
        <p:txBody>
          <a:bodyPr wrap="square">
            <a:spAutoFit/>
          </a:bodyPr>
          <a:lstStyle/>
          <a:p>
            <a:r>
              <a:rPr lang="en-US" b="1" dirty="0">
                <a:solidFill>
                  <a:schemeClr val="bg1"/>
                </a:solidFill>
              </a:rPr>
              <a:t>Food Automation</a:t>
            </a:r>
          </a:p>
        </p:txBody>
      </p:sp>
      <p:sp>
        <p:nvSpPr>
          <p:cNvPr id="31" name="TextBox 30">
            <a:extLst>
              <a:ext uri="{FF2B5EF4-FFF2-40B4-BE49-F238E27FC236}">
                <a16:creationId xmlns:a16="http://schemas.microsoft.com/office/drawing/2014/main" id="{30FB7C94-57B8-4340-9CF0-471E4740AF87}"/>
              </a:ext>
            </a:extLst>
          </p:cNvPr>
          <p:cNvSpPr txBox="1"/>
          <p:nvPr/>
        </p:nvSpPr>
        <p:spPr>
          <a:xfrm>
            <a:off x="6261064" y="4652980"/>
            <a:ext cx="2369655" cy="1815882"/>
          </a:xfrm>
          <a:prstGeom prst="rect">
            <a:avLst/>
          </a:prstGeom>
          <a:noFill/>
        </p:spPr>
        <p:txBody>
          <a:bodyPr wrap="square">
            <a:spAutoFit/>
          </a:bodyPr>
          <a:lstStyle/>
          <a:p>
            <a:r>
              <a:rPr lang="en-US" sz="1600" b="0" i="0" dirty="0">
                <a:solidFill>
                  <a:schemeClr val="bg1"/>
                </a:solidFill>
                <a:effectLst/>
                <a:latin typeface="__GeistSans_3a0388"/>
              </a:rPr>
              <a:t>The automation of food manufacturing minimizes the cost of labor, as well maximizes on consistency and speed of the processes involved in preparing of meals.</a:t>
            </a:r>
            <a:endParaRPr lang="en-US" sz="1600" dirty="0">
              <a:solidFill>
                <a:schemeClr val="bg1"/>
              </a:solidFill>
            </a:endParaRPr>
          </a:p>
        </p:txBody>
      </p:sp>
      <p:sp>
        <p:nvSpPr>
          <p:cNvPr id="35" name="TextBox 34">
            <a:extLst>
              <a:ext uri="{FF2B5EF4-FFF2-40B4-BE49-F238E27FC236}">
                <a16:creationId xmlns:a16="http://schemas.microsoft.com/office/drawing/2014/main" id="{62627038-C8EA-42DA-BDE0-06720A27BAD9}"/>
              </a:ext>
            </a:extLst>
          </p:cNvPr>
          <p:cNvSpPr txBox="1"/>
          <p:nvPr/>
        </p:nvSpPr>
        <p:spPr>
          <a:xfrm>
            <a:off x="9303830" y="4059141"/>
            <a:ext cx="2437039" cy="646331"/>
          </a:xfrm>
          <a:prstGeom prst="rect">
            <a:avLst/>
          </a:prstGeom>
          <a:noFill/>
        </p:spPr>
        <p:txBody>
          <a:bodyPr wrap="square">
            <a:spAutoFit/>
          </a:bodyPr>
          <a:lstStyle/>
          <a:p>
            <a:r>
              <a:rPr lang="en-US" b="1" dirty="0">
                <a:solidFill>
                  <a:schemeClr val="bg1"/>
                </a:solidFill>
              </a:rPr>
              <a:t>Sustainable Packaging</a:t>
            </a:r>
          </a:p>
        </p:txBody>
      </p:sp>
      <p:sp>
        <p:nvSpPr>
          <p:cNvPr id="39" name="TextBox 38">
            <a:extLst>
              <a:ext uri="{FF2B5EF4-FFF2-40B4-BE49-F238E27FC236}">
                <a16:creationId xmlns:a16="http://schemas.microsoft.com/office/drawing/2014/main" id="{BAB51F35-C7F0-4479-8EB2-9D8C5B2CA636}"/>
              </a:ext>
            </a:extLst>
          </p:cNvPr>
          <p:cNvSpPr txBox="1"/>
          <p:nvPr/>
        </p:nvSpPr>
        <p:spPr>
          <a:xfrm>
            <a:off x="9216115" y="4652980"/>
            <a:ext cx="2437039" cy="1569660"/>
          </a:xfrm>
          <a:prstGeom prst="rect">
            <a:avLst/>
          </a:prstGeom>
          <a:noFill/>
        </p:spPr>
        <p:txBody>
          <a:bodyPr wrap="square">
            <a:spAutoFit/>
          </a:bodyPr>
          <a:lstStyle/>
          <a:p>
            <a:r>
              <a:rPr lang="en-US" sz="1600" b="0" i="0" dirty="0">
                <a:solidFill>
                  <a:schemeClr val="bg1"/>
                </a:solidFill>
                <a:effectLst/>
                <a:latin typeface="__GeistSans_3a0388"/>
              </a:rPr>
              <a:t>The key to sustainability packaging is adopting the ability to reduce the effect on the environment and attracting conscientious consumers.</a:t>
            </a:r>
            <a:endParaRPr lang="en-US" sz="1600" dirty="0">
              <a:solidFill>
                <a:schemeClr val="bg1"/>
              </a:solidFill>
            </a:endParaRPr>
          </a:p>
        </p:txBody>
      </p:sp>
    </p:spTree>
    <p:extLst>
      <p:ext uri="{BB962C8B-B14F-4D97-AF65-F5344CB8AC3E}">
        <p14:creationId xmlns:p14="http://schemas.microsoft.com/office/powerpoint/2010/main" val="226271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D7965F-CB12-3261-E44F-BF496FB7AECB}"/>
              </a:ext>
            </a:extLst>
          </p:cNvPr>
          <p:cNvSpPr txBox="1"/>
          <p:nvPr/>
        </p:nvSpPr>
        <p:spPr>
          <a:xfrm>
            <a:off x="520648" y="977952"/>
            <a:ext cx="4525347" cy="707886"/>
          </a:xfrm>
          <a:prstGeom prst="rect">
            <a:avLst/>
          </a:prstGeom>
          <a:noFill/>
        </p:spPr>
        <p:txBody>
          <a:bodyPr wrap="square" rtlCol="0">
            <a:spAutoFit/>
          </a:bodyPr>
          <a:lstStyle/>
          <a:p>
            <a:r>
              <a:rPr lang="en-US" sz="4000" b="1" dirty="0">
                <a:solidFill>
                  <a:schemeClr val="bg1"/>
                </a:solidFill>
              </a:rPr>
              <a:t>Summary </a:t>
            </a:r>
          </a:p>
        </p:txBody>
      </p:sp>
      <p:sp>
        <p:nvSpPr>
          <p:cNvPr id="3" name="TextBox 2">
            <a:extLst>
              <a:ext uri="{FF2B5EF4-FFF2-40B4-BE49-F238E27FC236}">
                <a16:creationId xmlns:a16="http://schemas.microsoft.com/office/drawing/2014/main" id="{434F36F9-6A17-3056-1364-10528BD8DC20}"/>
              </a:ext>
            </a:extLst>
          </p:cNvPr>
          <p:cNvSpPr txBox="1"/>
          <p:nvPr/>
        </p:nvSpPr>
        <p:spPr>
          <a:xfrm>
            <a:off x="310555" y="2232349"/>
            <a:ext cx="6646506" cy="3108543"/>
          </a:xfrm>
          <a:prstGeom prst="rect">
            <a:avLst/>
          </a:prstGeom>
          <a:noFill/>
        </p:spPr>
        <p:txBody>
          <a:bodyPr wrap="square" rtlCol="0">
            <a:spAutoFit/>
          </a:bodyPr>
          <a:lstStyle/>
          <a:p>
            <a:r>
              <a:rPr lang="en-US" sz="1400" dirty="0">
                <a:solidFill>
                  <a:schemeClr val="bg1"/>
                </a:solidFill>
              </a:rPr>
              <a:t>This case study of Pizza Hut Sri Lanka gives an example of how Business Information Systems (BIS) play a critical role towards ensuring operational excellence and customer-focused service. By implementing a digital solution in all of its departments, </a:t>
            </a:r>
            <a:r>
              <a:rPr lang="en-US" sz="1400" dirty="0" err="1">
                <a:solidFill>
                  <a:schemeClr val="bg1"/>
                </a:solidFill>
              </a:rPr>
              <a:t>i</a:t>
            </a:r>
            <a:r>
              <a:rPr lang="en-US" sz="1400" dirty="0">
                <a:solidFill>
                  <a:schemeClr val="bg1"/>
                </a:solidFill>
              </a:rPr>
              <a:t>. e. food preparation and delivery, HR, marketing, and finance, Pizza Hut enhances the quality of its services, increases customer loyalty and sustains quality.</a:t>
            </a:r>
          </a:p>
          <a:p>
            <a:endParaRPr lang="en-US" sz="1400" dirty="0">
              <a:solidFill>
                <a:schemeClr val="bg1"/>
              </a:solidFill>
            </a:endParaRPr>
          </a:p>
          <a:p>
            <a:r>
              <a:rPr lang="en-US" sz="1400" dirty="0">
                <a:solidFill>
                  <a:schemeClr val="bg1"/>
                </a:solidFill>
              </a:rPr>
              <a:t>Also, data-driven decision and simplified functioning are accomplished through the integration of sophisticated systems, such as TPS, MIS, CRM, DSS, and ERP. The dynamic nature of the fast food business makes it hard to sustain its position, which however, would be guaranteed by the active role played by Pizza Hut on the use of technology and being innovative.</a:t>
            </a:r>
          </a:p>
          <a:p>
            <a:endParaRPr lang="en-US" sz="1400" dirty="0">
              <a:solidFill>
                <a:schemeClr val="bg1"/>
              </a:solidFill>
            </a:endParaRPr>
          </a:p>
          <a:p>
            <a:endParaRPr lang="en-US" sz="1400" dirty="0">
              <a:solidFill>
                <a:schemeClr val="bg1"/>
              </a:solidFill>
            </a:endParaRPr>
          </a:p>
        </p:txBody>
      </p:sp>
    </p:spTree>
    <p:extLst>
      <p:ext uri="{BB962C8B-B14F-4D97-AF65-F5344CB8AC3E}">
        <p14:creationId xmlns:p14="http://schemas.microsoft.com/office/powerpoint/2010/main" val="2649372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068C8CA-F7BD-5E6F-E1F8-4EF04BBDBE27}"/>
              </a:ext>
            </a:extLst>
          </p:cNvPr>
          <p:cNvGraphicFramePr>
            <a:graphicFrameLocks noGrp="1"/>
          </p:cNvGraphicFramePr>
          <p:nvPr>
            <p:extLst>
              <p:ext uri="{D42A27DB-BD31-4B8C-83A1-F6EECF244321}">
                <p14:modId xmlns:p14="http://schemas.microsoft.com/office/powerpoint/2010/main" val="2616269313"/>
              </p:ext>
            </p:extLst>
          </p:nvPr>
        </p:nvGraphicFramePr>
        <p:xfrm>
          <a:off x="518161" y="1403118"/>
          <a:ext cx="7178040" cy="4267116"/>
        </p:xfrm>
        <a:graphic>
          <a:graphicData uri="http://schemas.openxmlformats.org/drawingml/2006/table">
            <a:tbl>
              <a:tblPr>
                <a:tableStyleId>{616DA210-FB5B-4158-B5E0-FEB733F419BA}</a:tableStyleId>
              </a:tblPr>
              <a:tblGrid>
                <a:gridCol w="2392680">
                  <a:extLst>
                    <a:ext uri="{9D8B030D-6E8A-4147-A177-3AD203B41FA5}">
                      <a16:colId xmlns:a16="http://schemas.microsoft.com/office/drawing/2014/main" val="3730486104"/>
                    </a:ext>
                  </a:extLst>
                </a:gridCol>
                <a:gridCol w="2392680">
                  <a:extLst>
                    <a:ext uri="{9D8B030D-6E8A-4147-A177-3AD203B41FA5}">
                      <a16:colId xmlns:a16="http://schemas.microsoft.com/office/drawing/2014/main" val="1601191657"/>
                    </a:ext>
                  </a:extLst>
                </a:gridCol>
                <a:gridCol w="2392680">
                  <a:extLst>
                    <a:ext uri="{9D8B030D-6E8A-4147-A177-3AD203B41FA5}">
                      <a16:colId xmlns:a16="http://schemas.microsoft.com/office/drawing/2014/main" val="1490692334"/>
                    </a:ext>
                  </a:extLst>
                </a:gridCol>
              </a:tblGrid>
              <a:tr h="175142">
                <a:tc>
                  <a:txBody>
                    <a:bodyPr/>
                    <a:lstStyle/>
                    <a:p>
                      <a:r>
                        <a:rPr lang="en-US" sz="1000">
                          <a:solidFill>
                            <a:schemeClr val="bg1"/>
                          </a:solidFill>
                        </a:rPr>
                        <a:t>Name</a:t>
                      </a:r>
                    </a:p>
                  </a:txBody>
                  <a:tcPr marL="50015" marR="50015" marT="25008" marB="25008" anchor="ctr"/>
                </a:tc>
                <a:tc>
                  <a:txBody>
                    <a:bodyPr/>
                    <a:lstStyle/>
                    <a:p>
                      <a:r>
                        <a:rPr lang="en-US" sz="1000">
                          <a:solidFill>
                            <a:schemeClr val="bg1"/>
                          </a:solidFill>
                        </a:rPr>
                        <a:t>Index Number</a:t>
                      </a:r>
                    </a:p>
                  </a:txBody>
                  <a:tcPr marL="50015" marR="50015" marT="25008" marB="25008" anchor="ctr"/>
                </a:tc>
                <a:tc>
                  <a:txBody>
                    <a:bodyPr/>
                    <a:lstStyle/>
                    <a:p>
                      <a:r>
                        <a:rPr lang="en-US" sz="1000">
                          <a:solidFill>
                            <a:schemeClr val="bg1"/>
                          </a:solidFill>
                        </a:rPr>
                        <a:t>Contribution</a:t>
                      </a:r>
                    </a:p>
                  </a:txBody>
                  <a:tcPr marL="50015" marR="50015" marT="25008" marB="25008" anchor="ctr"/>
                </a:tc>
                <a:extLst>
                  <a:ext uri="{0D108BD9-81ED-4DB2-BD59-A6C34878D82A}">
                    <a16:rowId xmlns:a16="http://schemas.microsoft.com/office/drawing/2014/main" val="742196645"/>
                  </a:ext>
                </a:extLst>
              </a:tr>
              <a:tr h="664236">
                <a:tc>
                  <a:txBody>
                    <a:bodyPr/>
                    <a:lstStyle/>
                    <a:p>
                      <a:r>
                        <a:rPr lang="en-US" sz="1000" b="1">
                          <a:solidFill>
                            <a:schemeClr val="bg1"/>
                          </a:solidFill>
                        </a:rPr>
                        <a:t>Tharindu Francesco Samarakoon</a:t>
                      </a:r>
                      <a:endParaRPr lang="en-US" sz="1000">
                        <a:solidFill>
                          <a:schemeClr val="bg1"/>
                        </a:solidFill>
                      </a:endParaRPr>
                    </a:p>
                  </a:txBody>
                  <a:tcPr marL="50015" marR="50015" marT="25008" marB="25008" anchor="ctr"/>
                </a:tc>
                <a:tc>
                  <a:txBody>
                    <a:bodyPr/>
                    <a:lstStyle/>
                    <a:p>
                      <a:r>
                        <a:rPr lang="en-US" sz="1000">
                          <a:solidFill>
                            <a:schemeClr val="bg1"/>
                          </a:solidFill>
                        </a:rPr>
                        <a:t>CL/HDCSE/CMU/131/17 (st20339052)</a:t>
                      </a:r>
                    </a:p>
                  </a:txBody>
                  <a:tcPr marL="50015" marR="50015" marT="25008" marB="25008" anchor="ctr"/>
                </a:tc>
                <a:tc>
                  <a:txBody>
                    <a:bodyPr/>
                    <a:lstStyle/>
                    <a:p>
                      <a:r>
                        <a:rPr lang="en-US" sz="1000" dirty="0">
                          <a:solidFill>
                            <a:schemeClr val="bg1"/>
                          </a:solidFill>
                        </a:rPr>
                        <a:t>Developed and prepared requirements related to the functions of the Food Preparation Department and the information needed by the department. Power point presentations on quality control.</a:t>
                      </a:r>
                    </a:p>
                  </a:txBody>
                  <a:tcPr marL="50015" marR="50015" marT="25008" marB="25008" anchor="ctr"/>
                </a:tc>
                <a:extLst>
                  <a:ext uri="{0D108BD9-81ED-4DB2-BD59-A6C34878D82A}">
                    <a16:rowId xmlns:a16="http://schemas.microsoft.com/office/drawing/2014/main" val="372650632"/>
                  </a:ext>
                </a:extLst>
              </a:tr>
              <a:tr h="539572">
                <a:tc>
                  <a:txBody>
                    <a:bodyPr/>
                    <a:lstStyle/>
                    <a:p>
                      <a:r>
                        <a:rPr lang="en-US" sz="1000" b="1">
                          <a:solidFill>
                            <a:schemeClr val="bg1"/>
                          </a:solidFill>
                        </a:rPr>
                        <a:t>Ravindu Shenal Perera</a:t>
                      </a:r>
                      <a:endParaRPr lang="en-US" sz="1000">
                        <a:solidFill>
                          <a:schemeClr val="bg1"/>
                        </a:solidFill>
                      </a:endParaRPr>
                    </a:p>
                  </a:txBody>
                  <a:tcPr marL="50015" marR="50015" marT="25008" marB="25008" anchor="ctr"/>
                </a:tc>
                <a:tc>
                  <a:txBody>
                    <a:bodyPr/>
                    <a:lstStyle/>
                    <a:p>
                      <a:r>
                        <a:rPr lang="en-US" sz="1000">
                          <a:solidFill>
                            <a:schemeClr val="bg1"/>
                          </a:solidFill>
                        </a:rPr>
                        <a:t>CL/HDCSE/CMU/131/28 (st20338940)</a:t>
                      </a:r>
                    </a:p>
                  </a:txBody>
                  <a:tcPr marL="50015" marR="50015" marT="25008" marB="25008" anchor="ctr"/>
                </a:tc>
                <a:tc>
                  <a:txBody>
                    <a:bodyPr/>
                    <a:lstStyle/>
                    <a:p>
                      <a:r>
                        <a:rPr lang="en-US" sz="1000" dirty="0">
                          <a:solidFill>
                            <a:schemeClr val="bg1"/>
                          </a:solidFill>
                        </a:rPr>
                        <a:t>Indicated with the Delivery System on optimization. Assisted in examining and generating the information about real-time tracking and efficiency in the logistics.</a:t>
                      </a:r>
                    </a:p>
                  </a:txBody>
                  <a:tcPr marL="50015" marR="50015" marT="25008" marB="25008" anchor="ctr"/>
                </a:tc>
                <a:extLst>
                  <a:ext uri="{0D108BD9-81ED-4DB2-BD59-A6C34878D82A}">
                    <a16:rowId xmlns:a16="http://schemas.microsoft.com/office/drawing/2014/main" val="2495702155"/>
                  </a:ext>
                </a:extLst>
              </a:tr>
              <a:tr h="788901">
                <a:tc>
                  <a:txBody>
                    <a:bodyPr/>
                    <a:lstStyle/>
                    <a:p>
                      <a:r>
                        <a:rPr lang="en-US" sz="1000" b="1">
                          <a:solidFill>
                            <a:schemeClr val="bg1"/>
                          </a:solidFill>
                        </a:rPr>
                        <a:t>Sithumi Amaya Dunukara</a:t>
                      </a:r>
                      <a:endParaRPr lang="en-US" sz="1000">
                        <a:solidFill>
                          <a:schemeClr val="bg1"/>
                        </a:solidFill>
                      </a:endParaRPr>
                    </a:p>
                  </a:txBody>
                  <a:tcPr marL="50015" marR="50015" marT="25008" marB="25008" anchor="ctr"/>
                </a:tc>
                <a:tc>
                  <a:txBody>
                    <a:bodyPr/>
                    <a:lstStyle/>
                    <a:p>
                      <a:r>
                        <a:rPr lang="en-US" sz="1000">
                          <a:solidFill>
                            <a:schemeClr val="bg1"/>
                          </a:solidFill>
                        </a:rPr>
                        <a:t>CL/HDCSE/CMU/131/14 (st20339049)</a:t>
                      </a:r>
                    </a:p>
                  </a:txBody>
                  <a:tcPr marL="50015" marR="50015" marT="25008" marB="25008" anchor="ctr"/>
                </a:tc>
                <a:tc>
                  <a:txBody>
                    <a:bodyPr/>
                    <a:lstStyle/>
                    <a:p>
                      <a:r>
                        <a:rPr lang="en-US" sz="1000" dirty="0">
                          <a:solidFill>
                            <a:schemeClr val="bg1"/>
                          </a:solidFill>
                        </a:rPr>
                        <a:t>Prepared the slides connected to HR department and its effects on training, performance and data requirement. Manufactured the style and consistency of visual presentation.</a:t>
                      </a:r>
                    </a:p>
                  </a:txBody>
                  <a:tcPr marL="50015" marR="50015" marT="25008" marB="25008" anchor="ctr"/>
                </a:tc>
                <a:extLst>
                  <a:ext uri="{0D108BD9-81ED-4DB2-BD59-A6C34878D82A}">
                    <a16:rowId xmlns:a16="http://schemas.microsoft.com/office/drawing/2014/main" val="3212432712"/>
                  </a:ext>
                </a:extLst>
              </a:tr>
              <a:tr h="664236">
                <a:tc>
                  <a:txBody>
                    <a:bodyPr/>
                    <a:lstStyle/>
                    <a:p>
                      <a:r>
                        <a:rPr lang="en-US" sz="1000" b="1">
                          <a:solidFill>
                            <a:schemeClr val="bg1"/>
                          </a:solidFill>
                        </a:rPr>
                        <a:t>Sahan Kavishka Adhikari</a:t>
                      </a:r>
                      <a:endParaRPr lang="en-US" sz="1000">
                        <a:solidFill>
                          <a:schemeClr val="bg1"/>
                        </a:solidFill>
                      </a:endParaRPr>
                    </a:p>
                  </a:txBody>
                  <a:tcPr marL="50015" marR="50015" marT="25008" marB="25008" anchor="ctr"/>
                </a:tc>
                <a:tc>
                  <a:txBody>
                    <a:bodyPr/>
                    <a:lstStyle/>
                    <a:p>
                      <a:r>
                        <a:rPr lang="en-US" sz="1000">
                          <a:solidFill>
                            <a:schemeClr val="bg1"/>
                          </a:solidFill>
                        </a:rPr>
                        <a:t>CL/HDCSE/CMU/131/32 (st20338943)</a:t>
                      </a:r>
                    </a:p>
                  </a:txBody>
                  <a:tcPr marL="50015" marR="50015" marT="25008" marB="25008" anchor="ctr"/>
                </a:tc>
                <a:tc>
                  <a:txBody>
                    <a:bodyPr/>
                    <a:lstStyle/>
                    <a:p>
                      <a:r>
                        <a:rPr lang="en-US" sz="1000" dirty="0">
                          <a:solidFill>
                            <a:schemeClr val="bg1"/>
                          </a:solidFill>
                        </a:rPr>
                        <a:t>Author of the Finance sections and Marketing with the specialization on subject of financial monitoring systems and marketing trends.</a:t>
                      </a:r>
                    </a:p>
                  </a:txBody>
                  <a:tcPr marL="50015" marR="50015" marT="25008" marB="25008" anchor="ctr"/>
                </a:tc>
                <a:extLst>
                  <a:ext uri="{0D108BD9-81ED-4DB2-BD59-A6C34878D82A}">
                    <a16:rowId xmlns:a16="http://schemas.microsoft.com/office/drawing/2014/main" val="1987588460"/>
                  </a:ext>
                </a:extLst>
              </a:tr>
              <a:tr h="788901">
                <a:tc>
                  <a:txBody>
                    <a:bodyPr/>
                    <a:lstStyle/>
                    <a:p>
                      <a:r>
                        <a:rPr lang="en-US" sz="1000" b="1" dirty="0" err="1">
                          <a:solidFill>
                            <a:schemeClr val="bg1"/>
                          </a:solidFill>
                        </a:rPr>
                        <a:t>Randyn</a:t>
                      </a:r>
                      <a:r>
                        <a:rPr lang="en-US" sz="1000" b="1" dirty="0">
                          <a:solidFill>
                            <a:schemeClr val="bg1"/>
                          </a:solidFill>
                        </a:rPr>
                        <a:t> </a:t>
                      </a:r>
                      <a:r>
                        <a:rPr lang="en-US" sz="1000" b="1" dirty="0" err="1">
                          <a:solidFill>
                            <a:schemeClr val="bg1"/>
                          </a:solidFill>
                        </a:rPr>
                        <a:t>Shalinka</a:t>
                      </a:r>
                      <a:r>
                        <a:rPr lang="en-US" sz="1000" b="1" dirty="0">
                          <a:solidFill>
                            <a:schemeClr val="bg1"/>
                          </a:solidFill>
                        </a:rPr>
                        <a:t> Mario </a:t>
                      </a:r>
                      <a:r>
                        <a:rPr lang="en-US" sz="1000" b="1" dirty="0" err="1">
                          <a:solidFill>
                            <a:schemeClr val="bg1"/>
                          </a:solidFill>
                        </a:rPr>
                        <a:t>Uyanage</a:t>
                      </a:r>
                      <a:endParaRPr lang="en-US" sz="1000" dirty="0">
                        <a:solidFill>
                          <a:schemeClr val="bg1"/>
                        </a:solidFill>
                      </a:endParaRPr>
                    </a:p>
                  </a:txBody>
                  <a:tcPr marL="50015" marR="50015" marT="25008" marB="25008" anchor="ctr"/>
                </a:tc>
                <a:tc>
                  <a:txBody>
                    <a:bodyPr/>
                    <a:lstStyle/>
                    <a:p>
                      <a:r>
                        <a:rPr lang="en-US" sz="1000">
                          <a:solidFill>
                            <a:schemeClr val="bg1"/>
                          </a:solidFill>
                        </a:rPr>
                        <a:t>CL/HDCSE/CMU/131/27 (st20338939)</a:t>
                      </a:r>
                    </a:p>
                  </a:txBody>
                  <a:tcPr marL="50015" marR="50015" marT="25008" marB="25008" anchor="ctr"/>
                </a:tc>
                <a:tc>
                  <a:txBody>
                    <a:bodyPr/>
                    <a:lstStyle/>
                    <a:p>
                      <a:r>
                        <a:rPr lang="en-US" sz="1000" dirty="0">
                          <a:solidFill>
                            <a:schemeClr val="bg1"/>
                          </a:solidFill>
                        </a:rPr>
                        <a:t>Carried out the analysis of the IT and Administration Departments as well as type of Information Systems (TPS, MIS, CRM). Comparisons in industry trends and DSS/ERP worked on</a:t>
                      </a:r>
                    </a:p>
                  </a:txBody>
                  <a:tcPr marL="50015" marR="50015" marT="25008" marB="25008" anchor="ctr"/>
                </a:tc>
                <a:extLst>
                  <a:ext uri="{0D108BD9-81ED-4DB2-BD59-A6C34878D82A}">
                    <a16:rowId xmlns:a16="http://schemas.microsoft.com/office/drawing/2014/main" val="739768449"/>
                  </a:ext>
                </a:extLst>
              </a:tr>
            </a:tbl>
          </a:graphicData>
        </a:graphic>
      </p:graphicFrame>
      <p:sp>
        <p:nvSpPr>
          <p:cNvPr id="3" name="TextBox 2">
            <a:extLst>
              <a:ext uri="{FF2B5EF4-FFF2-40B4-BE49-F238E27FC236}">
                <a16:creationId xmlns:a16="http://schemas.microsoft.com/office/drawing/2014/main" id="{69D94CD5-ECBA-485C-4582-DBEDD1FDEA8D}"/>
              </a:ext>
            </a:extLst>
          </p:cNvPr>
          <p:cNvSpPr txBox="1"/>
          <p:nvPr/>
        </p:nvSpPr>
        <p:spPr>
          <a:xfrm>
            <a:off x="417607" y="233567"/>
            <a:ext cx="6429983" cy="1169551"/>
          </a:xfrm>
          <a:prstGeom prst="rect">
            <a:avLst/>
          </a:prstGeom>
          <a:noFill/>
        </p:spPr>
        <p:txBody>
          <a:bodyPr wrap="square" rtlCol="0">
            <a:spAutoFit/>
          </a:bodyPr>
          <a:lstStyle/>
          <a:p>
            <a:r>
              <a:rPr lang="en-US" sz="1400" b="1" dirty="0">
                <a:solidFill>
                  <a:schemeClr val="bg1"/>
                </a:solidFill>
              </a:rPr>
              <a:t>Contribution Report</a:t>
            </a:r>
          </a:p>
          <a:p>
            <a:r>
              <a:rPr lang="en-US" sz="1400" b="1" dirty="0">
                <a:solidFill>
                  <a:schemeClr val="bg1"/>
                </a:solidFill>
              </a:rPr>
              <a:t>Group Title:</a:t>
            </a:r>
            <a:br>
              <a:rPr lang="en-US" sz="1400" dirty="0">
                <a:solidFill>
                  <a:schemeClr val="bg1"/>
                </a:solidFill>
              </a:rPr>
            </a:br>
            <a:r>
              <a:rPr lang="en-US" sz="1400" i="1" dirty="0">
                <a:solidFill>
                  <a:schemeClr val="bg1"/>
                </a:solidFill>
              </a:rPr>
              <a:t>Business Information Systems – Pizza Hut Sri Lanka</a:t>
            </a:r>
            <a:endParaRPr lang="en-US" sz="1400" dirty="0">
              <a:solidFill>
                <a:schemeClr val="bg1"/>
              </a:solidFill>
            </a:endParaRPr>
          </a:p>
          <a:p>
            <a:r>
              <a:rPr lang="en-US" sz="1400" b="1" dirty="0">
                <a:solidFill>
                  <a:schemeClr val="bg1"/>
                </a:solidFill>
              </a:rPr>
              <a:t>Course Code:</a:t>
            </a:r>
            <a:br>
              <a:rPr lang="en-US" sz="1400" dirty="0">
                <a:solidFill>
                  <a:schemeClr val="bg1"/>
                </a:solidFill>
              </a:rPr>
            </a:br>
            <a:r>
              <a:rPr lang="en-US" sz="1400" dirty="0">
                <a:solidFill>
                  <a:schemeClr val="bg1"/>
                </a:solidFill>
              </a:rPr>
              <a:t>CSE4003</a:t>
            </a:r>
          </a:p>
        </p:txBody>
      </p:sp>
    </p:spTree>
    <p:extLst>
      <p:ext uri="{BB962C8B-B14F-4D97-AF65-F5344CB8AC3E}">
        <p14:creationId xmlns:p14="http://schemas.microsoft.com/office/powerpoint/2010/main" val="1378818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06B1F5-BE4B-8431-867A-257FE9C3F48C}"/>
              </a:ext>
            </a:extLst>
          </p:cNvPr>
          <p:cNvSpPr txBox="1"/>
          <p:nvPr/>
        </p:nvSpPr>
        <p:spPr>
          <a:xfrm>
            <a:off x="772160" y="2014974"/>
            <a:ext cx="6817360" cy="1107996"/>
          </a:xfrm>
          <a:prstGeom prst="rect">
            <a:avLst/>
          </a:prstGeom>
          <a:noFill/>
        </p:spPr>
        <p:txBody>
          <a:bodyPr wrap="square" rtlCol="0">
            <a:spAutoFit/>
          </a:bodyPr>
          <a:lstStyle/>
          <a:p>
            <a:r>
              <a:rPr lang="en-US" sz="6600" dirty="0">
                <a:solidFill>
                  <a:schemeClr val="bg1"/>
                </a:solidFill>
                <a:latin typeface="Arial Black" panose="020B0A04020102020204" pitchFamily="34" charset="0"/>
              </a:rPr>
              <a:t>Thank you !</a:t>
            </a:r>
          </a:p>
        </p:txBody>
      </p:sp>
    </p:spTree>
    <p:extLst>
      <p:ext uri="{BB962C8B-B14F-4D97-AF65-F5344CB8AC3E}">
        <p14:creationId xmlns:p14="http://schemas.microsoft.com/office/powerpoint/2010/main" val="4062060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FCA64C-A658-58BF-D5B0-23372569F0F6}"/>
              </a:ext>
            </a:extLst>
          </p:cNvPr>
          <p:cNvSpPr txBox="1"/>
          <p:nvPr/>
        </p:nvSpPr>
        <p:spPr>
          <a:xfrm>
            <a:off x="924560" y="589280"/>
            <a:ext cx="6644640" cy="369332"/>
          </a:xfrm>
          <a:prstGeom prst="rect">
            <a:avLst/>
          </a:prstGeom>
          <a:noFill/>
        </p:spPr>
        <p:txBody>
          <a:bodyPr wrap="square" rtlCol="0">
            <a:spAutoFit/>
          </a:bodyPr>
          <a:lstStyle/>
          <a:p>
            <a:r>
              <a:rPr lang="en-US" dirty="0"/>
              <a:t>Refences </a:t>
            </a:r>
          </a:p>
        </p:txBody>
      </p:sp>
      <p:sp>
        <p:nvSpPr>
          <p:cNvPr id="3" name="TextBox 2">
            <a:extLst>
              <a:ext uri="{FF2B5EF4-FFF2-40B4-BE49-F238E27FC236}">
                <a16:creationId xmlns:a16="http://schemas.microsoft.com/office/drawing/2014/main" id="{C4E993FD-4CB1-F96E-CD7C-19358FD3B305}"/>
              </a:ext>
            </a:extLst>
          </p:cNvPr>
          <p:cNvSpPr txBox="1"/>
          <p:nvPr/>
        </p:nvSpPr>
        <p:spPr>
          <a:xfrm>
            <a:off x="924560" y="1209040"/>
            <a:ext cx="9560560" cy="3970318"/>
          </a:xfrm>
          <a:prstGeom prst="rect">
            <a:avLst/>
          </a:prstGeom>
          <a:noFill/>
        </p:spPr>
        <p:txBody>
          <a:bodyPr wrap="square" rtlCol="0">
            <a:spAutoFit/>
          </a:bodyPr>
          <a:lstStyle/>
          <a:p>
            <a:pPr algn="l"/>
            <a:r>
              <a:rPr lang="en-US" b="0" i="0" dirty="0">
                <a:solidFill>
                  <a:srgbClr val="000000"/>
                </a:solidFill>
                <a:effectLst/>
                <a:latin typeface="Calibri" panose="020F0502020204030204" pitchFamily="34" charset="0"/>
              </a:rPr>
              <a:t>Scienter Technologies (Pte) Ltd (2019). </a:t>
            </a:r>
            <a:r>
              <a:rPr lang="en-US" b="0" i="1" dirty="0">
                <a:solidFill>
                  <a:srgbClr val="000000"/>
                </a:solidFill>
                <a:effectLst/>
                <a:latin typeface="Calibri" panose="020F0502020204030204" pitchFamily="34" charset="0"/>
              </a:rPr>
              <a:t>Home | Order Pizza Online - Delivery‎ or Pickup</a:t>
            </a:r>
            <a:r>
              <a:rPr lang="en-US" b="0" i="0" dirty="0">
                <a:solidFill>
                  <a:srgbClr val="000000"/>
                </a:solidFill>
                <a:effectLst/>
                <a:latin typeface="Calibri" panose="020F0502020204030204" pitchFamily="34" charset="0"/>
              </a:rPr>
              <a:t>. [online] Pizzahut.lk. Available at: </a:t>
            </a:r>
            <a:r>
              <a:rPr lang="en-US" b="0" i="0" dirty="0">
                <a:solidFill>
                  <a:srgbClr val="000000"/>
                </a:solidFill>
                <a:effectLst/>
                <a:latin typeface="Calibri" panose="020F0502020204030204" pitchFamily="34" charset="0"/>
                <a:hlinkClick r:id="rId2"/>
              </a:rPr>
              <a:t>https://www.pizzahut.lk/</a:t>
            </a:r>
            <a:r>
              <a:rPr lang="en-US" b="0" i="0" dirty="0">
                <a:solidFill>
                  <a:srgbClr val="000000"/>
                </a:solidFill>
                <a:effectLst/>
                <a:latin typeface="Calibri" panose="020F0502020204030204" pitchFamily="34" charset="0"/>
              </a:rPr>
              <a:t>.</a:t>
            </a:r>
          </a:p>
          <a:p>
            <a:pPr algn="l"/>
            <a:endParaRPr lang="en-US" dirty="0">
              <a:solidFill>
                <a:srgbClr val="000000"/>
              </a:solidFill>
              <a:latin typeface="Calibri" panose="020F0502020204030204" pitchFamily="34" charset="0"/>
            </a:endParaRPr>
          </a:p>
          <a:p>
            <a:pPr algn="l"/>
            <a:r>
              <a:rPr lang="en-US" b="0" i="0" dirty="0">
                <a:solidFill>
                  <a:srgbClr val="000000"/>
                </a:solidFill>
                <a:effectLst/>
                <a:latin typeface="Calibri" panose="020F0502020204030204" pitchFamily="34" charset="0"/>
              </a:rPr>
              <a:t>Statista (2024). </a:t>
            </a:r>
            <a:r>
              <a:rPr lang="en-US" b="0" i="1" dirty="0">
                <a:solidFill>
                  <a:srgbClr val="000000"/>
                </a:solidFill>
                <a:effectLst/>
                <a:latin typeface="Calibri" panose="020F0502020204030204" pitchFamily="34" charset="0"/>
              </a:rPr>
              <a:t>The statistics portal for market data, market research and market studies</a:t>
            </a:r>
            <a:r>
              <a:rPr lang="en-US" b="0" i="0" dirty="0">
                <a:solidFill>
                  <a:srgbClr val="000000"/>
                </a:solidFill>
                <a:effectLst/>
                <a:latin typeface="Calibri" panose="020F0502020204030204" pitchFamily="34" charset="0"/>
              </a:rPr>
              <a:t>. [online] Statista.com. Available at: https://www.statista.com/.</a:t>
            </a:r>
          </a:p>
          <a:p>
            <a:pPr algn="l"/>
            <a:r>
              <a:rPr lang="en-US" b="0" i="0" dirty="0">
                <a:solidFill>
                  <a:srgbClr val="000000"/>
                </a:solidFill>
                <a:effectLst/>
                <a:latin typeface="Calibri" panose="020F0502020204030204" pitchFamily="34" charset="0"/>
              </a:rPr>
              <a:t>‌</a:t>
            </a:r>
          </a:p>
          <a:p>
            <a:pPr algn="l"/>
            <a:r>
              <a:rPr lang="fr-FR" b="0" i="0" dirty="0">
                <a:solidFill>
                  <a:srgbClr val="000000"/>
                </a:solidFill>
                <a:effectLst/>
                <a:latin typeface="Calibri" panose="020F0502020204030204" pitchFamily="34" charset="0"/>
              </a:rPr>
              <a:t>National Restaurant Association (2022). </a:t>
            </a:r>
            <a:r>
              <a:rPr lang="fr-FR" b="0" i="1" dirty="0">
                <a:solidFill>
                  <a:srgbClr val="000000"/>
                </a:solidFill>
                <a:effectLst/>
                <a:latin typeface="Calibri" panose="020F0502020204030204" pitchFamily="34" charset="0"/>
              </a:rPr>
              <a:t>National Restaurant Association</a:t>
            </a:r>
            <a:r>
              <a:rPr lang="fr-FR" b="0" i="0" dirty="0">
                <a:solidFill>
                  <a:srgbClr val="000000"/>
                </a:solidFill>
                <a:effectLst/>
                <a:latin typeface="Calibri" panose="020F0502020204030204" pitchFamily="34" charset="0"/>
              </a:rPr>
              <a:t>. [online] National Restaurant Association. </a:t>
            </a:r>
            <a:r>
              <a:rPr lang="fr-FR" b="0" i="0" dirty="0" err="1">
                <a:solidFill>
                  <a:srgbClr val="000000"/>
                </a:solidFill>
                <a:effectLst/>
                <a:latin typeface="Calibri" panose="020F0502020204030204" pitchFamily="34" charset="0"/>
              </a:rPr>
              <a:t>Available</a:t>
            </a:r>
            <a:r>
              <a:rPr lang="fr-FR" b="0" i="0" dirty="0">
                <a:solidFill>
                  <a:srgbClr val="000000"/>
                </a:solidFill>
                <a:effectLst/>
                <a:latin typeface="Calibri" panose="020F0502020204030204" pitchFamily="34" charset="0"/>
              </a:rPr>
              <a:t> at: https://restaurant.org/.</a:t>
            </a:r>
          </a:p>
          <a:p>
            <a:pPr algn="l"/>
            <a:r>
              <a:rPr lang="fr-FR" b="0" i="0" dirty="0">
                <a:solidFill>
                  <a:srgbClr val="000000"/>
                </a:solidFill>
                <a:effectLst/>
                <a:latin typeface="Calibri" panose="020F0502020204030204" pitchFamily="34" charset="0"/>
              </a:rPr>
              <a:t>‌</a:t>
            </a:r>
          </a:p>
          <a:p>
            <a:pPr algn="l"/>
            <a:r>
              <a:rPr lang="en-US" b="0" i="0" dirty="0">
                <a:solidFill>
                  <a:srgbClr val="000000"/>
                </a:solidFill>
                <a:effectLst/>
                <a:latin typeface="Calibri" panose="020F0502020204030204" pitchFamily="34" charset="0"/>
              </a:rPr>
              <a:t>World Health Organization (2024). </a:t>
            </a:r>
            <a:r>
              <a:rPr lang="en-US" b="0" i="1" dirty="0">
                <a:solidFill>
                  <a:srgbClr val="000000"/>
                </a:solidFill>
                <a:effectLst/>
                <a:latin typeface="Calibri" panose="020F0502020204030204" pitchFamily="34" charset="0"/>
              </a:rPr>
              <a:t>Food safety</a:t>
            </a:r>
            <a:r>
              <a:rPr lang="en-US" b="0" i="0" dirty="0">
                <a:solidFill>
                  <a:srgbClr val="000000"/>
                </a:solidFill>
                <a:effectLst/>
                <a:latin typeface="Calibri" panose="020F0502020204030204" pitchFamily="34" charset="0"/>
              </a:rPr>
              <a:t>. [online] Who.int. Available at: https://www.who.int/news-room/fact-sheets/detail/food-safety.</a:t>
            </a:r>
          </a:p>
          <a:p>
            <a:pPr algn="l"/>
            <a:r>
              <a:rPr lang="en-US" b="0" i="0" dirty="0">
                <a:solidFill>
                  <a:srgbClr val="000000"/>
                </a:solidFill>
                <a:effectLst/>
                <a:latin typeface="Calibri" panose="020F0502020204030204" pitchFamily="34" charset="0"/>
              </a:rPr>
              <a:t>‌</a:t>
            </a:r>
          </a:p>
          <a:p>
            <a:pPr algn="l"/>
            <a:endParaRPr lang="en-US" b="0" i="0" dirty="0">
              <a:solidFill>
                <a:srgbClr val="000000"/>
              </a:solidFill>
              <a:effectLst/>
              <a:latin typeface="Calibri" panose="020F0502020204030204" pitchFamily="34" charset="0"/>
            </a:endParaRPr>
          </a:p>
          <a:p>
            <a:pPr algn="l"/>
            <a:r>
              <a:rPr lang="en-US" b="0" i="0" dirty="0">
                <a:solidFill>
                  <a:srgbClr val="000000"/>
                </a:solidFill>
                <a:effectLst/>
                <a:latin typeface="Calibri" panose="020F0502020204030204" pitchFamily="34" charset="0"/>
              </a:rPr>
              <a:t>‌</a:t>
            </a:r>
          </a:p>
        </p:txBody>
      </p:sp>
    </p:spTree>
    <p:extLst>
      <p:ext uri="{BB962C8B-B14F-4D97-AF65-F5344CB8AC3E}">
        <p14:creationId xmlns:p14="http://schemas.microsoft.com/office/powerpoint/2010/main" val="18981334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1332</TotalTime>
  <Words>2592</Words>
  <Application>Microsoft Office PowerPoint</Application>
  <PresentationFormat>Widescreen</PresentationFormat>
  <Paragraphs>247</Paragraphs>
  <Slides>24</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__GeistSans_3a0388</vt:lpstr>
      <vt:lpstr>Aptos</vt:lpstr>
      <vt:lpstr>Aptos Display</vt:lpstr>
      <vt:lpstr>Arial</vt:lpstr>
      <vt:lpstr>Arial Black</vt:lpstr>
      <vt:lpstr>Calibri</vt:lpstr>
      <vt:lpstr>Crimson Pro</vt:lpstr>
      <vt:lpstr>High Tower Text</vt:lpstr>
      <vt:lpstr>Inter</vt:lpstr>
      <vt:lpstr>Times New Roman</vt:lpstr>
      <vt:lpstr>Office Theme</vt:lpstr>
      <vt:lpstr>PowerPoint Presentation</vt:lpstr>
      <vt:lpstr>PowerPoint Presentation</vt:lpstr>
      <vt:lpstr>Table of contents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shenal perera</dc:creator>
  <cp:lastModifiedBy>Amasha Shalindri</cp:lastModifiedBy>
  <cp:revision>57</cp:revision>
  <dcterms:created xsi:type="dcterms:W3CDTF">2025-07-13T11:12:44Z</dcterms:created>
  <dcterms:modified xsi:type="dcterms:W3CDTF">2025-07-16T09:41:58Z</dcterms:modified>
</cp:coreProperties>
</file>